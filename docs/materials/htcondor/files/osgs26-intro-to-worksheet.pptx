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341" r:id="rId3"/>
    <p:sldId id="261" r:id="rId4"/>
    <p:sldId id="342" r:id="rId5"/>
    <p:sldId id="33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749"/>
  </p:normalViewPr>
  <p:slideViewPr>
    <p:cSldViewPr snapToGrid="0">
      <p:cViewPr varScale="1">
        <p:scale>
          <a:sx n="111" d="100"/>
          <a:sy n="111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BBA53-B5BE-E248-AF58-61B76F9411E7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E174-8050-8D48-9552-B73FC7F9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4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0510-9967-D6EE-1824-835D6A2C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266ED-D85E-E39D-B997-20647FDCA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6C9E-C459-43C9-0CB1-66F2919B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5" y="6356349"/>
            <a:ext cx="137240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660C-AD86-1B60-B3FE-CE8E32EF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C42D-D167-486B-7489-67B958F5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51BE-00B3-93E0-8896-B1932017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22EE-7943-E4C1-7057-0B80B1CB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9D8F-2DF8-58C9-123A-52C64797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6FDC-0641-C52F-CA2E-C92B5207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4D3-6195-292F-ABB9-E19F3A0B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015-5AC9-8409-A7B7-1929AA76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9A6F-3ED0-3BC5-0608-0EE82E70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4070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8A60-7159-D427-7A47-8A430F80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7D2B-1B11-2E21-54C4-90EE0777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50" y="6356349"/>
            <a:ext cx="338542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55EC-3918-5482-5A76-B4253B69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F36F-6D1A-AADD-7E67-237DCDE8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8E27-59D9-C97E-D984-C5379428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69D23-E31B-3D09-1F4F-7FA782FBF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F26DB-54C8-8F1B-B0ED-3FCEC5CF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6981-DDD1-6FAE-C735-6184D5EA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345F-E05D-18C7-94CC-A771A553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2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216-8E16-FD48-8F7F-157BCADB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53D6E-3A3C-39BE-53DF-E2F3EB46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EFE85-9347-91E6-9CD7-524FFD13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80013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1138-A469-FC15-0345-1A551D15A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3CC10-97C9-D5C0-827C-FAD44871A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43BDD-FB4B-A61D-2940-1A4F71DB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259F3-9565-25D9-910C-B21F0403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49"/>
            <a:ext cx="337907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0AEC3-709E-ACC5-0AAB-FD51F8ED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AB5-FB77-4B9F-2EB3-97F94724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F2B52-6628-A1E4-C026-25A2E063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AC22-F278-E00B-DD44-4D4FC3C1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C01B-369A-FC53-6F78-59AD77BE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9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D4E2D-F97E-4BC7-2C08-75020487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48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6FDBA-1024-B714-8932-C7C93A43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2985-70BA-918C-E44C-6F338680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1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E92F-FA53-AA6E-1A45-A3AF0FD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4BF7-9A52-420C-0233-A7110DC1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3A82-40EC-4A59-3F8B-BD6DBF72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8947-BF14-AAD6-6A92-24A60B81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50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27B19-B6B0-E417-B6FB-8C005D8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8155-AABA-1F83-647F-E9CB486F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5956-ECBE-AC91-321E-D52BE6D1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96A46-DB89-15CD-430C-0C7AC4C80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5A15-5212-A99F-9CF1-BA822ECE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CCE9C-9BDD-82F5-572C-26B94334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C313-EB9C-23EB-8BB4-D7CCA373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48B9C-5FFC-A52D-E102-DA4A4155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14E-5575-8341-CFF4-F95A78E0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1BAD6-CDEC-F387-5B62-93386A3DC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70F6-C1A8-7A83-78DE-7B3ECAD9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60026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C49B-BDD6-2872-C7AA-1E186200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A0D1-23F6-8F38-37A2-B30B941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2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93409-2D0D-4D12-0799-8434BC22C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641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FCAB7-C2D0-F15A-ED6B-37C92D98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641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BE4D-B891-F643-5346-02884BDD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6062-88C1-9658-669F-35FB170D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CEEE-5278-49E0-2AB8-0F949748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AA8C0-931D-F732-39B4-3B44F685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BFB8-2476-6BE1-E058-A18FA9CD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70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9A7D-8C82-3EDD-3922-D80EDAF6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1370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3736-57DA-9A35-6B3E-A9367461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Worksheet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17C3-8B63-9605-9321-1F70010B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1398" y="6356350"/>
            <a:ext cx="13724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8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50D5-3FA4-7677-9601-27BF80069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HTC and Your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F47EE-0175-91C3-703B-D477FF4B9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Christina Koch</a:t>
            </a:r>
          </a:p>
          <a:p>
            <a:r>
              <a:rPr lang="en-US" dirty="0"/>
              <a:t>OSG School 2026</a:t>
            </a:r>
          </a:p>
          <a:p>
            <a:r>
              <a:rPr lang="en-US" dirty="0"/>
              <a:t>July 13, 2026</a:t>
            </a:r>
          </a:p>
        </p:txBody>
      </p:sp>
    </p:spTree>
    <p:extLst>
      <p:ext uri="{BB962C8B-B14F-4D97-AF65-F5344CB8AC3E}">
        <p14:creationId xmlns:p14="http://schemas.microsoft.com/office/powerpoint/2010/main" val="987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445-3126-6731-2871-79852F87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Researcher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676E-90A7-17D8-EE5E-6D73489D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researcher has a (non-ordered) </a:t>
            </a:r>
            <a:r>
              <a:rPr lang="en-US" u="sng" dirty="0"/>
              <a:t>list</a:t>
            </a:r>
            <a:r>
              <a:rPr lang="en-US" dirty="0"/>
              <a:t> of </a:t>
            </a:r>
            <a:r>
              <a:rPr lang="en-US" b="1" dirty="0"/>
              <a:t>tasks</a:t>
            </a:r>
            <a:r>
              <a:rPr lang="en-US" dirty="0"/>
              <a:t> that would take too long to run sequentially on their local computer. </a:t>
            </a:r>
            <a:endParaRPr lang="en-US" b="1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FCECB5-927B-88A8-8D89-99E3939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E764AB-4968-71E7-E0B7-3537BB08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38C5A-67B4-31BA-7011-75EB6A8BC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82416"/>
              </p:ext>
            </p:extLst>
          </p:nvPr>
        </p:nvGraphicFramePr>
        <p:xfrm>
          <a:off x="1100655" y="2829129"/>
          <a:ext cx="3199743" cy="3095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743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932524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44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</a:t>
                      </a:r>
                      <a:r>
                        <a:rPr lang="en-US" sz="2100" b="1" dirty="0"/>
                        <a:t>analysis pipeline </a:t>
                      </a:r>
                      <a:r>
                        <a:rPr lang="en-US" sz="2100" u="sng" dirty="0"/>
                        <a:t>for each sample</a:t>
                      </a:r>
                      <a:r>
                        <a:rPr lang="en-US" sz="2100" dirty="0"/>
                        <a:t>.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0DFFB-0856-6254-FDCE-AC4275D8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19772"/>
              </p:ext>
            </p:extLst>
          </p:nvPr>
        </p:nvGraphicFramePr>
        <p:xfrm>
          <a:off x="4537277" y="2829128"/>
          <a:ext cx="3289822" cy="308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91489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332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a </a:t>
                      </a:r>
                      <a:r>
                        <a:rPr lang="en-US" sz="2100" b="1" dirty="0"/>
                        <a:t>simulation</a:t>
                      </a:r>
                      <a:r>
                        <a:rPr lang="en-US" sz="2100" dirty="0"/>
                        <a:t> </a:t>
                      </a:r>
                      <a:r>
                        <a:rPr lang="en-US" sz="2100" u="sng" dirty="0"/>
                        <a:t>for each parameter combination</a:t>
                      </a:r>
                      <a:endParaRPr lang="en-US" sz="21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F0B52-E670-FF22-F3CD-5CA432AF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18759"/>
              </p:ext>
            </p:extLst>
          </p:nvPr>
        </p:nvGraphicFramePr>
        <p:xfrm>
          <a:off x="8063978" y="2829128"/>
          <a:ext cx="3289822" cy="3077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87643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2645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Running </a:t>
                      </a:r>
                      <a:r>
                        <a:rPr lang="en-US" sz="2100" u="sng" dirty="0"/>
                        <a:t>millions</a:t>
                      </a:r>
                      <a:r>
                        <a:rPr lang="en-US" sz="2100" dirty="0"/>
                        <a:t> of </a:t>
                      </a:r>
                      <a:r>
                        <a:rPr lang="en-US" sz="2100" b="1" dirty="0"/>
                        <a:t>simulations</a:t>
                      </a:r>
                      <a:r>
                        <a:rPr lang="en-US" sz="2100" dirty="0"/>
                        <a:t>. 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C32FB4B-5107-9C31-A9E0-0E43BA7C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  <p:pic>
        <p:nvPicPr>
          <p:cNvPr id="14" name="Content Placeholder 8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EE6C67A9-C503-D821-CC48-1A12629A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90" y="2875428"/>
            <a:ext cx="2785071" cy="1847044"/>
          </a:xfrm>
          <a:prstGeom prst="rect">
            <a:avLst/>
          </a:prstGeom>
        </p:spPr>
      </p:pic>
      <p:pic>
        <p:nvPicPr>
          <p:cNvPr id="15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EDECEDA4-BDCD-72E6-D948-9265C6E3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04" y="2875428"/>
            <a:ext cx="2770567" cy="1847044"/>
          </a:xfrm>
          <a:prstGeom prst="rect">
            <a:avLst/>
          </a:prstGeom>
        </p:spPr>
      </p:pic>
      <p:pic>
        <p:nvPicPr>
          <p:cNvPr id="16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FCE5E654-0C6C-261E-4332-C2A92B41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274" y="2875428"/>
            <a:ext cx="2785071" cy="184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6BFC-3061-533C-EF9B-2F503EFF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2D07-19EE-F933-52D5-1B7B82C5C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worksheet, write down the following</a:t>
            </a:r>
          </a:p>
          <a:p>
            <a:r>
              <a:rPr lang="en-US" dirty="0"/>
              <a:t>A one-sentence summary of your research</a:t>
            </a:r>
          </a:p>
          <a:p>
            <a:r>
              <a:rPr lang="en-US" dirty="0"/>
              <a:t>A typical computational </a:t>
            </a:r>
            <a:r>
              <a:rPr lang="en-US" b="1" dirty="0"/>
              <a:t>task</a:t>
            </a:r>
          </a:p>
          <a:p>
            <a:pPr lvl="1"/>
            <a:r>
              <a:rPr lang="en-US" dirty="0"/>
              <a:t>This should be the smallest *self-contained* piece of your workflow</a:t>
            </a:r>
          </a:p>
          <a:p>
            <a:r>
              <a:rPr lang="en-US" dirty="0"/>
              <a:t>What is your </a:t>
            </a:r>
            <a:r>
              <a:rPr lang="en-US" u="sng" dirty="0"/>
              <a:t>list</a:t>
            </a:r>
            <a:r>
              <a:rPr lang="en-US" dirty="0"/>
              <a:t> of tasks? </a:t>
            </a:r>
          </a:p>
          <a:p>
            <a:pPr lvl="1"/>
            <a:r>
              <a:rPr lang="en-US" dirty="0"/>
              <a:t>“I need to run &lt;computational task&gt; </a:t>
            </a:r>
            <a:r>
              <a:rPr lang="en-US" u="sng" dirty="0"/>
              <a:t>for each</a:t>
            </a:r>
            <a:r>
              <a:rPr lang="en-US" dirty="0"/>
              <a:t> &lt;list of inputs&gt;”</a:t>
            </a:r>
          </a:p>
          <a:p>
            <a:r>
              <a:rPr lang="en-US" dirty="0"/>
              <a:t>Estimate how computationally intense *one* task is</a:t>
            </a:r>
          </a:p>
          <a:p>
            <a:r>
              <a:rPr lang="en-US" dirty="0"/>
              <a:t>How many tasks do you have?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EACC-D1A3-2FDE-ED42-90AA12B7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B3A08-09A4-BF45-1D1D-D670012D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A7AEF-2411-E077-2C27-08E8AEB4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</p:spTree>
    <p:extLst>
      <p:ext uri="{BB962C8B-B14F-4D97-AF65-F5344CB8AC3E}">
        <p14:creationId xmlns:p14="http://schemas.microsoft.com/office/powerpoint/2010/main" val="122815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7EDE43A-41AB-CAC8-1EE3-9DC4262A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099" y="433699"/>
            <a:ext cx="5475924" cy="533769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F981BA8-6F0A-BCBE-89BC-B0BA09F2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30FA8-4468-3D7C-86BF-10F1A6F9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32D0-B14B-0AA3-3110-E703AA9E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A2F27-1EED-8416-475E-0DEA1B68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4</a:t>
            </a:fld>
            <a:endParaRPr lang="en-US"/>
          </a:p>
        </p:txBody>
      </p:sp>
      <p:pic>
        <p:nvPicPr>
          <p:cNvPr id="12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F21F388E-419C-B2A6-B180-6593A7CEEE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9331" y="2335539"/>
            <a:ext cx="3657600" cy="2438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C12C75-9D7E-1264-624C-968854CB0962}"/>
              </a:ext>
            </a:extLst>
          </p:cNvPr>
          <p:cNvSpPr txBox="1"/>
          <p:nvPr/>
        </p:nvSpPr>
        <p:spPr>
          <a:xfrm>
            <a:off x="5958912" y="2407513"/>
            <a:ext cx="2101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one run of my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388CD-8B5F-A5C3-169A-CA449B15FC1E}"/>
              </a:ext>
            </a:extLst>
          </p:cNvPr>
          <p:cNvSpPr txBox="1"/>
          <p:nvPr/>
        </p:nvSpPr>
        <p:spPr>
          <a:xfrm>
            <a:off x="8608996" y="2335539"/>
            <a:ext cx="201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model runs for each input parameter from a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7828E-204B-4ACD-9D0F-7F3037BC94E2}"/>
              </a:ext>
            </a:extLst>
          </p:cNvPr>
          <p:cNvSpPr txBox="1"/>
          <p:nvPr/>
        </p:nvSpPr>
        <p:spPr>
          <a:xfrm>
            <a:off x="8650553" y="4046668"/>
            <a:ext cx="201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3 x 8 x 4 x 2 parameter combos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2AAEA-2A77-66D7-3210-771A5A7518F7}"/>
              </a:ext>
            </a:extLst>
          </p:cNvPr>
          <p:cNvSpPr txBox="1"/>
          <p:nvPr/>
        </p:nvSpPr>
        <p:spPr>
          <a:xfrm>
            <a:off x="7069671" y="3863003"/>
            <a:ext cx="15808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4 hours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?? it runs 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on my laptop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very small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code is in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4738C2-FC2C-8AE3-E41B-693A5476FACF}"/>
              </a:ext>
            </a:extLst>
          </p:cNvPr>
          <p:cNvSpPr txBox="1"/>
          <p:nvPr/>
        </p:nvSpPr>
        <p:spPr>
          <a:xfrm>
            <a:off x="7858014" y="280603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Segoe Print" panose="02000800000000000000" pitchFamily="2" charset="0"/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C6759-AE06-5746-BF6E-6AC15C811934}"/>
              </a:ext>
            </a:extLst>
          </p:cNvPr>
          <p:cNvSpPr txBox="1"/>
          <p:nvPr/>
        </p:nvSpPr>
        <p:spPr>
          <a:xfrm>
            <a:off x="5845444" y="1479624"/>
            <a:ext cx="4378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Segoe Print" panose="02000800000000000000" pitchFamily="2" charset="0"/>
              </a:rPr>
              <a:t>develop a model that can predict the best trial design</a:t>
            </a:r>
          </a:p>
        </p:txBody>
      </p:sp>
    </p:spTree>
    <p:extLst>
      <p:ext uri="{BB962C8B-B14F-4D97-AF65-F5344CB8AC3E}">
        <p14:creationId xmlns:p14="http://schemas.microsoft.com/office/powerpoint/2010/main" val="2225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518-0C47-9B1B-97CA-A9E4C0BC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FDD6-3F20-18DF-A20D-76830A8B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 was supported by the National Science Foundation under Cooperative Agreement OAC-2030508 – Partnership to Advance Throughput Computing (</a:t>
            </a:r>
            <a:r>
              <a:rPr lang="en-US" dirty="0" err="1"/>
              <a:t>PATh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CE35-59CF-B119-8380-0197B64A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3E9B-3375-AE49-8E8B-35D82593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2D57-7055-BFAD-9373-5CFDCAC2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</p:spTree>
    <p:extLst>
      <p:ext uri="{BB962C8B-B14F-4D97-AF65-F5344CB8AC3E}">
        <p14:creationId xmlns:p14="http://schemas.microsoft.com/office/powerpoint/2010/main" val="4146713417"/>
      </p:ext>
    </p:extLst>
  </p:cSld>
  <p:clrMapOvr>
    <a:masterClrMapping/>
  </p:clrMapOvr>
</p:sld>
</file>

<file path=ppt/theme/theme1.xml><?xml version="1.0" encoding="utf-8"?>
<a:theme xmlns:a="http://schemas.openxmlformats.org/drawingml/2006/main" name="User_School_202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er_School_2023_Fun" id="{174209FD-30E0-774E-BDCB-3786FA688966}" vid="{8AD57979-AD71-4E4F-94BF-EB0386DF49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User_School_2023</Template>
  <TotalTime>1271</TotalTime>
  <Words>235</Words>
  <Application>Microsoft Macintosh PowerPoint</Application>
  <PresentationFormat>Widescreen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Helvetica Neue</vt:lpstr>
      <vt:lpstr>Helvetica Neue Light</vt:lpstr>
      <vt:lpstr>Segoe Print</vt:lpstr>
      <vt:lpstr>User_School_2023</vt:lpstr>
      <vt:lpstr>HTC and Your Research</vt:lpstr>
      <vt:lpstr>Reminder: Researcher Problems</vt:lpstr>
      <vt:lpstr>Your Turn</vt:lpstr>
      <vt:lpstr>Example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Koch</dc:creator>
  <cp:lastModifiedBy>Christina Koch</cp:lastModifiedBy>
  <cp:revision>190</cp:revision>
  <dcterms:created xsi:type="dcterms:W3CDTF">2024-08-02T14:20:17Z</dcterms:created>
  <dcterms:modified xsi:type="dcterms:W3CDTF">2026-07-13T02:40:25Z</dcterms:modified>
</cp:coreProperties>
</file>
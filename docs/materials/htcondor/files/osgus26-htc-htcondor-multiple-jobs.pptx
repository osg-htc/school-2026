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52"/>
  </p:notesMasterIdLst>
  <p:sldIdLst>
    <p:sldId id="256" r:id="rId2"/>
    <p:sldId id="347" r:id="rId3"/>
    <p:sldId id="305" r:id="rId4"/>
    <p:sldId id="308" r:id="rId5"/>
    <p:sldId id="306" r:id="rId6"/>
    <p:sldId id="325" r:id="rId7"/>
    <p:sldId id="307" r:id="rId8"/>
    <p:sldId id="265" r:id="rId9"/>
    <p:sldId id="258" r:id="rId10"/>
    <p:sldId id="270" r:id="rId11"/>
    <p:sldId id="271" r:id="rId12"/>
    <p:sldId id="317" r:id="rId13"/>
    <p:sldId id="645" r:id="rId14"/>
    <p:sldId id="321" r:id="rId15"/>
    <p:sldId id="322" r:id="rId16"/>
    <p:sldId id="315" r:id="rId17"/>
    <p:sldId id="320" r:id="rId18"/>
    <p:sldId id="313" r:id="rId19"/>
    <p:sldId id="262" r:id="rId20"/>
    <p:sldId id="293" r:id="rId21"/>
    <p:sldId id="277" r:id="rId22"/>
    <p:sldId id="295" r:id="rId23"/>
    <p:sldId id="646" r:id="rId24"/>
    <p:sldId id="312" r:id="rId25"/>
    <p:sldId id="319" r:id="rId26"/>
    <p:sldId id="318" r:id="rId27"/>
    <p:sldId id="288" r:id="rId28"/>
    <p:sldId id="345" r:id="rId29"/>
    <p:sldId id="266" r:id="rId30"/>
    <p:sldId id="344" r:id="rId31"/>
    <p:sldId id="268" r:id="rId32"/>
    <p:sldId id="346" r:id="rId33"/>
    <p:sldId id="264" r:id="rId34"/>
    <p:sldId id="314" r:id="rId35"/>
    <p:sldId id="261" r:id="rId36"/>
    <p:sldId id="349" r:id="rId37"/>
    <p:sldId id="263" r:id="rId38"/>
    <p:sldId id="323" r:id="rId39"/>
    <p:sldId id="281" r:id="rId40"/>
    <p:sldId id="352" r:id="rId41"/>
    <p:sldId id="634" r:id="rId42"/>
    <p:sldId id="294" r:id="rId43"/>
    <p:sldId id="296" r:id="rId44"/>
    <p:sldId id="297" r:id="rId45"/>
    <p:sldId id="298" r:id="rId46"/>
    <p:sldId id="274" r:id="rId47"/>
    <p:sldId id="341" r:id="rId48"/>
    <p:sldId id="342" r:id="rId49"/>
    <p:sldId id="340" r:id="rId50"/>
    <p:sldId id="291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579"/>
    <a:srgbClr val="200057"/>
    <a:srgbClr val="FFFFFF"/>
    <a:srgbClr val="FF0000"/>
    <a:srgbClr val="F98630"/>
    <a:srgbClr val="F18230"/>
    <a:srgbClr val="F9EEEE"/>
    <a:srgbClr val="F3E5C7"/>
    <a:srgbClr val="EBD4A6"/>
    <a:srgbClr val="EDE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51"/>
    <p:restoredTop sz="83906"/>
  </p:normalViewPr>
  <p:slideViewPr>
    <p:cSldViewPr snapToGrid="0" snapToObjects="1">
      <p:cViewPr varScale="1">
        <p:scale>
          <a:sx n="62" d="100"/>
          <a:sy n="62" d="100"/>
        </p:scale>
        <p:origin x="5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xambe\Downloads\gapminder-life-expectancy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Life Expectancy</a:t>
            </a:r>
            <a:r>
              <a:rPr lang="en-US" b="1" baseline="0"/>
              <a:t> for </a:t>
            </a:r>
            <a:r>
              <a:rPr lang="en-US" b="1"/>
              <a:t>Brazil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'gapminder-life-expectancy'!$A$28</c:f>
              <c:strCache>
                <c:ptCount val="1"/>
                <c:pt idx="0">
                  <c:v>Brazil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trendline>
            <c:spPr>
              <a:ln w="28575" cap="rnd">
                <a:solidFill>
                  <a:schemeClr val="accent1"/>
                </a:solidFill>
                <a:prstDash val="dash"/>
              </a:ln>
              <a:effectLst/>
            </c:spPr>
            <c:trendlineType val="linear"/>
            <c:dispRSqr val="0"/>
            <c:dispEq val="0"/>
          </c:trendline>
          <c:xVal>
            <c:numRef>
              <c:f>'gapminder-life-expectancy'!$B$1:$HJ$1</c:f>
              <c:numCache>
                <c:formatCode>General</c:formatCode>
                <c:ptCount val="217"/>
                <c:pt idx="0">
                  <c:v>1800</c:v>
                </c:pt>
                <c:pt idx="1">
                  <c:v>1801</c:v>
                </c:pt>
                <c:pt idx="2">
                  <c:v>1802</c:v>
                </c:pt>
                <c:pt idx="3">
                  <c:v>1803</c:v>
                </c:pt>
                <c:pt idx="4">
                  <c:v>1804</c:v>
                </c:pt>
                <c:pt idx="5">
                  <c:v>1805</c:v>
                </c:pt>
                <c:pt idx="6">
                  <c:v>1806</c:v>
                </c:pt>
                <c:pt idx="7">
                  <c:v>1807</c:v>
                </c:pt>
                <c:pt idx="8">
                  <c:v>1808</c:v>
                </c:pt>
                <c:pt idx="9">
                  <c:v>1809</c:v>
                </c:pt>
                <c:pt idx="10">
                  <c:v>1810</c:v>
                </c:pt>
                <c:pt idx="11">
                  <c:v>1811</c:v>
                </c:pt>
                <c:pt idx="12">
                  <c:v>1812</c:v>
                </c:pt>
                <c:pt idx="13">
                  <c:v>1813</c:v>
                </c:pt>
                <c:pt idx="14">
                  <c:v>1814</c:v>
                </c:pt>
                <c:pt idx="15">
                  <c:v>1815</c:v>
                </c:pt>
                <c:pt idx="16">
                  <c:v>1816</c:v>
                </c:pt>
                <c:pt idx="17">
                  <c:v>1817</c:v>
                </c:pt>
                <c:pt idx="18">
                  <c:v>1818</c:v>
                </c:pt>
                <c:pt idx="19">
                  <c:v>1819</c:v>
                </c:pt>
                <c:pt idx="20">
                  <c:v>1820</c:v>
                </c:pt>
                <c:pt idx="21">
                  <c:v>1821</c:v>
                </c:pt>
                <c:pt idx="22">
                  <c:v>1822</c:v>
                </c:pt>
                <c:pt idx="23">
                  <c:v>1823</c:v>
                </c:pt>
                <c:pt idx="24">
                  <c:v>1824</c:v>
                </c:pt>
                <c:pt idx="25">
                  <c:v>1825</c:v>
                </c:pt>
                <c:pt idx="26">
                  <c:v>1826</c:v>
                </c:pt>
                <c:pt idx="27">
                  <c:v>1827</c:v>
                </c:pt>
                <c:pt idx="28">
                  <c:v>1828</c:v>
                </c:pt>
                <c:pt idx="29">
                  <c:v>1829</c:v>
                </c:pt>
                <c:pt idx="30">
                  <c:v>1830</c:v>
                </c:pt>
                <c:pt idx="31">
                  <c:v>1831</c:v>
                </c:pt>
                <c:pt idx="32">
                  <c:v>1832</c:v>
                </c:pt>
                <c:pt idx="33">
                  <c:v>1833</c:v>
                </c:pt>
                <c:pt idx="34">
                  <c:v>1834</c:v>
                </c:pt>
                <c:pt idx="35">
                  <c:v>1835</c:v>
                </c:pt>
                <c:pt idx="36">
                  <c:v>1836</c:v>
                </c:pt>
                <c:pt idx="37">
                  <c:v>1837</c:v>
                </c:pt>
                <c:pt idx="38">
                  <c:v>1838</c:v>
                </c:pt>
                <c:pt idx="39">
                  <c:v>1839</c:v>
                </c:pt>
                <c:pt idx="40">
                  <c:v>1840</c:v>
                </c:pt>
                <c:pt idx="41">
                  <c:v>1841</c:v>
                </c:pt>
                <c:pt idx="42">
                  <c:v>1842</c:v>
                </c:pt>
                <c:pt idx="43">
                  <c:v>1843</c:v>
                </c:pt>
                <c:pt idx="44">
                  <c:v>1844</c:v>
                </c:pt>
                <c:pt idx="45">
                  <c:v>1845</c:v>
                </c:pt>
                <c:pt idx="46">
                  <c:v>1846</c:v>
                </c:pt>
                <c:pt idx="47">
                  <c:v>1847</c:v>
                </c:pt>
                <c:pt idx="48">
                  <c:v>1848</c:v>
                </c:pt>
                <c:pt idx="49">
                  <c:v>1849</c:v>
                </c:pt>
                <c:pt idx="50">
                  <c:v>1850</c:v>
                </c:pt>
                <c:pt idx="51">
                  <c:v>1851</c:v>
                </c:pt>
                <c:pt idx="52">
                  <c:v>1852</c:v>
                </c:pt>
                <c:pt idx="53">
                  <c:v>1853</c:v>
                </c:pt>
                <c:pt idx="54">
                  <c:v>1854</c:v>
                </c:pt>
                <c:pt idx="55">
                  <c:v>1855</c:v>
                </c:pt>
                <c:pt idx="56">
                  <c:v>1856</c:v>
                </c:pt>
                <c:pt idx="57">
                  <c:v>1857</c:v>
                </c:pt>
                <c:pt idx="58">
                  <c:v>1858</c:v>
                </c:pt>
                <c:pt idx="59">
                  <c:v>1859</c:v>
                </c:pt>
                <c:pt idx="60">
                  <c:v>1860</c:v>
                </c:pt>
                <c:pt idx="61">
                  <c:v>1861</c:v>
                </c:pt>
                <c:pt idx="62">
                  <c:v>1862</c:v>
                </c:pt>
                <c:pt idx="63">
                  <c:v>1863</c:v>
                </c:pt>
                <c:pt idx="64">
                  <c:v>1864</c:v>
                </c:pt>
                <c:pt idx="65">
                  <c:v>1865</c:v>
                </c:pt>
                <c:pt idx="66">
                  <c:v>1866</c:v>
                </c:pt>
                <c:pt idx="67">
                  <c:v>1867</c:v>
                </c:pt>
                <c:pt idx="68">
                  <c:v>1868</c:v>
                </c:pt>
                <c:pt idx="69">
                  <c:v>1869</c:v>
                </c:pt>
                <c:pt idx="70">
                  <c:v>1870</c:v>
                </c:pt>
                <c:pt idx="71">
                  <c:v>1871</c:v>
                </c:pt>
                <c:pt idx="72">
                  <c:v>1872</c:v>
                </c:pt>
                <c:pt idx="73">
                  <c:v>1873</c:v>
                </c:pt>
                <c:pt idx="74">
                  <c:v>1874</c:v>
                </c:pt>
                <c:pt idx="75">
                  <c:v>1875</c:v>
                </c:pt>
                <c:pt idx="76">
                  <c:v>1876</c:v>
                </c:pt>
                <c:pt idx="77">
                  <c:v>1877</c:v>
                </c:pt>
                <c:pt idx="78">
                  <c:v>1878</c:v>
                </c:pt>
                <c:pt idx="79">
                  <c:v>1879</c:v>
                </c:pt>
                <c:pt idx="80">
                  <c:v>1880</c:v>
                </c:pt>
                <c:pt idx="81">
                  <c:v>1881</c:v>
                </c:pt>
                <c:pt idx="82">
                  <c:v>1882</c:v>
                </c:pt>
                <c:pt idx="83">
                  <c:v>1883</c:v>
                </c:pt>
                <c:pt idx="84">
                  <c:v>1884</c:v>
                </c:pt>
                <c:pt idx="85">
                  <c:v>1885</c:v>
                </c:pt>
                <c:pt idx="86">
                  <c:v>1886</c:v>
                </c:pt>
                <c:pt idx="87">
                  <c:v>1887</c:v>
                </c:pt>
                <c:pt idx="88">
                  <c:v>1888</c:v>
                </c:pt>
                <c:pt idx="89">
                  <c:v>1889</c:v>
                </c:pt>
                <c:pt idx="90">
                  <c:v>1890</c:v>
                </c:pt>
                <c:pt idx="91">
                  <c:v>1891</c:v>
                </c:pt>
                <c:pt idx="92">
                  <c:v>1892</c:v>
                </c:pt>
                <c:pt idx="93">
                  <c:v>1893</c:v>
                </c:pt>
                <c:pt idx="94">
                  <c:v>1894</c:v>
                </c:pt>
                <c:pt idx="95">
                  <c:v>1895</c:v>
                </c:pt>
                <c:pt idx="96">
                  <c:v>1896</c:v>
                </c:pt>
                <c:pt idx="97">
                  <c:v>1897</c:v>
                </c:pt>
                <c:pt idx="98">
                  <c:v>1898</c:v>
                </c:pt>
                <c:pt idx="99">
                  <c:v>1899</c:v>
                </c:pt>
                <c:pt idx="100">
                  <c:v>1900</c:v>
                </c:pt>
                <c:pt idx="101">
                  <c:v>1901</c:v>
                </c:pt>
                <c:pt idx="102">
                  <c:v>1902</c:v>
                </c:pt>
                <c:pt idx="103">
                  <c:v>1903</c:v>
                </c:pt>
                <c:pt idx="104">
                  <c:v>1904</c:v>
                </c:pt>
                <c:pt idx="105">
                  <c:v>1905</c:v>
                </c:pt>
                <c:pt idx="106">
                  <c:v>1906</c:v>
                </c:pt>
                <c:pt idx="107">
                  <c:v>1907</c:v>
                </c:pt>
                <c:pt idx="108">
                  <c:v>1908</c:v>
                </c:pt>
                <c:pt idx="109">
                  <c:v>1909</c:v>
                </c:pt>
                <c:pt idx="110">
                  <c:v>1910</c:v>
                </c:pt>
                <c:pt idx="111">
                  <c:v>1911</c:v>
                </c:pt>
                <c:pt idx="112">
                  <c:v>1912</c:v>
                </c:pt>
                <c:pt idx="113">
                  <c:v>1913</c:v>
                </c:pt>
                <c:pt idx="114">
                  <c:v>1914</c:v>
                </c:pt>
                <c:pt idx="115">
                  <c:v>1915</c:v>
                </c:pt>
                <c:pt idx="116">
                  <c:v>1916</c:v>
                </c:pt>
                <c:pt idx="117">
                  <c:v>1917</c:v>
                </c:pt>
                <c:pt idx="118">
                  <c:v>1918</c:v>
                </c:pt>
                <c:pt idx="119">
                  <c:v>1919</c:v>
                </c:pt>
                <c:pt idx="120">
                  <c:v>1920</c:v>
                </c:pt>
                <c:pt idx="121">
                  <c:v>1921</c:v>
                </c:pt>
                <c:pt idx="122">
                  <c:v>1922</c:v>
                </c:pt>
                <c:pt idx="123">
                  <c:v>1923</c:v>
                </c:pt>
                <c:pt idx="124">
                  <c:v>1924</c:v>
                </c:pt>
                <c:pt idx="125">
                  <c:v>1925</c:v>
                </c:pt>
                <c:pt idx="126">
                  <c:v>1926</c:v>
                </c:pt>
                <c:pt idx="127">
                  <c:v>1927</c:v>
                </c:pt>
                <c:pt idx="128">
                  <c:v>1928</c:v>
                </c:pt>
                <c:pt idx="129">
                  <c:v>1929</c:v>
                </c:pt>
                <c:pt idx="130">
                  <c:v>1930</c:v>
                </c:pt>
                <c:pt idx="131">
                  <c:v>1931</c:v>
                </c:pt>
                <c:pt idx="132">
                  <c:v>1932</c:v>
                </c:pt>
                <c:pt idx="133">
                  <c:v>1933</c:v>
                </c:pt>
                <c:pt idx="134">
                  <c:v>1934</c:v>
                </c:pt>
                <c:pt idx="135">
                  <c:v>1935</c:v>
                </c:pt>
                <c:pt idx="136">
                  <c:v>1936</c:v>
                </c:pt>
                <c:pt idx="137">
                  <c:v>1937</c:v>
                </c:pt>
                <c:pt idx="138">
                  <c:v>1938</c:v>
                </c:pt>
                <c:pt idx="139">
                  <c:v>1939</c:v>
                </c:pt>
                <c:pt idx="140">
                  <c:v>1940</c:v>
                </c:pt>
                <c:pt idx="141">
                  <c:v>1941</c:v>
                </c:pt>
                <c:pt idx="142">
                  <c:v>1942</c:v>
                </c:pt>
                <c:pt idx="143">
                  <c:v>1943</c:v>
                </c:pt>
                <c:pt idx="144">
                  <c:v>1944</c:v>
                </c:pt>
                <c:pt idx="145">
                  <c:v>1945</c:v>
                </c:pt>
                <c:pt idx="146">
                  <c:v>1946</c:v>
                </c:pt>
                <c:pt idx="147">
                  <c:v>1947</c:v>
                </c:pt>
                <c:pt idx="148">
                  <c:v>1948</c:v>
                </c:pt>
                <c:pt idx="149">
                  <c:v>1949</c:v>
                </c:pt>
                <c:pt idx="150">
                  <c:v>1950</c:v>
                </c:pt>
                <c:pt idx="151">
                  <c:v>1951</c:v>
                </c:pt>
                <c:pt idx="152">
                  <c:v>1952</c:v>
                </c:pt>
                <c:pt idx="153">
                  <c:v>1953</c:v>
                </c:pt>
                <c:pt idx="154">
                  <c:v>1954</c:v>
                </c:pt>
                <c:pt idx="155">
                  <c:v>1955</c:v>
                </c:pt>
                <c:pt idx="156">
                  <c:v>1956</c:v>
                </c:pt>
                <c:pt idx="157">
                  <c:v>1957</c:v>
                </c:pt>
                <c:pt idx="158">
                  <c:v>1958</c:v>
                </c:pt>
                <c:pt idx="159">
                  <c:v>1959</c:v>
                </c:pt>
                <c:pt idx="160">
                  <c:v>1960</c:v>
                </c:pt>
                <c:pt idx="161">
                  <c:v>1961</c:v>
                </c:pt>
                <c:pt idx="162">
                  <c:v>1962</c:v>
                </c:pt>
                <c:pt idx="163">
                  <c:v>1963</c:v>
                </c:pt>
                <c:pt idx="164">
                  <c:v>1964</c:v>
                </c:pt>
                <c:pt idx="165">
                  <c:v>1965</c:v>
                </c:pt>
                <c:pt idx="166">
                  <c:v>1966</c:v>
                </c:pt>
                <c:pt idx="167">
                  <c:v>1967</c:v>
                </c:pt>
                <c:pt idx="168">
                  <c:v>1968</c:v>
                </c:pt>
                <c:pt idx="169">
                  <c:v>1969</c:v>
                </c:pt>
                <c:pt idx="170">
                  <c:v>1970</c:v>
                </c:pt>
                <c:pt idx="171">
                  <c:v>1971</c:v>
                </c:pt>
                <c:pt idx="172">
                  <c:v>1972</c:v>
                </c:pt>
                <c:pt idx="173">
                  <c:v>1973</c:v>
                </c:pt>
                <c:pt idx="174">
                  <c:v>1974</c:v>
                </c:pt>
                <c:pt idx="175">
                  <c:v>1975</c:v>
                </c:pt>
                <c:pt idx="176">
                  <c:v>1976</c:v>
                </c:pt>
                <c:pt idx="177">
                  <c:v>1977</c:v>
                </c:pt>
                <c:pt idx="178">
                  <c:v>1978</c:v>
                </c:pt>
                <c:pt idx="179">
                  <c:v>1979</c:v>
                </c:pt>
                <c:pt idx="180">
                  <c:v>1980</c:v>
                </c:pt>
                <c:pt idx="181">
                  <c:v>1981</c:v>
                </c:pt>
                <c:pt idx="182">
                  <c:v>1982</c:v>
                </c:pt>
                <c:pt idx="183">
                  <c:v>1983</c:v>
                </c:pt>
                <c:pt idx="184">
                  <c:v>1984</c:v>
                </c:pt>
                <c:pt idx="185">
                  <c:v>1985</c:v>
                </c:pt>
                <c:pt idx="186">
                  <c:v>1986</c:v>
                </c:pt>
                <c:pt idx="187">
                  <c:v>1987</c:v>
                </c:pt>
                <c:pt idx="188">
                  <c:v>1988</c:v>
                </c:pt>
                <c:pt idx="189">
                  <c:v>1989</c:v>
                </c:pt>
                <c:pt idx="190">
                  <c:v>1990</c:v>
                </c:pt>
                <c:pt idx="191">
                  <c:v>1991</c:v>
                </c:pt>
                <c:pt idx="192">
                  <c:v>1992</c:v>
                </c:pt>
                <c:pt idx="193">
                  <c:v>1993</c:v>
                </c:pt>
                <c:pt idx="194">
                  <c:v>1994</c:v>
                </c:pt>
                <c:pt idx="195">
                  <c:v>1995</c:v>
                </c:pt>
                <c:pt idx="196">
                  <c:v>1996</c:v>
                </c:pt>
                <c:pt idx="197">
                  <c:v>1997</c:v>
                </c:pt>
                <c:pt idx="198">
                  <c:v>1998</c:v>
                </c:pt>
                <c:pt idx="199">
                  <c:v>1999</c:v>
                </c:pt>
                <c:pt idx="200">
                  <c:v>2000</c:v>
                </c:pt>
                <c:pt idx="201">
                  <c:v>2001</c:v>
                </c:pt>
                <c:pt idx="202">
                  <c:v>2002</c:v>
                </c:pt>
                <c:pt idx="203">
                  <c:v>2003</c:v>
                </c:pt>
                <c:pt idx="204">
                  <c:v>2004</c:v>
                </c:pt>
                <c:pt idx="205">
                  <c:v>2005</c:v>
                </c:pt>
                <c:pt idx="206">
                  <c:v>2006</c:v>
                </c:pt>
                <c:pt idx="207">
                  <c:v>2007</c:v>
                </c:pt>
                <c:pt idx="208">
                  <c:v>2008</c:v>
                </c:pt>
                <c:pt idx="209">
                  <c:v>2009</c:v>
                </c:pt>
                <c:pt idx="210">
                  <c:v>2010</c:v>
                </c:pt>
                <c:pt idx="211">
                  <c:v>2011</c:v>
                </c:pt>
                <c:pt idx="212">
                  <c:v>2012</c:v>
                </c:pt>
                <c:pt idx="213">
                  <c:v>2013</c:v>
                </c:pt>
                <c:pt idx="214">
                  <c:v>2014</c:v>
                </c:pt>
                <c:pt idx="215">
                  <c:v>2015</c:v>
                </c:pt>
                <c:pt idx="216">
                  <c:v>2016</c:v>
                </c:pt>
              </c:numCache>
            </c:numRef>
          </c:xVal>
          <c:yVal>
            <c:numRef>
              <c:f>'gapminder-life-expectancy'!$B$28:$HJ$28</c:f>
              <c:numCache>
                <c:formatCode>General</c:formatCode>
                <c:ptCount val="217"/>
                <c:pt idx="0">
                  <c:v>32</c:v>
                </c:pt>
                <c:pt idx="1">
                  <c:v>32</c:v>
                </c:pt>
                <c:pt idx="2">
                  <c:v>32</c:v>
                </c:pt>
                <c:pt idx="3">
                  <c:v>32</c:v>
                </c:pt>
                <c:pt idx="4">
                  <c:v>32</c:v>
                </c:pt>
                <c:pt idx="5">
                  <c:v>32</c:v>
                </c:pt>
                <c:pt idx="6">
                  <c:v>32</c:v>
                </c:pt>
                <c:pt idx="7">
                  <c:v>32</c:v>
                </c:pt>
                <c:pt idx="8">
                  <c:v>32</c:v>
                </c:pt>
                <c:pt idx="9">
                  <c:v>32</c:v>
                </c:pt>
                <c:pt idx="10">
                  <c:v>32</c:v>
                </c:pt>
                <c:pt idx="11">
                  <c:v>32</c:v>
                </c:pt>
                <c:pt idx="12">
                  <c:v>32</c:v>
                </c:pt>
                <c:pt idx="13">
                  <c:v>32</c:v>
                </c:pt>
                <c:pt idx="14">
                  <c:v>32</c:v>
                </c:pt>
                <c:pt idx="15">
                  <c:v>32</c:v>
                </c:pt>
                <c:pt idx="16">
                  <c:v>32</c:v>
                </c:pt>
                <c:pt idx="17">
                  <c:v>32</c:v>
                </c:pt>
                <c:pt idx="18">
                  <c:v>32</c:v>
                </c:pt>
                <c:pt idx="19">
                  <c:v>32</c:v>
                </c:pt>
                <c:pt idx="20">
                  <c:v>32</c:v>
                </c:pt>
                <c:pt idx="21">
                  <c:v>32</c:v>
                </c:pt>
                <c:pt idx="22">
                  <c:v>32</c:v>
                </c:pt>
                <c:pt idx="23">
                  <c:v>32</c:v>
                </c:pt>
                <c:pt idx="24">
                  <c:v>32</c:v>
                </c:pt>
                <c:pt idx="25">
                  <c:v>32</c:v>
                </c:pt>
                <c:pt idx="26">
                  <c:v>31.99</c:v>
                </c:pt>
                <c:pt idx="27">
                  <c:v>31.99</c:v>
                </c:pt>
                <c:pt idx="28">
                  <c:v>31.99</c:v>
                </c:pt>
                <c:pt idx="29">
                  <c:v>31.99</c:v>
                </c:pt>
                <c:pt idx="30">
                  <c:v>31.99</c:v>
                </c:pt>
                <c:pt idx="31">
                  <c:v>31.99</c:v>
                </c:pt>
                <c:pt idx="32">
                  <c:v>31.99</c:v>
                </c:pt>
                <c:pt idx="33">
                  <c:v>31.99</c:v>
                </c:pt>
                <c:pt idx="34">
                  <c:v>31.99</c:v>
                </c:pt>
                <c:pt idx="35">
                  <c:v>31.99</c:v>
                </c:pt>
                <c:pt idx="36">
                  <c:v>31.99</c:v>
                </c:pt>
                <c:pt idx="37">
                  <c:v>31.99</c:v>
                </c:pt>
                <c:pt idx="38">
                  <c:v>31.99</c:v>
                </c:pt>
                <c:pt idx="39">
                  <c:v>31.99</c:v>
                </c:pt>
                <c:pt idx="40">
                  <c:v>31.99</c:v>
                </c:pt>
                <c:pt idx="41">
                  <c:v>31.99</c:v>
                </c:pt>
                <c:pt idx="42">
                  <c:v>31.99</c:v>
                </c:pt>
                <c:pt idx="43">
                  <c:v>31.99</c:v>
                </c:pt>
                <c:pt idx="44">
                  <c:v>31.99</c:v>
                </c:pt>
                <c:pt idx="45">
                  <c:v>31.99</c:v>
                </c:pt>
                <c:pt idx="46">
                  <c:v>31.99</c:v>
                </c:pt>
                <c:pt idx="47">
                  <c:v>31.99</c:v>
                </c:pt>
                <c:pt idx="48">
                  <c:v>31.99</c:v>
                </c:pt>
                <c:pt idx="49">
                  <c:v>31.99</c:v>
                </c:pt>
                <c:pt idx="50">
                  <c:v>31.99</c:v>
                </c:pt>
                <c:pt idx="51">
                  <c:v>31.99</c:v>
                </c:pt>
                <c:pt idx="52">
                  <c:v>31.99</c:v>
                </c:pt>
                <c:pt idx="53">
                  <c:v>31.99</c:v>
                </c:pt>
                <c:pt idx="54">
                  <c:v>31.99</c:v>
                </c:pt>
                <c:pt idx="55">
                  <c:v>31.99</c:v>
                </c:pt>
                <c:pt idx="56">
                  <c:v>31.99</c:v>
                </c:pt>
                <c:pt idx="57">
                  <c:v>31.99</c:v>
                </c:pt>
                <c:pt idx="58">
                  <c:v>31.99</c:v>
                </c:pt>
                <c:pt idx="59">
                  <c:v>31.99</c:v>
                </c:pt>
                <c:pt idx="60">
                  <c:v>31.99</c:v>
                </c:pt>
                <c:pt idx="61">
                  <c:v>31.99</c:v>
                </c:pt>
                <c:pt idx="62">
                  <c:v>31.99</c:v>
                </c:pt>
                <c:pt idx="63">
                  <c:v>31.99</c:v>
                </c:pt>
                <c:pt idx="64">
                  <c:v>31.99</c:v>
                </c:pt>
                <c:pt idx="65">
                  <c:v>31.99</c:v>
                </c:pt>
                <c:pt idx="66">
                  <c:v>31.99</c:v>
                </c:pt>
                <c:pt idx="67">
                  <c:v>31.99</c:v>
                </c:pt>
                <c:pt idx="68">
                  <c:v>31.99</c:v>
                </c:pt>
                <c:pt idx="69">
                  <c:v>31.99</c:v>
                </c:pt>
                <c:pt idx="70">
                  <c:v>31.99</c:v>
                </c:pt>
                <c:pt idx="71">
                  <c:v>31.99</c:v>
                </c:pt>
                <c:pt idx="72">
                  <c:v>31.99</c:v>
                </c:pt>
                <c:pt idx="73">
                  <c:v>31.99</c:v>
                </c:pt>
                <c:pt idx="74">
                  <c:v>31.99</c:v>
                </c:pt>
                <c:pt idx="75">
                  <c:v>31.99</c:v>
                </c:pt>
                <c:pt idx="76">
                  <c:v>31.99</c:v>
                </c:pt>
                <c:pt idx="77">
                  <c:v>31.99</c:v>
                </c:pt>
                <c:pt idx="78">
                  <c:v>31.98</c:v>
                </c:pt>
                <c:pt idx="79">
                  <c:v>31.98</c:v>
                </c:pt>
                <c:pt idx="80">
                  <c:v>31.98</c:v>
                </c:pt>
                <c:pt idx="81">
                  <c:v>31.98</c:v>
                </c:pt>
                <c:pt idx="82">
                  <c:v>31.98</c:v>
                </c:pt>
                <c:pt idx="83">
                  <c:v>31.98</c:v>
                </c:pt>
                <c:pt idx="84">
                  <c:v>31.98</c:v>
                </c:pt>
                <c:pt idx="85">
                  <c:v>31.98</c:v>
                </c:pt>
                <c:pt idx="86">
                  <c:v>31.98</c:v>
                </c:pt>
                <c:pt idx="87">
                  <c:v>31.98</c:v>
                </c:pt>
                <c:pt idx="88">
                  <c:v>31.98</c:v>
                </c:pt>
                <c:pt idx="89">
                  <c:v>31.98</c:v>
                </c:pt>
                <c:pt idx="90">
                  <c:v>31.98</c:v>
                </c:pt>
                <c:pt idx="91">
                  <c:v>31.98</c:v>
                </c:pt>
                <c:pt idx="92">
                  <c:v>31.98</c:v>
                </c:pt>
                <c:pt idx="93">
                  <c:v>31.98</c:v>
                </c:pt>
                <c:pt idx="94">
                  <c:v>31.98</c:v>
                </c:pt>
                <c:pt idx="95">
                  <c:v>31.98</c:v>
                </c:pt>
                <c:pt idx="96">
                  <c:v>31.98</c:v>
                </c:pt>
                <c:pt idx="97">
                  <c:v>31.98</c:v>
                </c:pt>
                <c:pt idx="98">
                  <c:v>31.98</c:v>
                </c:pt>
                <c:pt idx="99">
                  <c:v>31.98</c:v>
                </c:pt>
                <c:pt idx="100">
                  <c:v>31.98</c:v>
                </c:pt>
                <c:pt idx="101">
                  <c:v>31.98</c:v>
                </c:pt>
                <c:pt idx="102">
                  <c:v>31.98</c:v>
                </c:pt>
                <c:pt idx="103">
                  <c:v>31.98</c:v>
                </c:pt>
                <c:pt idx="104">
                  <c:v>31.98</c:v>
                </c:pt>
                <c:pt idx="105">
                  <c:v>31.98</c:v>
                </c:pt>
                <c:pt idx="106">
                  <c:v>31.98</c:v>
                </c:pt>
                <c:pt idx="107">
                  <c:v>31.98</c:v>
                </c:pt>
                <c:pt idx="108">
                  <c:v>31.98</c:v>
                </c:pt>
                <c:pt idx="109">
                  <c:v>31.98</c:v>
                </c:pt>
                <c:pt idx="110">
                  <c:v>31.98</c:v>
                </c:pt>
                <c:pt idx="111">
                  <c:v>31.98</c:v>
                </c:pt>
                <c:pt idx="112">
                  <c:v>31.98</c:v>
                </c:pt>
                <c:pt idx="113">
                  <c:v>31.98</c:v>
                </c:pt>
                <c:pt idx="114">
                  <c:v>31.98</c:v>
                </c:pt>
                <c:pt idx="115">
                  <c:v>31.98</c:v>
                </c:pt>
                <c:pt idx="116">
                  <c:v>31.98</c:v>
                </c:pt>
                <c:pt idx="117">
                  <c:v>31.98</c:v>
                </c:pt>
                <c:pt idx="118">
                  <c:v>26.98</c:v>
                </c:pt>
                <c:pt idx="119">
                  <c:v>31.98</c:v>
                </c:pt>
                <c:pt idx="120">
                  <c:v>31.98</c:v>
                </c:pt>
                <c:pt idx="121">
                  <c:v>31.98</c:v>
                </c:pt>
                <c:pt idx="122">
                  <c:v>31.98</c:v>
                </c:pt>
                <c:pt idx="123">
                  <c:v>31.98</c:v>
                </c:pt>
                <c:pt idx="124">
                  <c:v>31.99</c:v>
                </c:pt>
                <c:pt idx="125">
                  <c:v>31.99</c:v>
                </c:pt>
                <c:pt idx="126">
                  <c:v>31.99</c:v>
                </c:pt>
                <c:pt idx="127">
                  <c:v>31.99</c:v>
                </c:pt>
                <c:pt idx="128">
                  <c:v>32</c:v>
                </c:pt>
                <c:pt idx="129">
                  <c:v>32</c:v>
                </c:pt>
                <c:pt idx="130">
                  <c:v>32</c:v>
                </c:pt>
                <c:pt idx="131">
                  <c:v>32.46</c:v>
                </c:pt>
                <c:pt idx="132">
                  <c:v>32.93</c:v>
                </c:pt>
                <c:pt idx="133">
                  <c:v>33.39</c:v>
                </c:pt>
                <c:pt idx="134">
                  <c:v>33.86</c:v>
                </c:pt>
                <c:pt idx="135">
                  <c:v>34.32</c:v>
                </c:pt>
                <c:pt idx="136">
                  <c:v>34.78</c:v>
                </c:pt>
                <c:pt idx="137">
                  <c:v>35.25</c:v>
                </c:pt>
                <c:pt idx="138">
                  <c:v>35.71</c:v>
                </c:pt>
                <c:pt idx="139">
                  <c:v>36.18</c:v>
                </c:pt>
                <c:pt idx="140">
                  <c:v>36.64</c:v>
                </c:pt>
                <c:pt idx="141">
                  <c:v>37.799999999999997</c:v>
                </c:pt>
                <c:pt idx="142">
                  <c:v>38.96</c:v>
                </c:pt>
                <c:pt idx="143">
                  <c:v>40.130000000000003</c:v>
                </c:pt>
                <c:pt idx="144">
                  <c:v>41.28</c:v>
                </c:pt>
                <c:pt idx="145">
                  <c:v>42.44</c:v>
                </c:pt>
                <c:pt idx="146">
                  <c:v>44.02</c:v>
                </c:pt>
                <c:pt idx="147">
                  <c:v>45.6</c:v>
                </c:pt>
                <c:pt idx="148">
                  <c:v>47.17</c:v>
                </c:pt>
                <c:pt idx="149">
                  <c:v>48.75</c:v>
                </c:pt>
                <c:pt idx="150">
                  <c:v>50.33</c:v>
                </c:pt>
                <c:pt idx="151">
                  <c:v>50.59</c:v>
                </c:pt>
                <c:pt idx="152">
                  <c:v>51.1</c:v>
                </c:pt>
                <c:pt idx="153">
                  <c:v>51.62</c:v>
                </c:pt>
                <c:pt idx="154">
                  <c:v>52.14</c:v>
                </c:pt>
                <c:pt idx="155">
                  <c:v>52.66</c:v>
                </c:pt>
                <c:pt idx="156">
                  <c:v>53.19</c:v>
                </c:pt>
                <c:pt idx="157">
                  <c:v>53.71</c:v>
                </c:pt>
                <c:pt idx="158">
                  <c:v>54.23</c:v>
                </c:pt>
                <c:pt idx="159">
                  <c:v>54.75</c:v>
                </c:pt>
                <c:pt idx="160">
                  <c:v>55.27</c:v>
                </c:pt>
                <c:pt idx="161">
                  <c:v>55.78</c:v>
                </c:pt>
                <c:pt idx="162">
                  <c:v>56.27</c:v>
                </c:pt>
                <c:pt idx="163">
                  <c:v>56.75</c:v>
                </c:pt>
                <c:pt idx="164">
                  <c:v>57.21</c:v>
                </c:pt>
                <c:pt idx="165">
                  <c:v>57.66</c:v>
                </c:pt>
                <c:pt idx="166">
                  <c:v>58.07</c:v>
                </c:pt>
                <c:pt idx="167">
                  <c:v>58.49</c:v>
                </c:pt>
                <c:pt idx="168">
                  <c:v>58.91</c:v>
                </c:pt>
                <c:pt idx="169">
                  <c:v>59.31</c:v>
                </c:pt>
                <c:pt idx="170">
                  <c:v>59.73</c:v>
                </c:pt>
                <c:pt idx="171">
                  <c:v>60.14</c:v>
                </c:pt>
                <c:pt idx="172">
                  <c:v>60.56</c:v>
                </c:pt>
                <c:pt idx="173">
                  <c:v>60.98</c:v>
                </c:pt>
                <c:pt idx="174">
                  <c:v>61.41</c:v>
                </c:pt>
                <c:pt idx="175">
                  <c:v>61.84</c:v>
                </c:pt>
                <c:pt idx="176">
                  <c:v>62.27</c:v>
                </c:pt>
                <c:pt idx="177">
                  <c:v>62.68</c:v>
                </c:pt>
                <c:pt idx="178">
                  <c:v>63.07</c:v>
                </c:pt>
                <c:pt idx="179">
                  <c:v>63.45</c:v>
                </c:pt>
                <c:pt idx="180">
                  <c:v>63.81</c:v>
                </c:pt>
                <c:pt idx="181">
                  <c:v>64.180000000000007</c:v>
                </c:pt>
                <c:pt idx="182">
                  <c:v>64.55</c:v>
                </c:pt>
                <c:pt idx="183">
                  <c:v>64.94</c:v>
                </c:pt>
                <c:pt idx="184">
                  <c:v>65.34</c:v>
                </c:pt>
                <c:pt idx="185">
                  <c:v>65.760000000000005</c:v>
                </c:pt>
                <c:pt idx="186">
                  <c:v>66.180000000000007</c:v>
                </c:pt>
                <c:pt idx="187">
                  <c:v>66.599999999999994</c:v>
                </c:pt>
                <c:pt idx="188">
                  <c:v>67.040000000000006</c:v>
                </c:pt>
                <c:pt idx="189">
                  <c:v>67.47</c:v>
                </c:pt>
                <c:pt idx="190">
                  <c:v>67.900000000000006</c:v>
                </c:pt>
                <c:pt idx="191">
                  <c:v>68.099999999999994</c:v>
                </c:pt>
                <c:pt idx="192">
                  <c:v>68.3</c:v>
                </c:pt>
                <c:pt idx="193">
                  <c:v>68.5</c:v>
                </c:pt>
                <c:pt idx="194">
                  <c:v>68.8</c:v>
                </c:pt>
                <c:pt idx="195">
                  <c:v>69</c:v>
                </c:pt>
                <c:pt idx="196">
                  <c:v>69.3</c:v>
                </c:pt>
                <c:pt idx="197">
                  <c:v>69.599999999999994</c:v>
                </c:pt>
                <c:pt idx="198">
                  <c:v>69.900000000000006</c:v>
                </c:pt>
                <c:pt idx="199">
                  <c:v>70.3</c:v>
                </c:pt>
                <c:pt idx="200">
                  <c:v>70.7</c:v>
                </c:pt>
                <c:pt idx="201">
                  <c:v>71.099999999999994</c:v>
                </c:pt>
                <c:pt idx="202">
                  <c:v>71.400000000000006</c:v>
                </c:pt>
                <c:pt idx="203">
                  <c:v>71.7</c:v>
                </c:pt>
                <c:pt idx="204">
                  <c:v>72</c:v>
                </c:pt>
                <c:pt idx="205">
                  <c:v>72.400000000000006</c:v>
                </c:pt>
                <c:pt idx="206">
                  <c:v>72.7</c:v>
                </c:pt>
                <c:pt idx="207">
                  <c:v>73</c:v>
                </c:pt>
                <c:pt idx="208">
                  <c:v>73.2</c:v>
                </c:pt>
                <c:pt idx="209">
                  <c:v>73.400000000000006</c:v>
                </c:pt>
                <c:pt idx="210">
                  <c:v>73.599999999999994</c:v>
                </c:pt>
                <c:pt idx="211">
                  <c:v>73.8</c:v>
                </c:pt>
                <c:pt idx="212">
                  <c:v>74</c:v>
                </c:pt>
                <c:pt idx="213">
                  <c:v>74.099999999999994</c:v>
                </c:pt>
                <c:pt idx="214">
                  <c:v>74.3</c:v>
                </c:pt>
                <c:pt idx="215">
                  <c:v>74.400000000000006</c:v>
                </c:pt>
                <c:pt idx="216">
                  <c:v>74.5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89A-45D7-A013-C70409C57A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5303807"/>
        <c:axId val="1526167887"/>
      </c:scatterChart>
      <c:valAx>
        <c:axId val="1355303807"/>
        <c:scaling>
          <c:orientation val="minMax"/>
          <c:max val="2025"/>
          <c:min val="18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167887"/>
        <c:crosses val="autoZero"/>
        <c:crossBetween val="midCat"/>
      </c:valAx>
      <c:valAx>
        <c:axId val="1526167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Life expectancy (years)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53038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28575"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8471D-9D77-FD4B-8332-4275F9C7020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2B2E8-C8CE-7742-992D-57F085B76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8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we know how to submit one </a:t>
            </a:r>
            <a:r>
              <a:rPr lang="en-US" dirty="0" err="1"/>
              <a:t>HTCondor</a:t>
            </a:r>
            <a:r>
              <a:rPr lang="en-US" dirty="0"/>
              <a:t> job, let’s discuss the process of submitting many jobs using a single submit file.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2B2E8-C8CE-7742-992D-57F085B768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5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might we want to submit many jobs? The reason may change </a:t>
            </a:r>
            <a:r>
              <a:rPr lang="en-US" dirty="0" err="1"/>
              <a:t>depenending</a:t>
            </a:r>
            <a:r>
              <a:rPr lang="en-US" dirty="0"/>
              <a:t> on the type of </a:t>
            </a:r>
            <a:r>
              <a:rPr lang="en-US" dirty="0" err="1"/>
              <a:t>reseach</a:t>
            </a:r>
            <a:r>
              <a:rPr lang="en-US" dirty="0"/>
              <a:t> you do. So for example, here we have</a:t>
            </a:r>
          </a:p>
          <a:p>
            <a:r>
              <a:rPr lang="en-US" dirty="0" err="1"/>
              <a:t>Physiccs</a:t>
            </a:r>
            <a:r>
              <a:rPr lang="en-US" dirty="0"/>
              <a:t>/ </a:t>
            </a:r>
            <a:r>
              <a:rPr lang="en-US" dirty="0" err="1"/>
              <a:t>enginerring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2B2E8-C8CE-7742-992D-57F085B768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68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tend to be some of the most common needs for running many jobs, meaning researchers need to run many simulations, parameters,  or analyze different samples </a:t>
            </a:r>
          </a:p>
          <a:p>
            <a:endParaRPr lang="en-US" dirty="0"/>
          </a:p>
          <a:p>
            <a:r>
              <a:rPr lang="en-US" dirty="0"/>
              <a:t>To help us all learn a bit about each other, </a:t>
            </a:r>
            <a:r>
              <a:rPr lang="en-US" dirty="0" err="1"/>
              <a:t>i’d</a:t>
            </a:r>
            <a:r>
              <a:rPr lang="en-US" dirty="0"/>
              <a:t> love to know a bit more about the research you are all doing. We have many different domains of research here, so out of curiosity, who is: (1) engineering, (2) physics, (3) biology, (4) chemistry. Anyone else?</a:t>
            </a:r>
          </a:p>
          <a:p>
            <a:r>
              <a:rPr lang="en-US" dirty="0"/>
              <a:t>Exercise: people raise hands </a:t>
            </a:r>
          </a:p>
          <a:p>
            <a:r>
              <a:rPr lang="en-US" dirty="0"/>
              <a:t>Name, home institution, type of research and why you might want to run many jobs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2B2E8-C8CE-7742-992D-57F085B768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93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help us analyze our data more quickly and produce those important results we are all looking for, when we are 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2B2E8-C8CE-7742-992D-57F085B768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97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HTCondor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replace any instance of </a:t>
            </a:r>
            <a:r>
              <a:rPr lang="en-US" dirty="0"/>
              <a:t>$(Process)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the process number of the job,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2B2E8-C8CE-7742-992D-57F085B7687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12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HTCondor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replace any instance of </a:t>
            </a:r>
            <a:r>
              <a:rPr lang="en-US" dirty="0"/>
              <a:t>$(Process)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the process number of the job. It is best practice to use a single log file per submission.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2B2E8-C8CE-7742-992D-57F085B7687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03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this what our terminal would look like if we actually submitted this job.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2B2E8-C8CE-7742-992D-57F085B7687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61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Courier"/>
                <a:cs typeface="Courier"/>
              </a:rPr>
              <a:t>$INT, expands the list of whatever it is provided </a:t>
            </a:r>
          </a:p>
          <a:p>
            <a:r>
              <a:rPr lang="en-US" sz="1200" dirty="0">
                <a:latin typeface="Courier"/>
              </a:rPr>
              <a:t>Stands for integer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2B2E8-C8CE-7742-992D-57F085B7687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84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Queue variable matching pattern*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2B2E8-C8CE-7742-992D-57F085B7687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71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chemeClr val="hlink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63600" y="3886200"/>
            <a:ext cx="10414000" cy="1752600"/>
          </a:xfrm>
        </p:spPr>
        <p:txBody>
          <a:bodyPr/>
          <a:lstStyle>
            <a:lvl1pPr marL="0" indent="0" algn="ctr">
              <a:buFont typeface="Times" charset="0"/>
              <a:buNone/>
              <a:defRPr sz="3200" baseline="0">
                <a:solidFill>
                  <a:schemeClr val="hlink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945B819-F6D4-FE07-F094-8E74866691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1" y="152403"/>
            <a:ext cx="1176864" cy="7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2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4EDED-A79F-9441-BA56-EB4E3B389F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3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381" indent="0">
              <a:buNone/>
              <a:defRPr sz="2400"/>
            </a:lvl2pPr>
            <a:lvl3pPr marL="1218760" indent="0">
              <a:buNone/>
              <a:defRPr sz="2133"/>
            </a:lvl3pPr>
            <a:lvl4pPr marL="1828142" indent="0">
              <a:buNone/>
              <a:defRPr sz="1867"/>
            </a:lvl4pPr>
            <a:lvl5pPr marL="2437523" indent="0">
              <a:buNone/>
              <a:defRPr sz="1867"/>
            </a:lvl5pPr>
            <a:lvl6pPr marL="3046904" indent="0">
              <a:buNone/>
              <a:defRPr sz="1867"/>
            </a:lvl6pPr>
            <a:lvl7pPr marL="3656285" indent="0">
              <a:buNone/>
              <a:defRPr sz="1867"/>
            </a:lvl7pPr>
            <a:lvl8pPr marL="4265665" indent="0">
              <a:buNone/>
              <a:defRPr sz="1867"/>
            </a:lvl8pPr>
            <a:lvl9pPr marL="4875046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B05A9-A215-CF4D-9C08-37C02F1243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77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2935" y="1333502"/>
            <a:ext cx="5080000" cy="46863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6133" y="1333502"/>
            <a:ext cx="5080000" cy="46863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E7972-0240-D844-975F-605D2588B3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60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381" indent="0">
              <a:buNone/>
              <a:defRPr sz="2667" b="1"/>
            </a:lvl2pPr>
            <a:lvl3pPr marL="1218760" indent="0">
              <a:buNone/>
              <a:defRPr sz="2400" b="1"/>
            </a:lvl3pPr>
            <a:lvl4pPr marL="1828142" indent="0">
              <a:buNone/>
              <a:defRPr sz="2133" b="1"/>
            </a:lvl4pPr>
            <a:lvl5pPr marL="2437523" indent="0">
              <a:buNone/>
              <a:defRPr sz="2133" b="1"/>
            </a:lvl5pPr>
            <a:lvl6pPr marL="3046904" indent="0">
              <a:buNone/>
              <a:defRPr sz="2133" b="1"/>
            </a:lvl6pPr>
            <a:lvl7pPr marL="3656285" indent="0">
              <a:buNone/>
              <a:defRPr sz="2133" b="1"/>
            </a:lvl7pPr>
            <a:lvl8pPr marL="4265665" indent="0">
              <a:buNone/>
              <a:defRPr sz="2133" b="1"/>
            </a:lvl8pPr>
            <a:lvl9pPr marL="4875046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381" indent="0">
              <a:buNone/>
              <a:defRPr sz="2667" b="1"/>
            </a:lvl2pPr>
            <a:lvl3pPr marL="1218760" indent="0">
              <a:buNone/>
              <a:defRPr sz="2400" b="1"/>
            </a:lvl3pPr>
            <a:lvl4pPr marL="1828142" indent="0">
              <a:buNone/>
              <a:defRPr sz="2133" b="1"/>
            </a:lvl4pPr>
            <a:lvl5pPr marL="2437523" indent="0">
              <a:buNone/>
              <a:defRPr sz="2133" b="1"/>
            </a:lvl5pPr>
            <a:lvl6pPr marL="3046904" indent="0">
              <a:buNone/>
              <a:defRPr sz="2133" b="1"/>
            </a:lvl6pPr>
            <a:lvl7pPr marL="3656285" indent="0">
              <a:buNone/>
              <a:defRPr sz="2133" b="1"/>
            </a:lvl7pPr>
            <a:lvl8pPr marL="4265665" indent="0">
              <a:buNone/>
              <a:defRPr sz="2133" b="1"/>
            </a:lvl8pPr>
            <a:lvl9pPr marL="4875046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29984-A4AE-D543-90B6-CBFD41404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45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81811-A12E-9745-9EEE-59EF689BEF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6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9DD681-2091-A647-8F62-08E72E581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381" indent="0">
              <a:buNone/>
              <a:defRPr sz="1600"/>
            </a:lvl2pPr>
            <a:lvl3pPr marL="1218760" indent="0">
              <a:buNone/>
              <a:defRPr sz="1333"/>
            </a:lvl3pPr>
            <a:lvl4pPr marL="1828142" indent="0">
              <a:buNone/>
              <a:defRPr sz="1200"/>
            </a:lvl4pPr>
            <a:lvl5pPr marL="2437523" indent="0">
              <a:buNone/>
              <a:defRPr sz="1200"/>
            </a:lvl5pPr>
            <a:lvl6pPr marL="3046904" indent="0">
              <a:buNone/>
              <a:defRPr sz="1200"/>
            </a:lvl6pPr>
            <a:lvl7pPr marL="3656285" indent="0">
              <a:buNone/>
              <a:defRPr sz="1200"/>
            </a:lvl7pPr>
            <a:lvl8pPr marL="4265665" indent="0">
              <a:buNone/>
              <a:defRPr sz="1200"/>
            </a:lvl8pPr>
            <a:lvl9pPr marL="4875046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EC728-E676-F047-B749-A08143A7E6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00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381" indent="0">
              <a:buNone/>
              <a:defRPr sz="3733"/>
            </a:lvl2pPr>
            <a:lvl3pPr marL="1218760" indent="0">
              <a:buNone/>
              <a:defRPr sz="3200"/>
            </a:lvl3pPr>
            <a:lvl4pPr marL="1828142" indent="0">
              <a:buNone/>
              <a:defRPr sz="2667"/>
            </a:lvl4pPr>
            <a:lvl5pPr marL="2437523" indent="0">
              <a:buNone/>
              <a:defRPr sz="2667"/>
            </a:lvl5pPr>
            <a:lvl6pPr marL="3046904" indent="0">
              <a:buNone/>
              <a:defRPr sz="2667"/>
            </a:lvl6pPr>
            <a:lvl7pPr marL="3656285" indent="0">
              <a:buNone/>
              <a:defRPr sz="2667"/>
            </a:lvl7pPr>
            <a:lvl8pPr marL="4265665" indent="0">
              <a:buNone/>
              <a:defRPr sz="2667"/>
            </a:lvl8pPr>
            <a:lvl9pPr marL="4875046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381" indent="0">
              <a:buNone/>
              <a:defRPr sz="1600"/>
            </a:lvl2pPr>
            <a:lvl3pPr marL="1218760" indent="0">
              <a:buNone/>
              <a:defRPr sz="1333"/>
            </a:lvl3pPr>
            <a:lvl4pPr marL="1828142" indent="0">
              <a:buNone/>
              <a:defRPr sz="1200"/>
            </a:lvl4pPr>
            <a:lvl5pPr marL="2437523" indent="0">
              <a:buNone/>
              <a:defRPr sz="1200"/>
            </a:lvl5pPr>
            <a:lvl6pPr marL="3046904" indent="0">
              <a:buNone/>
              <a:defRPr sz="1200"/>
            </a:lvl6pPr>
            <a:lvl7pPr marL="3656285" indent="0">
              <a:buNone/>
              <a:defRPr sz="1200"/>
            </a:lvl7pPr>
            <a:lvl8pPr marL="4265665" indent="0">
              <a:buNone/>
              <a:defRPr sz="1200"/>
            </a:lvl8pPr>
            <a:lvl9pPr marL="4875046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20BD5-553C-B743-BD14-9E5D7D0C4E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71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24554-1BBB-8D4D-9F0C-BA45BC7ACD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12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05335" y="114302"/>
            <a:ext cx="2590800" cy="5905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2933" y="114302"/>
            <a:ext cx="7569200" cy="5905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33201" y="6400800"/>
            <a:ext cx="55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184DE-9520-C948-8D6F-9B4CB29D5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67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638302" y="114300"/>
            <a:ext cx="9262533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32933" y="1333502"/>
            <a:ext cx="10363200" cy="46863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10"/>
          <p:cNvSpPr>
            <a:spLocks noChangeArrowheads="1"/>
          </p:cNvSpPr>
          <p:nvPr/>
        </p:nvSpPr>
        <p:spPr bwMode="auto">
          <a:xfrm>
            <a:off x="-1689099" y="6009218"/>
            <a:ext cx="246229" cy="615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892" tIns="60947" rIns="121892" bIns="60947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3200">
              <a:cs typeface="Arial" pitchFamily="34" charset="0"/>
            </a:endParaRPr>
          </a:p>
        </p:txBody>
      </p:sp>
      <p:sp>
        <p:nvSpPr>
          <p:cNvPr id="1031" name="Rectangle 17"/>
          <p:cNvSpPr>
            <a:spLocks noGrp="1" noChangeArrowheads="1"/>
          </p:cNvSpPr>
          <p:nvPr/>
        </p:nvSpPr>
        <p:spPr bwMode="auto">
          <a:xfrm>
            <a:off x="2" y="6474887"/>
            <a:ext cx="3020484" cy="383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2" tIns="60947" rIns="121892" bIns="60947" anchor="b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solidFill>
                  <a:srgbClr val="FF8000"/>
                </a:solidFill>
                <a:cs typeface="+mn-cs"/>
              </a:rPr>
              <a:t>OSG User School 2026</a:t>
            </a:r>
          </a:p>
        </p:txBody>
      </p:sp>
      <p:sp>
        <p:nvSpPr>
          <p:cNvPr id="1032" name="Line 18"/>
          <p:cNvSpPr>
            <a:spLocks noChangeShapeType="1"/>
          </p:cNvSpPr>
          <p:nvPr/>
        </p:nvSpPr>
        <p:spPr bwMode="auto">
          <a:xfrm>
            <a:off x="700621" y="1155700"/>
            <a:ext cx="11491383" cy="0"/>
          </a:xfrm>
          <a:prstGeom prst="line">
            <a:avLst/>
          </a:prstGeom>
          <a:noFill/>
          <a:ln w="38100">
            <a:solidFill>
              <a:srgbClr val="FF8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lIns="121892" tIns="60947" rIns="121892" bIns="60947" anchor="ctr"/>
          <a:lstStyle/>
          <a:p>
            <a:endParaRPr lang="en-US" sz="2400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E57BE158-11B5-3947-89C2-E9CBD3F513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33201" y="6400800"/>
            <a:ext cx="55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9" tIns="45710" rIns="91419" bIns="4571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867" smtClean="0">
                <a:solidFill>
                  <a:srgbClr val="FF8000"/>
                </a:solidFill>
              </a:defRPr>
            </a:lvl1pPr>
          </a:lstStyle>
          <a:p>
            <a:pPr>
              <a:defRPr/>
            </a:pPr>
            <a:fld id="{52555C4F-B780-4A45-BAAE-1A390F5A58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21B5C1F-8181-514C-15B4-B66D5BFB6B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01" y="152403"/>
            <a:ext cx="1176864" cy="7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0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rgbClr val="000080"/>
          </a:solidFill>
          <a:latin typeface="Arial"/>
          <a:ea typeface="+mj-ea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rgbClr val="000080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rgbClr val="000080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rgbClr val="000080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800" b="1">
          <a:solidFill>
            <a:srgbClr val="000080"/>
          </a:solidFill>
          <a:latin typeface="Arial" charset="0"/>
          <a:ea typeface="ＭＳ Ｐゴシック" charset="-128"/>
          <a:cs typeface="ＭＳ Ｐゴシック" charset="-128"/>
        </a:defRPr>
      </a:lvl5pPr>
      <a:lvl6pPr marL="609445" algn="ctr" rtl="0" fontAlgn="base">
        <a:spcBef>
          <a:spcPct val="0"/>
        </a:spcBef>
        <a:spcAft>
          <a:spcPct val="0"/>
        </a:spcAft>
        <a:defRPr kumimoji="1" sz="4267">
          <a:solidFill>
            <a:srgbClr val="000080"/>
          </a:solidFill>
          <a:latin typeface="Futura" charset="0"/>
          <a:ea typeface="ＭＳ Ｐゴシック" charset="-128"/>
          <a:cs typeface="ＭＳ Ｐゴシック" charset="-128"/>
        </a:defRPr>
      </a:lvl6pPr>
      <a:lvl7pPr marL="1218886" algn="ctr" rtl="0" fontAlgn="base">
        <a:spcBef>
          <a:spcPct val="0"/>
        </a:spcBef>
        <a:spcAft>
          <a:spcPct val="0"/>
        </a:spcAft>
        <a:defRPr kumimoji="1" sz="4267">
          <a:solidFill>
            <a:srgbClr val="000080"/>
          </a:solidFill>
          <a:latin typeface="Futura" charset="0"/>
          <a:ea typeface="ＭＳ Ｐゴシック" charset="-128"/>
          <a:cs typeface="ＭＳ Ｐゴシック" charset="-128"/>
        </a:defRPr>
      </a:lvl7pPr>
      <a:lvl8pPr marL="1828330" algn="ctr" rtl="0" fontAlgn="base">
        <a:spcBef>
          <a:spcPct val="0"/>
        </a:spcBef>
        <a:spcAft>
          <a:spcPct val="0"/>
        </a:spcAft>
        <a:defRPr kumimoji="1" sz="4267">
          <a:solidFill>
            <a:srgbClr val="000080"/>
          </a:solidFill>
          <a:latin typeface="Futura" charset="0"/>
          <a:ea typeface="ＭＳ Ｐゴシック" charset="-128"/>
          <a:cs typeface="ＭＳ Ｐゴシック" charset="-128"/>
        </a:defRPr>
      </a:lvl8pPr>
      <a:lvl9pPr marL="2437772" algn="ctr" rtl="0" fontAlgn="base">
        <a:spcBef>
          <a:spcPct val="0"/>
        </a:spcBef>
        <a:spcAft>
          <a:spcPct val="0"/>
        </a:spcAft>
        <a:defRPr kumimoji="1" sz="4267">
          <a:solidFill>
            <a:srgbClr val="000080"/>
          </a:solidFill>
          <a:latin typeface="Futura" charset="0"/>
          <a:ea typeface="ＭＳ Ｐゴシック" charset="-128"/>
          <a:cs typeface="ＭＳ Ｐゴシック" charset="-128"/>
        </a:defRPr>
      </a:lvl9pPr>
    </p:titleStyle>
    <p:bodyStyle>
      <a:lvl1pPr marL="457083" indent="-457083" algn="l" rtl="0" eaLnBrk="0" fontAlgn="base" hangingPunct="0">
        <a:spcBef>
          <a:spcPct val="20000"/>
        </a:spcBef>
        <a:spcAft>
          <a:spcPct val="0"/>
        </a:spcAft>
        <a:buClr>
          <a:srgbClr val="000080"/>
        </a:buClr>
        <a:buFont typeface="Times" charset="0"/>
        <a:buChar char="•"/>
        <a:defRPr kumimoji="1" sz="4267">
          <a:solidFill>
            <a:schemeClr val="tx2"/>
          </a:solidFill>
          <a:latin typeface="+mn-lt"/>
          <a:ea typeface="+mn-ea"/>
          <a:cs typeface="+mn-cs"/>
        </a:defRPr>
      </a:lvl1pPr>
      <a:lvl2pPr marL="990345" indent="-380902" algn="l" rtl="0" eaLnBrk="0" fontAlgn="base" hangingPunct="0">
        <a:spcBef>
          <a:spcPct val="20000"/>
        </a:spcBef>
        <a:spcAft>
          <a:spcPct val="0"/>
        </a:spcAft>
        <a:buClr>
          <a:srgbClr val="3C0000"/>
        </a:buClr>
        <a:buFont typeface="Symbol" charset="0"/>
        <a:buChar char=""/>
        <a:defRPr kumimoji="1" sz="3733">
          <a:solidFill>
            <a:schemeClr val="tx2"/>
          </a:solidFill>
          <a:latin typeface="+mn-lt"/>
          <a:ea typeface="+mn-ea"/>
        </a:defRPr>
      </a:lvl2pPr>
      <a:lvl3pPr marL="1523609" indent="-304722" algn="l" rtl="0" eaLnBrk="0" fontAlgn="base" hangingPunct="0">
        <a:spcBef>
          <a:spcPct val="20000"/>
        </a:spcBef>
        <a:spcAft>
          <a:spcPct val="0"/>
        </a:spcAft>
        <a:buClr>
          <a:srgbClr val="3C0000"/>
        </a:buClr>
        <a:buFont typeface="Wingdings" charset="0"/>
        <a:buChar char="§"/>
        <a:defRPr kumimoji="1" sz="3200">
          <a:solidFill>
            <a:schemeClr val="tx2"/>
          </a:solidFill>
          <a:latin typeface="+mn-lt"/>
          <a:ea typeface="+mn-ea"/>
        </a:defRPr>
      </a:lvl3pPr>
      <a:lvl4pPr marL="2133052" indent="-304722" algn="l" rtl="0" eaLnBrk="0" fontAlgn="base" hangingPunct="0">
        <a:spcBef>
          <a:spcPct val="20000"/>
        </a:spcBef>
        <a:spcAft>
          <a:spcPct val="0"/>
        </a:spcAft>
        <a:buClr>
          <a:srgbClr val="3C0000"/>
        </a:buClr>
        <a:buFont typeface="Wingdings" charset="0"/>
        <a:buChar char=""/>
        <a:defRPr kumimoji="1" sz="2667">
          <a:solidFill>
            <a:schemeClr val="tx2"/>
          </a:solidFill>
          <a:latin typeface="+mn-lt"/>
          <a:ea typeface="+mn-ea"/>
        </a:defRPr>
      </a:lvl4pPr>
      <a:lvl5pPr marL="2742494" indent="-304722" algn="l" rtl="0" eaLnBrk="0" fontAlgn="base" hangingPunct="0">
        <a:spcBef>
          <a:spcPct val="20000"/>
        </a:spcBef>
        <a:spcAft>
          <a:spcPct val="0"/>
        </a:spcAft>
        <a:buClr>
          <a:srgbClr val="3C0000"/>
        </a:buClr>
        <a:buFont typeface="Wingdings" charset="0"/>
        <a:buChar char=""/>
        <a:defRPr kumimoji="1" sz="2667">
          <a:solidFill>
            <a:schemeClr val="tx2"/>
          </a:solidFill>
          <a:latin typeface="+mn-lt"/>
          <a:ea typeface="+mn-ea"/>
        </a:defRPr>
      </a:lvl5pPr>
      <a:lvl6pPr marL="3351939" indent="-304722" algn="l" rtl="0" fontAlgn="base">
        <a:spcBef>
          <a:spcPct val="20000"/>
        </a:spcBef>
        <a:spcAft>
          <a:spcPct val="0"/>
        </a:spcAft>
        <a:buClr>
          <a:srgbClr val="3C0000"/>
        </a:buClr>
        <a:buFont typeface="Wingdings" charset="2"/>
        <a:buChar char=""/>
        <a:defRPr kumimoji="1" sz="2667">
          <a:solidFill>
            <a:schemeClr val="tx2"/>
          </a:solidFill>
          <a:latin typeface="+mn-lt"/>
          <a:ea typeface="+mn-ea"/>
        </a:defRPr>
      </a:lvl6pPr>
      <a:lvl7pPr marL="3961381" indent="-304722" algn="l" rtl="0" fontAlgn="base">
        <a:spcBef>
          <a:spcPct val="20000"/>
        </a:spcBef>
        <a:spcAft>
          <a:spcPct val="0"/>
        </a:spcAft>
        <a:buClr>
          <a:srgbClr val="3C0000"/>
        </a:buClr>
        <a:buFont typeface="Wingdings" charset="2"/>
        <a:buChar char=""/>
        <a:defRPr kumimoji="1" sz="2667">
          <a:solidFill>
            <a:schemeClr val="tx2"/>
          </a:solidFill>
          <a:latin typeface="+mn-lt"/>
          <a:ea typeface="+mn-ea"/>
        </a:defRPr>
      </a:lvl7pPr>
      <a:lvl8pPr marL="4570824" indent="-304722" algn="l" rtl="0" fontAlgn="base">
        <a:spcBef>
          <a:spcPct val="20000"/>
        </a:spcBef>
        <a:spcAft>
          <a:spcPct val="0"/>
        </a:spcAft>
        <a:buClr>
          <a:srgbClr val="3C0000"/>
        </a:buClr>
        <a:buFont typeface="Wingdings" charset="2"/>
        <a:buChar char=""/>
        <a:defRPr kumimoji="1" sz="2667">
          <a:solidFill>
            <a:schemeClr val="tx2"/>
          </a:solidFill>
          <a:latin typeface="+mn-lt"/>
          <a:ea typeface="+mn-ea"/>
        </a:defRPr>
      </a:lvl8pPr>
      <a:lvl9pPr marL="5180268" indent="-304722" algn="l" rtl="0" fontAlgn="base">
        <a:spcBef>
          <a:spcPct val="20000"/>
        </a:spcBef>
        <a:spcAft>
          <a:spcPct val="0"/>
        </a:spcAft>
        <a:buClr>
          <a:srgbClr val="3C0000"/>
        </a:buClr>
        <a:buFont typeface="Wingdings" charset="2"/>
        <a:buChar char=""/>
        <a:defRPr kumimoji="1" sz="2667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4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5" algn="l" defTabSz="6094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6" algn="l" defTabSz="6094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30" algn="l" defTabSz="6094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2" algn="l" defTabSz="6094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7" algn="l" defTabSz="6094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9" algn="l" defTabSz="6094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03" algn="l" defTabSz="6094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7" algn="l" defTabSz="60944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pentries/instructor-trainin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carpentries/instructor-training/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carpentries/instructor-training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pentries/instructor-trainin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pentries/instructor-trainin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htcondor.readthedocs.io/en/latest/man-pages/condor_watch_q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8256-4B58-4247-B113-F88AF998F7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Submitting Multiple Jobs With </a:t>
            </a:r>
            <a:r>
              <a:rPr lang="en-US" dirty="0" err="1"/>
              <a:t>HTCondor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3E2A0-30BC-104A-B24A-AE0DA8FE93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July 13, 2026</a:t>
            </a:r>
          </a:p>
          <a:p>
            <a:r>
              <a:rPr lang="en-US" dirty="0"/>
              <a:t>Amber Lim</a:t>
            </a:r>
          </a:p>
        </p:txBody>
      </p:sp>
    </p:spTree>
    <p:extLst>
      <p:ext uri="{BB962C8B-B14F-4D97-AF65-F5344CB8AC3E}">
        <p14:creationId xmlns:p14="http://schemas.microsoft.com/office/powerpoint/2010/main" val="242521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124D-0A2B-B56C-EA9B-9C6C53F6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7EF14-1FD4-827F-0757-95FA1701F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386" y="1333502"/>
            <a:ext cx="11161985" cy="4686300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sz="3000" dirty="0"/>
              <a:t>After this lecture, you should be able to:</a:t>
            </a:r>
          </a:p>
          <a:p>
            <a:pPr>
              <a:spcAft>
                <a:spcPts val="1200"/>
              </a:spcAft>
            </a:pPr>
            <a:r>
              <a:rPr lang="en-US" sz="3000" dirty="0"/>
              <a:t>Submit lists of jobs using a single submit file</a:t>
            </a:r>
          </a:p>
          <a:p>
            <a:pPr>
              <a:spcAft>
                <a:spcPts val="1200"/>
              </a:spcAft>
            </a:pPr>
            <a:r>
              <a:rPr lang="en-US" sz="3000" dirty="0"/>
              <a:t>Define and use variables in your submit file</a:t>
            </a:r>
          </a:p>
          <a:p>
            <a:r>
              <a:rPr lang="en-US" sz="3000" dirty="0"/>
              <a:t>Strategize how to structure files related to your job</a:t>
            </a:r>
          </a:p>
          <a:p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E59EF-A4BD-A58B-B0B1-9247C3EEC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88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1755-1113-9C4D-AF14-24B21929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multiple jobs?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AB4DC-3266-7F47-AFE1-8338BD84B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0EBCCD-264B-A04B-8195-D628C8B55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197409"/>
              </p:ext>
            </p:extLst>
          </p:nvPr>
        </p:nvGraphicFramePr>
        <p:xfrm>
          <a:off x="1188852" y="1408204"/>
          <a:ext cx="2943761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38528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Mei Monte Carlo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52337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30997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Needs to run many random simulations to model particles in a detector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DCA200-A5C3-B54A-B978-6DD2A8664941}"/>
              </a:ext>
            </a:extLst>
          </p:cNvPr>
          <p:cNvSpPr txBox="1"/>
          <p:nvPr/>
        </p:nvSpPr>
        <p:spPr>
          <a:xfrm>
            <a:off x="6935990" y="6172373"/>
            <a:ext cx="4780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</a:t>
            </a:r>
            <a:r>
              <a:rPr lang="en-US" dirty="0">
                <a:hlinkClick r:id="rId3"/>
              </a:rPr>
              <a:t>The Carpentries Instructor Training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67FA55-85B1-9245-B709-86127F9A77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228" t="4618" r="40572" b="53832"/>
          <a:stretch/>
        </p:blipFill>
        <p:spPr>
          <a:xfrm>
            <a:off x="1968846" y="2159220"/>
            <a:ext cx="1408488" cy="160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1755-1113-9C4D-AF14-24B21929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multiple jobs?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AB4DC-3266-7F47-AFE1-8338BD84B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0EBCCD-264B-A04B-8195-D628C8B55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578784"/>
              </p:ext>
            </p:extLst>
          </p:nvPr>
        </p:nvGraphicFramePr>
        <p:xfrm>
          <a:off x="1188852" y="1408204"/>
          <a:ext cx="2943761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38528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Mei Monte Carlo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52337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30997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Needs to run many random simulations to model particles in a detector.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DCA200-A5C3-B54A-B978-6DD2A8664941}"/>
              </a:ext>
            </a:extLst>
          </p:cNvPr>
          <p:cNvSpPr txBox="1"/>
          <p:nvPr/>
        </p:nvSpPr>
        <p:spPr>
          <a:xfrm>
            <a:off x="6935990" y="6172373"/>
            <a:ext cx="4780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</a:t>
            </a:r>
            <a:r>
              <a:rPr lang="en-US" dirty="0">
                <a:hlinkClick r:id="rId2"/>
              </a:rPr>
              <a:t>The Carpentries Instructor Training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222985-33C0-AA49-9AA9-E6F85EF3522C}"/>
              </a:ext>
            </a:extLst>
          </p:cNvPr>
          <p:cNvGraphicFramePr>
            <a:graphicFrameLocks noGrp="1"/>
          </p:cNvGraphicFramePr>
          <p:nvPr/>
        </p:nvGraphicFramePr>
        <p:xfrm>
          <a:off x="4624119" y="1408204"/>
          <a:ext cx="2943761" cy="4298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42751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Tamara Trials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Testing different design parameters for designing clinical trials.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471FFBF-6C93-B847-B650-0905B2E6C6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173" t="4618" r="6502" b="53832"/>
          <a:stretch/>
        </p:blipFill>
        <p:spPr>
          <a:xfrm>
            <a:off x="5287948" y="2097435"/>
            <a:ext cx="1616101" cy="16000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67FA55-85B1-9245-B709-86127F9A77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228" t="4618" r="40572" b="53832"/>
          <a:stretch/>
        </p:blipFill>
        <p:spPr>
          <a:xfrm>
            <a:off x="1968846" y="2159220"/>
            <a:ext cx="1408488" cy="160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65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1755-1113-9C4D-AF14-24B21929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multiple jobs?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AB4DC-3266-7F47-AFE1-8338BD84B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0EBCCD-264B-A04B-8195-D628C8B55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903402"/>
              </p:ext>
            </p:extLst>
          </p:nvPr>
        </p:nvGraphicFramePr>
        <p:xfrm>
          <a:off x="1188852" y="1519417"/>
          <a:ext cx="2943761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38528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Mei Monte Carlo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52337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30997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Needs to run many random simulations to model particles in a detector.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DCA200-A5C3-B54A-B978-6DD2A8664941}"/>
              </a:ext>
            </a:extLst>
          </p:cNvPr>
          <p:cNvSpPr txBox="1"/>
          <p:nvPr/>
        </p:nvSpPr>
        <p:spPr>
          <a:xfrm>
            <a:off x="6935990" y="6172373"/>
            <a:ext cx="4780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</a:t>
            </a:r>
            <a:r>
              <a:rPr lang="en-US" dirty="0">
                <a:hlinkClick r:id="rId2"/>
              </a:rPr>
              <a:t>The Carpentries Instructor Training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222985-33C0-AA49-9AA9-E6F85EF35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150467"/>
              </p:ext>
            </p:extLst>
          </p:nvPr>
        </p:nvGraphicFramePr>
        <p:xfrm>
          <a:off x="4624119" y="1519417"/>
          <a:ext cx="2943761" cy="4298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42751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Tamara Trials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Testing different design parameters for designing clinical trials.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FEB2F2B-BD9E-1C47-B47A-0346ED0B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022131"/>
              </p:ext>
            </p:extLst>
          </p:nvPr>
        </p:nvGraphicFramePr>
        <p:xfrm>
          <a:off x="8059386" y="1519416"/>
          <a:ext cx="3074052" cy="4298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405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42751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Ben Bioinformatics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Applying a quality control / processing pipeline to 20 RNA samples.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471FFBF-6C93-B847-B650-0905B2E6C6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173" t="4618" r="6502" b="53832"/>
          <a:stretch/>
        </p:blipFill>
        <p:spPr>
          <a:xfrm>
            <a:off x="5287948" y="2208648"/>
            <a:ext cx="1616101" cy="16000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5B716F-0AC3-1948-9BC5-5B4A3A0318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49" t="4618" r="69125" b="53832"/>
          <a:stretch/>
        </p:blipFill>
        <p:spPr>
          <a:xfrm>
            <a:off x="8779919" y="2189251"/>
            <a:ext cx="1808866" cy="16000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67FA55-85B1-9245-B709-86127F9A77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228" t="4618" r="40572" b="53832"/>
          <a:stretch/>
        </p:blipFill>
        <p:spPr>
          <a:xfrm>
            <a:off x="1968846" y="2270433"/>
            <a:ext cx="1408488" cy="160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95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1755-1113-9C4D-AF14-24B21929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multiple jobs?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AB4DC-3266-7F47-AFE1-8338BD84B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0EBCCD-264B-A04B-8195-D628C8B55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593950"/>
              </p:ext>
            </p:extLst>
          </p:nvPr>
        </p:nvGraphicFramePr>
        <p:xfrm>
          <a:off x="1188852" y="1519417"/>
          <a:ext cx="2943761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38528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Mei Monte Carlo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52337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309972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Needs to run many random 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simulations</a:t>
                      </a:r>
                      <a:r>
                        <a:rPr lang="en-US" sz="2200" b="0" dirty="0"/>
                        <a:t> to model particles in a detector.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DCA200-A5C3-B54A-B978-6DD2A8664941}"/>
              </a:ext>
            </a:extLst>
          </p:cNvPr>
          <p:cNvSpPr txBox="1"/>
          <p:nvPr/>
        </p:nvSpPr>
        <p:spPr>
          <a:xfrm>
            <a:off x="6935990" y="6172373"/>
            <a:ext cx="4780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</a:t>
            </a:r>
            <a:r>
              <a:rPr lang="en-US" dirty="0">
                <a:hlinkClick r:id="rId3"/>
              </a:rPr>
              <a:t>The Carpentries Instructor Training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222985-33C0-AA49-9AA9-E6F85EF35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046089"/>
              </p:ext>
            </p:extLst>
          </p:nvPr>
        </p:nvGraphicFramePr>
        <p:xfrm>
          <a:off x="4624119" y="1519417"/>
          <a:ext cx="2943761" cy="4298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42751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Tamara Trials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Testing different design 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parameters</a:t>
                      </a:r>
                      <a:r>
                        <a:rPr lang="en-US" sz="2200" dirty="0"/>
                        <a:t> for designing clinical trials.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FEB2F2B-BD9E-1C47-B47A-0346ED0B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4255"/>
              </p:ext>
            </p:extLst>
          </p:nvPr>
        </p:nvGraphicFramePr>
        <p:xfrm>
          <a:off x="8059386" y="1519416"/>
          <a:ext cx="3074052" cy="4298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405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42751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Ben Bioinformatics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Applying a quality control / processing pipeline to 20 RNA 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</a:rPr>
                        <a:t>samples</a:t>
                      </a:r>
                      <a:r>
                        <a:rPr lang="en-US" sz="2200" dirty="0"/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471FFBF-6C93-B847-B650-0905B2E6C6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173" t="4618" r="6502" b="53832"/>
          <a:stretch/>
        </p:blipFill>
        <p:spPr>
          <a:xfrm>
            <a:off x="5287948" y="2208648"/>
            <a:ext cx="1616101" cy="16000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5B716F-0AC3-1948-9BC5-5B4A3A0318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49" t="4618" r="69125" b="53832"/>
          <a:stretch/>
        </p:blipFill>
        <p:spPr>
          <a:xfrm>
            <a:off x="8779919" y="2189251"/>
            <a:ext cx="1808866" cy="16000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67FA55-85B1-9245-B709-86127F9A77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228" t="4618" r="40572" b="53832"/>
          <a:stretch/>
        </p:blipFill>
        <p:spPr>
          <a:xfrm>
            <a:off x="1968846" y="2270433"/>
            <a:ext cx="1408488" cy="160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45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1755-1113-9C4D-AF14-24B21929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multiple jobs?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AB4DC-3266-7F47-AFE1-8338BD84B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0EBCCD-264B-A04B-8195-D628C8B5578E}"/>
              </a:ext>
            </a:extLst>
          </p:cNvPr>
          <p:cNvGraphicFramePr>
            <a:graphicFrameLocks noGrp="1"/>
          </p:cNvGraphicFramePr>
          <p:nvPr/>
        </p:nvGraphicFramePr>
        <p:xfrm>
          <a:off x="1188852" y="1519417"/>
          <a:ext cx="2943761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38528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Mei Monte Carlo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52337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30997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Needs to run many random simulations to model particles in a detector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DCA200-A5C3-B54A-B978-6DD2A8664941}"/>
              </a:ext>
            </a:extLst>
          </p:cNvPr>
          <p:cNvSpPr txBox="1"/>
          <p:nvPr/>
        </p:nvSpPr>
        <p:spPr>
          <a:xfrm>
            <a:off x="6935990" y="6172373"/>
            <a:ext cx="4780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</a:t>
            </a:r>
            <a:r>
              <a:rPr lang="en-US" dirty="0">
                <a:hlinkClick r:id="rId3"/>
              </a:rPr>
              <a:t>The Carpentries Instructor Training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222985-33C0-AA49-9AA9-E6F85EF3522C}"/>
              </a:ext>
            </a:extLst>
          </p:cNvPr>
          <p:cNvGraphicFramePr>
            <a:graphicFrameLocks noGrp="1"/>
          </p:cNvGraphicFramePr>
          <p:nvPr/>
        </p:nvGraphicFramePr>
        <p:xfrm>
          <a:off x="4624119" y="1519417"/>
          <a:ext cx="2943761" cy="4298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42751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Tamara Trials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Testing different design parameters for designing clinical trials.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FEB2F2B-BD9E-1C47-B47A-0346ED0B5FB9}"/>
              </a:ext>
            </a:extLst>
          </p:cNvPr>
          <p:cNvGraphicFramePr>
            <a:graphicFrameLocks noGrp="1"/>
          </p:cNvGraphicFramePr>
          <p:nvPr/>
        </p:nvGraphicFramePr>
        <p:xfrm>
          <a:off x="8059386" y="1519416"/>
          <a:ext cx="3074052" cy="4298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405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42751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Ben Bioinformatics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Applying a quality control / processing pipeline to 20 RNA samples.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471FFBF-6C93-B847-B650-0905B2E6C6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173" t="4618" r="6502" b="53832"/>
          <a:stretch/>
        </p:blipFill>
        <p:spPr>
          <a:xfrm>
            <a:off x="5287948" y="2208648"/>
            <a:ext cx="1616101" cy="16000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5B716F-0AC3-1948-9BC5-5B4A3A0318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49" t="4618" r="69125" b="53832"/>
          <a:stretch/>
        </p:blipFill>
        <p:spPr>
          <a:xfrm>
            <a:off x="8779919" y="2189251"/>
            <a:ext cx="1808866" cy="16000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67FA55-85B1-9245-B709-86127F9A77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228" t="4618" r="40572" b="53832"/>
          <a:stretch/>
        </p:blipFill>
        <p:spPr>
          <a:xfrm>
            <a:off x="1968846" y="2270433"/>
            <a:ext cx="1408488" cy="16000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921201-2C89-17AF-7A91-F0B4465A2DDA}"/>
              </a:ext>
            </a:extLst>
          </p:cNvPr>
          <p:cNvSpPr/>
          <p:nvPr/>
        </p:nvSpPr>
        <p:spPr bwMode="auto">
          <a:xfrm>
            <a:off x="827903" y="1371600"/>
            <a:ext cx="10577383" cy="44454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5C49-E36F-897B-F6BB-511123443A91}"/>
              </a:ext>
            </a:extLst>
          </p:cNvPr>
          <p:cNvSpPr/>
          <p:nvPr/>
        </p:nvSpPr>
        <p:spPr bwMode="auto">
          <a:xfrm>
            <a:off x="827902" y="1408669"/>
            <a:ext cx="11364097" cy="5133035"/>
          </a:xfrm>
          <a:prstGeom prst="rect">
            <a:avLst/>
          </a:prstGeom>
          <a:solidFill>
            <a:schemeClr val="bg1">
              <a:alpha val="83754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F8367-76CD-7479-4B28-52624C954371}"/>
              </a:ext>
            </a:extLst>
          </p:cNvPr>
          <p:cNvSpPr txBox="1"/>
          <p:nvPr/>
        </p:nvSpPr>
        <p:spPr>
          <a:xfrm>
            <a:off x="1954824" y="2886462"/>
            <a:ext cx="8450317" cy="1415772"/>
          </a:xfrm>
          <a:prstGeom prst="rect">
            <a:avLst/>
          </a:prstGeom>
          <a:solidFill>
            <a:srgbClr val="F1823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000" b="1" dirty="0"/>
              <a:t>When running many jobs we want to avoid: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starting each job manually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creating separate submit files for each job</a:t>
            </a:r>
          </a:p>
        </p:txBody>
      </p:sp>
    </p:spTree>
    <p:extLst>
      <p:ext uri="{BB962C8B-B14F-4D97-AF65-F5344CB8AC3E}">
        <p14:creationId xmlns:p14="http://schemas.microsoft.com/office/powerpoint/2010/main" val="2257160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8D275-B2FF-254D-B803-4B28A9803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jobs, one submit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0D227-953F-954C-990C-733AD1C49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4513"/>
            <a:ext cx="10515600" cy="108244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dirty="0" err="1"/>
              <a:t>HTCondor</a:t>
            </a:r>
            <a:r>
              <a:rPr lang="en-US" sz="3200" dirty="0"/>
              <a:t> has several built-in ways to submit </a:t>
            </a:r>
          </a:p>
          <a:p>
            <a:pPr marL="0" indent="0" algn="ctr">
              <a:buNone/>
            </a:pPr>
            <a:r>
              <a:rPr lang="en-US" sz="3200" dirty="0"/>
              <a:t>many independent jobs from one submit file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28549-AC4C-CA45-99A8-E9D450F5E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8</a:t>
            </a:fld>
            <a:endParaRPr lang="en-US"/>
          </a:p>
        </p:txBody>
      </p:sp>
      <p:sp>
        <p:nvSpPr>
          <p:cNvPr id="4" name="Explosion 2 3">
            <a:extLst>
              <a:ext uri="{FF2B5EF4-FFF2-40B4-BE49-F238E27FC236}">
                <a16:creationId xmlns:a16="http://schemas.microsoft.com/office/drawing/2014/main" id="{7EF955CF-7057-9E44-80D0-0CCAA6BE72A5}"/>
              </a:ext>
            </a:extLst>
          </p:cNvPr>
          <p:cNvSpPr/>
          <p:nvPr/>
        </p:nvSpPr>
        <p:spPr>
          <a:xfrm>
            <a:off x="3194462" y="1027906"/>
            <a:ext cx="6210795" cy="4110656"/>
          </a:xfrm>
          <a:prstGeom prst="irregularSeal2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32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to the rescue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10B6AC-96B3-B64A-81E4-E4E8B09592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582"/>
          <a:stretch/>
        </p:blipFill>
        <p:spPr>
          <a:xfrm>
            <a:off x="3833833" y="2215685"/>
            <a:ext cx="4932052" cy="117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1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D07F51C-BDE1-134A-8E9B-41F9309D55A3}"/>
              </a:ext>
            </a:extLst>
          </p:cNvPr>
          <p:cNvSpPr txBox="1"/>
          <p:nvPr/>
        </p:nvSpPr>
        <p:spPr>
          <a:xfrm>
            <a:off x="436700" y="2546919"/>
            <a:ext cx="11318599" cy="286232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</a:t>
            </a:r>
            <a:r>
              <a:rPr lang="en-US" sz="2000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./least_squares.py gapminder-life-expectancy.csv Brazil</a:t>
            </a:r>
          </a:p>
          <a:p>
            <a:pPr marL="457200" indent="-457200"/>
            <a:endParaRPr lang="en-US" sz="2000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  <a:endParaRPr lang="en-US" sz="2000" b="1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10F17-E528-8E49-9462-AB7B97C2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review: one job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ED77EA-F7B5-8948-B7E4-CD9FB0E933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EE887-63C5-7646-A75C-312DA97BB385}"/>
              </a:ext>
            </a:extLst>
          </p:cNvPr>
          <p:cNvSpPr txBox="1"/>
          <p:nvPr/>
        </p:nvSpPr>
        <p:spPr>
          <a:xfrm>
            <a:off x="8105149" y="1257300"/>
            <a:ext cx="387234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This is the command we want </a:t>
            </a:r>
            <a:r>
              <a:rPr lang="en-US" sz="2400" dirty="0" err="1"/>
              <a:t>HTCondor</a:t>
            </a:r>
            <a:r>
              <a:rPr lang="en-US" sz="2400" dirty="0"/>
              <a:t> to run.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AED174-7140-F847-AB21-60C8EB0E11CA}"/>
              </a:ext>
            </a:extLst>
          </p:cNvPr>
          <p:cNvCxnSpPr>
            <a:cxnSpLocks/>
          </p:cNvCxnSpPr>
          <p:nvPr/>
        </p:nvCxnSpPr>
        <p:spPr>
          <a:xfrm flipH="1">
            <a:off x="6955604" y="1874951"/>
            <a:ext cx="1149545" cy="6719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439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12E18AE-4062-BF0C-F23C-32E61E8F8647}"/>
              </a:ext>
            </a:extLst>
          </p:cNvPr>
          <p:cNvSpPr txBox="1"/>
          <p:nvPr/>
        </p:nvSpPr>
        <p:spPr>
          <a:xfrm>
            <a:off x="436700" y="2546919"/>
            <a:ext cx="11318599" cy="286232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sz="2000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least_squares.py, gapminder-life-expectancy.csv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  <a:endParaRPr lang="en-US" sz="2000" b="1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10F17-E528-8E49-9462-AB7B97C2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review: one job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02E3D00-08EE-4944-8BC4-AF3955416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708FE-AAB0-9A47-B5F5-29AF0C25D034}"/>
              </a:ext>
            </a:extLst>
          </p:cNvPr>
          <p:cNvSpPr txBox="1"/>
          <p:nvPr/>
        </p:nvSpPr>
        <p:spPr>
          <a:xfrm>
            <a:off x="7660760" y="4312277"/>
            <a:ext cx="387234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These are the files we need for the job to run.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249A53-038D-5740-8D6C-43330FA20D04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6291209" y="3619780"/>
            <a:ext cx="1369551" cy="110799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180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641446-4B9B-AC88-AD8A-4563D0493E0C}"/>
              </a:ext>
            </a:extLst>
          </p:cNvPr>
          <p:cNvSpPr txBox="1"/>
          <p:nvPr/>
        </p:nvSpPr>
        <p:spPr>
          <a:xfrm>
            <a:off x="436700" y="2546919"/>
            <a:ext cx="11318599" cy="286232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sz="2000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log/Brazil.log</a:t>
            </a: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outputs/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outputs/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  <a:endParaRPr lang="en-US" sz="2000" b="1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10F17-E528-8E49-9462-AB7B97C2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review: one job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A0C6E6-5F3B-DA4B-B163-139BD66CAC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D086C-18AE-AF4C-A15D-B3DA718045C4}"/>
              </a:ext>
            </a:extLst>
          </p:cNvPr>
          <p:cNvSpPr txBox="1"/>
          <p:nvPr/>
        </p:nvSpPr>
        <p:spPr>
          <a:xfrm>
            <a:off x="7465689" y="3742157"/>
            <a:ext cx="387234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These files track information about the job.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10605D-DCA2-904F-B9AC-04E0BA052AAD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726312" y="4157656"/>
            <a:ext cx="27393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893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038AD01-5E95-0343-ADC2-B1115565D5C0}"/>
              </a:ext>
            </a:extLst>
          </p:cNvPr>
          <p:cNvSpPr txBox="1"/>
          <p:nvPr/>
        </p:nvSpPr>
        <p:spPr>
          <a:xfrm>
            <a:off x="694065" y="2094680"/>
            <a:ext cx="10939136" cy="286232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sz="2000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10F17-E528-8E49-9462-AB7B97C2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review: one job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A0C6E6-5F3B-DA4B-B163-139BD66CAC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D086C-18AE-AF4C-A15D-B3DA718045C4}"/>
              </a:ext>
            </a:extLst>
          </p:cNvPr>
          <p:cNvSpPr txBox="1"/>
          <p:nvPr/>
        </p:nvSpPr>
        <p:spPr>
          <a:xfrm>
            <a:off x="4663873" y="4680003"/>
            <a:ext cx="4655973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The queue term tells </a:t>
            </a:r>
            <a:r>
              <a:rPr lang="en-US" sz="2400" dirty="0" err="1"/>
              <a:t>HTCondor</a:t>
            </a:r>
            <a:r>
              <a:rPr lang="en-US" sz="2400" dirty="0"/>
              <a:t> how many jobs to run.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10605D-DCA2-904F-B9AC-04E0BA052AAD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1726058" y="4818580"/>
            <a:ext cx="2937815" cy="2769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820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D3AA-42EC-6FB3-0A00-B28E980E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B3138-60B5-BF8F-9F54-FF9349DC4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06500"/>
            <a:ext cx="5181600" cy="4432299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I’m able to calculate the linear regression for one country.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What about the </a:t>
            </a:r>
            <a:r>
              <a:rPr lang="en-US" sz="3200" b="1" dirty="0"/>
              <a:t>same calculation</a:t>
            </a:r>
            <a:r>
              <a:rPr lang="en-US" sz="3200" dirty="0"/>
              <a:t> for a </a:t>
            </a:r>
            <a:r>
              <a:rPr lang="en-US" sz="3200" b="1" dirty="0"/>
              <a:t>list</a:t>
            </a:r>
            <a:r>
              <a:rPr lang="en-US" sz="3200" dirty="0"/>
              <a:t> of countries?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0E450-9185-5955-B9C1-CCEC2EBCC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17453E7B-9CCA-414C-B2F2-015CC61AB179}"/>
              </a:ext>
            </a:extLst>
          </p:cNvPr>
          <p:cNvGraphicFramePr>
            <a:graphicFrameLocks/>
          </p:cNvGraphicFramePr>
          <p:nvPr/>
        </p:nvGraphicFramePr>
        <p:xfrm>
          <a:off x="6502400" y="1764923"/>
          <a:ext cx="5399397" cy="4025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57E0461B-357B-858B-BFD4-249555DB3B47}"/>
              </a:ext>
            </a:extLst>
          </p:cNvPr>
          <p:cNvSpPr txBox="1"/>
          <p:nvPr/>
        </p:nvSpPr>
        <p:spPr>
          <a:xfrm>
            <a:off x="7620000" y="2493619"/>
            <a:ext cx="1930400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chemeClr val="accent1"/>
                </a:solidFill>
              </a:rPr>
              <a:t>?</a:t>
            </a:r>
          </a:p>
          <a:p>
            <a:pPr algn="ctr"/>
            <a:r>
              <a:rPr lang="en-US" sz="2667" b="1" dirty="0">
                <a:solidFill>
                  <a:schemeClr val="accent1"/>
                </a:solidFill>
              </a:rPr>
              <a:t>y = mx + b</a:t>
            </a:r>
          </a:p>
        </p:txBody>
      </p:sp>
    </p:spTree>
    <p:extLst>
      <p:ext uri="{BB962C8B-B14F-4D97-AF65-F5344CB8AC3E}">
        <p14:creationId xmlns:p14="http://schemas.microsoft.com/office/powerpoint/2010/main" val="4014797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CA5-821B-FA74-CFC8-07B8D3E17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 Multiple Jobs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1F2A1D-9EA2-12AA-11D8-1636B318A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534C7-9D62-09EA-344B-CC8A7DBAAF5D}"/>
              </a:ext>
            </a:extLst>
          </p:cNvPr>
          <p:cNvSpPr txBox="1"/>
          <p:nvPr/>
        </p:nvSpPr>
        <p:spPr>
          <a:xfrm>
            <a:off x="984739" y="1465385"/>
            <a:ext cx="980049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200057"/>
                </a:solidFill>
              </a:rPr>
              <a:t>When submitting multiple jobs using one submit file, it is helpful to start by thinking about: </a:t>
            </a:r>
          </a:p>
          <a:p>
            <a:endParaRPr lang="en-US" sz="2800" dirty="0">
              <a:solidFill>
                <a:srgbClr val="200057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200057"/>
                </a:solidFill>
              </a:rPr>
              <a:t>What is </a:t>
            </a:r>
            <a:r>
              <a:rPr lang="en-US" sz="2800" b="1" i="1" dirty="0">
                <a:solidFill>
                  <a:srgbClr val="200057"/>
                </a:solidFill>
              </a:rPr>
              <a:t>constant</a:t>
            </a:r>
            <a:r>
              <a:rPr lang="en-US" sz="2800" dirty="0">
                <a:solidFill>
                  <a:srgbClr val="200057"/>
                </a:solidFill>
              </a:rPr>
              <a:t> across all jobs?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200057"/>
                </a:solidFill>
              </a:rPr>
              <a:t>What is </a:t>
            </a:r>
            <a:r>
              <a:rPr lang="en-US" sz="2800" b="1" i="1" dirty="0">
                <a:solidFill>
                  <a:srgbClr val="200057"/>
                </a:solidFill>
              </a:rPr>
              <a:t>changing</a:t>
            </a:r>
            <a:r>
              <a:rPr lang="en-US" sz="2800" dirty="0">
                <a:solidFill>
                  <a:srgbClr val="200057"/>
                </a:solidFill>
              </a:rPr>
              <a:t> from job to job? </a:t>
            </a:r>
          </a:p>
          <a:p>
            <a:endParaRPr lang="en-US" sz="2800" dirty="0">
              <a:solidFill>
                <a:srgbClr val="200057"/>
              </a:solidFill>
            </a:endParaRPr>
          </a:p>
          <a:p>
            <a:r>
              <a:rPr lang="en-US" sz="2800" dirty="0">
                <a:solidFill>
                  <a:srgbClr val="200057"/>
                </a:solidFill>
              </a:rPr>
              <a:t>In our example:</a:t>
            </a:r>
          </a:p>
          <a:p>
            <a:pPr lvl="1"/>
            <a:r>
              <a:rPr lang="en-US" sz="2800" b="1" dirty="0">
                <a:solidFill>
                  <a:srgbClr val="200057"/>
                </a:solidFill>
              </a:rPr>
              <a:t>Constants</a:t>
            </a:r>
            <a:endParaRPr lang="en-US" sz="2800" dirty="0">
              <a:solidFill>
                <a:srgbClr val="200057"/>
              </a:solidFill>
            </a:endParaRPr>
          </a:p>
          <a:p>
            <a:pPr lvl="2"/>
            <a:r>
              <a:rPr lang="en-US" sz="2800" dirty="0">
                <a:solidFill>
                  <a:srgbClr val="200057"/>
                </a:solidFill>
              </a:rPr>
              <a:t>Script, data, software</a:t>
            </a:r>
          </a:p>
          <a:p>
            <a:pPr lvl="1"/>
            <a:r>
              <a:rPr lang="en-US" sz="2800" b="1" dirty="0">
                <a:solidFill>
                  <a:srgbClr val="200057"/>
                </a:solidFill>
              </a:rPr>
              <a:t>Changing</a:t>
            </a:r>
          </a:p>
          <a:p>
            <a:pPr lvl="2"/>
            <a:r>
              <a:rPr lang="en-US" sz="2800" dirty="0">
                <a:solidFill>
                  <a:srgbClr val="200057"/>
                </a:solidFill>
              </a:rPr>
              <a:t>Country to analyze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1218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CA5-821B-FA74-CFC8-07B8D3E17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 Multiple Jobs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1F2A1D-9EA2-12AA-11D8-1636B318A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534C7-9D62-09EA-344B-CC8A7DBAAF5D}"/>
              </a:ext>
            </a:extLst>
          </p:cNvPr>
          <p:cNvSpPr txBox="1"/>
          <p:nvPr/>
        </p:nvSpPr>
        <p:spPr>
          <a:xfrm>
            <a:off x="984739" y="1465385"/>
            <a:ext cx="98004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200057"/>
                </a:solidFill>
              </a:rPr>
              <a:t>When submitting multiple jobs using one submit file, it is helpful to start by thinking about: </a:t>
            </a:r>
          </a:p>
          <a:p>
            <a:endParaRPr lang="en-US" sz="2800" dirty="0">
              <a:solidFill>
                <a:srgbClr val="200057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200057"/>
                </a:solidFill>
              </a:rPr>
              <a:t>What is </a:t>
            </a:r>
            <a:r>
              <a:rPr lang="en-US" sz="2800" b="1" i="1" dirty="0">
                <a:solidFill>
                  <a:srgbClr val="200057"/>
                </a:solidFill>
              </a:rPr>
              <a:t>constant</a:t>
            </a:r>
            <a:r>
              <a:rPr lang="en-US" sz="2800" dirty="0">
                <a:solidFill>
                  <a:srgbClr val="200057"/>
                </a:solidFill>
              </a:rPr>
              <a:t> across all jobs?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200057"/>
                </a:solidFill>
              </a:rPr>
              <a:t>What is </a:t>
            </a:r>
            <a:r>
              <a:rPr lang="en-US" sz="2800" b="1" i="1" dirty="0">
                <a:solidFill>
                  <a:srgbClr val="200057"/>
                </a:solidFill>
              </a:rPr>
              <a:t>changing</a:t>
            </a:r>
            <a:r>
              <a:rPr lang="en-US" sz="2800" dirty="0">
                <a:solidFill>
                  <a:srgbClr val="200057"/>
                </a:solidFill>
              </a:rPr>
              <a:t> from job to job?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rgbClr val="200057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solidFill>
                <a:srgbClr val="200057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solidFill>
                <a:srgbClr val="200057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solidFill>
                <a:srgbClr val="20005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E00B9C-C530-D72C-CD01-40D8470B35C6}"/>
              </a:ext>
            </a:extLst>
          </p:cNvPr>
          <p:cNvSpPr txBox="1"/>
          <p:nvPr/>
        </p:nvSpPr>
        <p:spPr>
          <a:xfrm>
            <a:off x="1783699" y="4069176"/>
            <a:ext cx="8971737" cy="1323439"/>
          </a:xfrm>
          <a:prstGeom prst="rect">
            <a:avLst/>
          </a:prstGeom>
          <a:solidFill>
            <a:srgbClr val="F9863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r>
              <a:rPr lang="en-US" sz="2800" dirty="0"/>
              <a:t>When editing the submit file, </a:t>
            </a:r>
          </a:p>
          <a:p>
            <a:pPr algn="ctr"/>
            <a:r>
              <a:rPr lang="en-US" sz="2800" dirty="0"/>
              <a:t>it is helpful to start by editing the </a:t>
            </a:r>
            <a:r>
              <a:rPr lang="en-US" sz="2800" b="1" dirty="0"/>
              <a:t>queue </a:t>
            </a:r>
            <a:r>
              <a:rPr lang="en-US" sz="2800" dirty="0"/>
              <a:t>statement. </a:t>
            </a:r>
          </a:p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61532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14A5-ED73-7E4B-9337-6CDF85C0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and 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  <a:r>
              <a:rPr lang="en-US" dirty="0"/>
              <a:t> options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C332901-6647-8F4A-9874-D89F7C0F10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5939686"/>
              </p:ext>
            </p:extLst>
          </p:nvPr>
        </p:nvGraphicFramePr>
        <p:xfrm>
          <a:off x="543697" y="1457070"/>
          <a:ext cx="11087745" cy="424234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4199903">
                  <a:extLst>
                    <a:ext uri="{9D8B030D-6E8A-4147-A177-3AD203B41FA5}">
                      <a16:colId xmlns:a16="http://schemas.microsoft.com/office/drawing/2014/main" val="1422036205"/>
                    </a:ext>
                  </a:extLst>
                </a:gridCol>
                <a:gridCol w="3706350">
                  <a:extLst>
                    <a:ext uri="{9D8B030D-6E8A-4147-A177-3AD203B41FA5}">
                      <a16:colId xmlns:a16="http://schemas.microsoft.com/office/drawing/2014/main" val="3023267978"/>
                    </a:ext>
                  </a:extLst>
                </a:gridCol>
                <a:gridCol w="3181492">
                  <a:extLst>
                    <a:ext uri="{9D8B030D-6E8A-4147-A177-3AD203B41FA5}">
                      <a16:colId xmlns:a16="http://schemas.microsoft.com/office/drawing/2014/main" val="767554156"/>
                    </a:ext>
                  </a:extLst>
                </a:gridCol>
              </a:tblGrid>
              <a:tr h="598671">
                <a:tc>
                  <a:txBody>
                    <a:bodyPr/>
                    <a:lstStyle/>
                    <a:p>
                      <a:r>
                        <a:rPr lang="en-US" sz="2400" dirty="0"/>
                        <a:t>Syntax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8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8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Variable Name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8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315372"/>
                  </a:ext>
                </a:extLst>
              </a:tr>
              <a:tr h="598671">
                <a:tc>
                  <a:txBody>
                    <a:bodyPr/>
                    <a:lstStyle/>
                    <a:p>
                      <a:r>
                        <a:rPr lang="en-US" sz="2400" dirty="0"/>
                        <a:t>queue </a:t>
                      </a:r>
                      <a:r>
                        <a:rPr lang="en-US" sz="2400" b="1" i="1" dirty="0"/>
                        <a:t>N</a:t>
                      </a:r>
                      <a:endParaRPr lang="en-US" sz="2400" b="1" i="1" dirty="0"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Integers: 0 through N-1</a:t>
                      </a:r>
                      <a:endParaRPr lang="en-US" sz="2400" i="1" dirty="0"/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$(Process)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81069443"/>
                  </a:ext>
                </a:extLst>
              </a:tr>
              <a:tr h="1033322">
                <a:tc>
                  <a:txBody>
                    <a:bodyPr/>
                    <a:lstStyle/>
                    <a:p>
                      <a:r>
                        <a:rPr lang="en-US" sz="2400" dirty="0"/>
                        <a:t>queue 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 </a:t>
                      </a:r>
                      <a:r>
                        <a:rPr lang="en-US" sz="2400" b="1" dirty="0"/>
                        <a:t>matching</a:t>
                      </a:r>
                      <a:r>
                        <a:rPr lang="en-US" sz="2400" dirty="0"/>
                        <a:t> </a:t>
                      </a:r>
                      <a:r>
                        <a:rPr lang="en-US" sz="2400" i="1" dirty="0"/>
                        <a:t>pattern*</a:t>
                      </a:r>
                      <a:endParaRPr lang="en-US" sz="2400" i="1" dirty="0"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 that match the wildcard pattern.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endParaRPr lang="en-US" sz="2400" dirty="0"/>
                    </a:p>
                    <a:p>
                      <a:r>
                        <a:rPr lang="en-US" sz="2400" dirty="0"/>
                        <a:t>$(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) </a:t>
                      </a:r>
                    </a:p>
                    <a:p>
                      <a:endParaRPr lang="en-US" sz="2400" dirty="0"/>
                    </a:p>
                    <a:p>
                      <a:r>
                        <a:rPr lang="en-US" sz="2400" dirty="0"/>
                        <a:t>If no variable name is provided, default is $(Item)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610924"/>
                  </a:ext>
                </a:extLst>
              </a:tr>
              <a:tr h="598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queue 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 </a:t>
                      </a:r>
                      <a:r>
                        <a:rPr lang="en-US" sz="2400" b="1" dirty="0"/>
                        <a:t>in</a:t>
                      </a:r>
                      <a:r>
                        <a:rPr lang="en-US" sz="2400" dirty="0"/>
                        <a:t> (</a:t>
                      </a:r>
                      <a:r>
                        <a:rPr lang="en-US" sz="2400" i="1" dirty="0"/>
                        <a:t>item1</a:t>
                      </a:r>
                      <a:r>
                        <a:rPr lang="en-US" sz="2400" dirty="0"/>
                        <a:t> </a:t>
                      </a:r>
                      <a:r>
                        <a:rPr lang="en-US" sz="2400" i="1" dirty="0"/>
                        <a:t>item2</a:t>
                      </a:r>
                      <a:r>
                        <a:rPr lang="en-US" sz="2400" dirty="0"/>
                        <a:t> …)</a:t>
                      </a:r>
                      <a:endParaRPr lang="en-US" sz="2400" i="1" dirty="0"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 within parentheses. 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004500"/>
                  </a:ext>
                </a:extLst>
              </a:tr>
              <a:tr h="1033322">
                <a:tc>
                  <a:txBody>
                    <a:bodyPr/>
                    <a:lstStyle/>
                    <a:p>
                      <a:r>
                        <a:rPr lang="en-US" sz="2400" dirty="0"/>
                        <a:t>queue 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 </a:t>
                      </a:r>
                      <a:r>
                        <a:rPr lang="en-US" sz="2400" b="1" dirty="0"/>
                        <a:t>from</a:t>
                      </a:r>
                      <a:r>
                        <a:rPr lang="en-US" sz="2400" dirty="0"/>
                        <a:t> </a:t>
                      </a:r>
                      <a:r>
                        <a:rPr lang="en-US" sz="2400" i="1" dirty="0"/>
                        <a:t>list</a:t>
                      </a:r>
                      <a:endParaRPr lang="en-US" sz="2400" i="1" dirty="0"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 from </a:t>
                      </a:r>
                      <a:r>
                        <a:rPr lang="en-US" sz="2400" i="1" dirty="0"/>
                        <a:t>list</a:t>
                      </a:r>
                      <a:r>
                        <a:rPr lang="en-US" sz="2400" dirty="0"/>
                        <a:t>, where each value is on its own line. 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828253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71844D-F932-AA45-B313-16EB0CD1D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37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14A5-ED73-7E4B-9337-6CDF85C0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and </a:t>
            </a:r>
            <a:r>
              <a:rPr lang="en-US" dirty="0">
                <a:latin typeface="Courier" pitchFamily="2" charset="0"/>
              </a:rPr>
              <a:t>queue</a:t>
            </a:r>
            <a:r>
              <a:rPr lang="en-US" dirty="0"/>
              <a:t> options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C332901-6647-8F4A-9874-D89F7C0F10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880435"/>
              </p:ext>
            </p:extLst>
          </p:nvPr>
        </p:nvGraphicFramePr>
        <p:xfrm>
          <a:off x="543697" y="1457070"/>
          <a:ext cx="11087745" cy="424234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4199903">
                  <a:extLst>
                    <a:ext uri="{9D8B030D-6E8A-4147-A177-3AD203B41FA5}">
                      <a16:colId xmlns:a16="http://schemas.microsoft.com/office/drawing/2014/main" val="1422036205"/>
                    </a:ext>
                  </a:extLst>
                </a:gridCol>
                <a:gridCol w="3706350">
                  <a:extLst>
                    <a:ext uri="{9D8B030D-6E8A-4147-A177-3AD203B41FA5}">
                      <a16:colId xmlns:a16="http://schemas.microsoft.com/office/drawing/2014/main" val="3023267978"/>
                    </a:ext>
                  </a:extLst>
                </a:gridCol>
                <a:gridCol w="3181492">
                  <a:extLst>
                    <a:ext uri="{9D8B030D-6E8A-4147-A177-3AD203B41FA5}">
                      <a16:colId xmlns:a16="http://schemas.microsoft.com/office/drawing/2014/main" val="767554156"/>
                    </a:ext>
                  </a:extLst>
                </a:gridCol>
              </a:tblGrid>
              <a:tr h="598671">
                <a:tc>
                  <a:txBody>
                    <a:bodyPr/>
                    <a:lstStyle/>
                    <a:p>
                      <a:r>
                        <a:rPr lang="en-US" sz="2400" dirty="0"/>
                        <a:t>Syntax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8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8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Variable Name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8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315372"/>
                  </a:ext>
                </a:extLst>
              </a:tr>
              <a:tr h="59867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queue </a:t>
                      </a:r>
                      <a:r>
                        <a:rPr lang="en-US" sz="2400" b="1" i="1" dirty="0">
                          <a:solidFill>
                            <a:srgbClr val="FF0000"/>
                          </a:solidFill>
                        </a:rPr>
                        <a:t>N</a:t>
                      </a:r>
                      <a:endParaRPr lang="en-US" sz="2400" b="1" i="1" dirty="0">
                        <a:solidFill>
                          <a:srgbClr val="FF0000"/>
                        </a:solidFill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Integers: 0 through N-1</a:t>
                      </a:r>
                      <a:endParaRPr lang="en-US" sz="2400" i="1" dirty="0"/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$(Process)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81069443"/>
                  </a:ext>
                </a:extLst>
              </a:tr>
              <a:tr h="1033322">
                <a:tc>
                  <a:txBody>
                    <a:bodyPr/>
                    <a:lstStyle/>
                    <a:p>
                      <a:r>
                        <a:rPr lang="en-US" sz="2400" dirty="0"/>
                        <a:t>queue 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 </a:t>
                      </a:r>
                      <a:r>
                        <a:rPr lang="en-US" sz="2400" b="1" dirty="0"/>
                        <a:t>matching</a:t>
                      </a:r>
                      <a:r>
                        <a:rPr lang="en-US" sz="2400" dirty="0"/>
                        <a:t> </a:t>
                      </a:r>
                      <a:r>
                        <a:rPr lang="en-US" sz="2400" i="1" dirty="0"/>
                        <a:t>pattern*</a:t>
                      </a:r>
                      <a:endParaRPr lang="en-US" sz="2400" i="1" dirty="0"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 that match the wildcard pattern.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endParaRPr lang="en-US" sz="2400" dirty="0"/>
                    </a:p>
                    <a:p>
                      <a:r>
                        <a:rPr lang="en-US" sz="2400" dirty="0"/>
                        <a:t>$(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) </a:t>
                      </a:r>
                    </a:p>
                    <a:p>
                      <a:endParaRPr lang="en-US" sz="2400" dirty="0"/>
                    </a:p>
                    <a:p>
                      <a:r>
                        <a:rPr lang="en-US" sz="2400" dirty="0"/>
                        <a:t>If no variable name is provided, default is $(Item)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610924"/>
                  </a:ext>
                </a:extLst>
              </a:tr>
              <a:tr h="598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queue 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 </a:t>
                      </a:r>
                      <a:r>
                        <a:rPr lang="en-US" sz="2400" b="1" dirty="0"/>
                        <a:t>in</a:t>
                      </a:r>
                      <a:r>
                        <a:rPr lang="en-US" sz="2400" dirty="0"/>
                        <a:t> (</a:t>
                      </a:r>
                      <a:r>
                        <a:rPr lang="en-US" sz="2400" i="1" dirty="0"/>
                        <a:t>item1</a:t>
                      </a:r>
                      <a:r>
                        <a:rPr lang="en-US" sz="2400" dirty="0"/>
                        <a:t> </a:t>
                      </a:r>
                      <a:r>
                        <a:rPr lang="en-US" sz="2400" i="1" dirty="0"/>
                        <a:t>item2</a:t>
                      </a:r>
                      <a:r>
                        <a:rPr lang="en-US" sz="2400" dirty="0"/>
                        <a:t> …)</a:t>
                      </a:r>
                      <a:endParaRPr lang="en-US" sz="2400" i="1" dirty="0"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 within parentheses. 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004500"/>
                  </a:ext>
                </a:extLst>
              </a:tr>
              <a:tr h="1033322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queue </a:t>
                      </a:r>
                      <a:r>
                        <a:rPr lang="en-US" sz="2400" i="1" dirty="0">
                          <a:solidFill>
                            <a:srgbClr val="FF0000"/>
                          </a:solidFill>
                        </a:rPr>
                        <a:t>Var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from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400" i="1" dirty="0">
                          <a:solidFill>
                            <a:srgbClr val="FF0000"/>
                          </a:solidFill>
                        </a:rPr>
                        <a:t>list</a:t>
                      </a:r>
                      <a:endParaRPr lang="en-US" sz="2400" i="1" dirty="0">
                        <a:solidFill>
                          <a:srgbClr val="FF0000"/>
                        </a:solidFill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 from </a:t>
                      </a:r>
                      <a:r>
                        <a:rPr lang="en-US" sz="2400" i="1" dirty="0"/>
                        <a:t>list</a:t>
                      </a:r>
                      <a:r>
                        <a:rPr lang="en-US" sz="2400" dirty="0"/>
                        <a:t>, where each value is on its own line. 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828253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71844D-F932-AA45-B313-16EB0CD1D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17</a:t>
            </a:fld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EC9700BB-65A3-C8A3-83A5-84842B9E2AAF}"/>
              </a:ext>
            </a:extLst>
          </p:cNvPr>
          <p:cNvSpPr/>
          <p:nvPr/>
        </p:nvSpPr>
        <p:spPr bwMode="auto">
          <a:xfrm>
            <a:off x="58616" y="2086708"/>
            <a:ext cx="449912" cy="375139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901B0CE8-DD03-0DA2-3881-B0722F409625}"/>
              </a:ext>
            </a:extLst>
          </p:cNvPr>
          <p:cNvSpPr/>
          <p:nvPr/>
        </p:nvSpPr>
        <p:spPr bwMode="auto">
          <a:xfrm>
            <a:off x="58616" y="4560277"/>
            <a:ext cx="449912" cy="375139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971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2C1FA2-00F7-9970-DEC0-33DB44B26A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400800"/>
            <a:ext cx="558800" cy="457200"/>
          </a:xfrm>
        </p:spPr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37520F-6C21-9705-ECA3-A349E3879846}"/>
              </a:ext>
            </a:extLst>
          </p:cNvPr>
          <p:cNvSpPr txBox="1">
            <a:spLocks/>
          </p:cNvSpPr>
          <p:nvPr/>
        </p:nvSpPr>
        <p:spPr bwMode="auto">
          <a:xfrm>
            <a:off x="819151" y="937845"/>
            <a:ext cx="10553698" cy="499403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/>
                <a:ea typeface="+mj-ea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609445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6pPr>
            <a:lvl7pPr marL="1218886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7pPr>
            <a:lvl8pPr marL="1828330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8pPr>
            <a:lvl9pPr marL="2437772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kern="0" dirty="0"/>
              <a:t>Example 1:</a:t>
            </a:r>
            <a:br>
              <a:rPr lang="en-US" kern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kern="0" dirty="0">
                <a:latin typeface="Consolas" panose="020B0609020204030204" pitchFamily="49" charset="0"/>
                <a:cs typeface="Consolas" panose="020B0609020204030204" pitchFamily="49" charset="0"/>
              </a:rPr>
              <a:t>Queue </a:t>
            </a:r>
            <a:r>
              <a:rPr lang="en-US" i="1" kern="0" dirty="0">
                <a:latin typeface="Consolas" panose="020B0609020204030204" pitchFamily="49" charset="0"/>
                <a:cs typeface="Consolas" panose="020B0609020204030204" pitchFamily="49" charset="0"/>
              </a:rPr>
              <a:t>variable</a:t>
            </a:r>
            <a:r>
              <a:rPr lang="en-US" kern="0" dirty="0">
                <a:latin typeface="Consolas" panose="020B0609020204030204" pitchFamily="49" charset="0"/>
                <a:cs typeface="Consolas" panose="020B0609020204030204" pitchFamily="49" charset="0"/>
              </a:rPr>
              <a:t> from </a:t>
            </a:r>
            <a:r>
              <a:rPr lang="en-US" i="1" kern="0" dirty="0"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</a:p>
          <a:p>
            <a:endParaRPr lang="en-US" b="0" kern="0" dirty="0"/>
          </a:p>
        </p:txBody>
      </p:sp>
    </p:spTree>
    <p:extLst>
      <p:ext uri="{BB962C8B-B14F-4D97-AF65-F5344CB8AC3E}">
        <p14:creationId xmlns:p14="http://schemas.microsoft.com/office/powerpoint/2010/main" val="4239855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455C-3DDA-A747-A12C-B14D7807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375" y="114300"/>
            <a:ext cx="10553698" cy="1143000"/>
          </a:xfrm>
        </p:spPr>
        <p:txBody>
          <a:bodyPr/>
          <a:lstStyle/>
          <a:p>
            <a:pPr algn="l"/>
            <a:r>
              <a:rPr lang="en-US" sz="4400" dirty="0"/>
              <a:t>Example 1</a:t>
            </a:r>
            <a:endParaRPr lang="en-US" sz="4400" dirty="0">
              <a:latin typeface="Courier" pitchFamily="2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A89C7E-7F6F-5D40-AFDB-CBAA7F0866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19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3CC0A0A-5353-86BA-A572-1CDBA7817BF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14400" y="4024901"/>
            <a:ext cx="10363200" cy="400089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 ./least_squares.py gapminder-life-expectancy.csv Brazil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C8A4086-AA68-7796-954B-63A1505F2A61}"/>
              </a:ext>
            </a:extLst>
          </p:cNvPr>
          <p:cNvSpPr txBox="1">
            <a:spLocks/>
          </p:cNvSpPr>
          <p:nvPr/>
        </p:nvSpPr>
        <p:spPr bwMode="auto">
          <a:xfrm>
            <a:off x="914400" y="4620802"/>
            <a:ext cx="10363200" cy="400089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rtlCol="0" anchor="t" anchorCtr="0" compatLnSpc="1">
            <a:prstTxWarp prst="textNoShape">
              <a:avLst/>
            </a:prstTxWarp>
            <a:spAutoFit/>
          </a:bodyPr>
          <a:lstStyle>
            <a:lvl1pPr marL="457083" indent="-45708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426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90345" indent="-38090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3733">
                <a:solidFill>
                  <a:schemeClr val="tx2"/>
                </a:solidFill>
                <a:latin typeface="+mn-lt"/>
                <a:ea typeface="+mn-ea"/>
              </a:defRPr>
            </a:lvl2pPr>
            <a:lvl3pPr marL="1523609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3200">
                <a:solidFill>
                  <a:schemeClr val="tx2"/>
                </a:solidFill>
                <a:latin typeface="+mn-lt"/>
                <a:ea typeface="+mn-ea"/>
              </a:defRPr>
            </a:lvl3pPr>
            <a:lvl4pPr marL="2133052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4pPr>
            <a:lvl5pPr marL="2742494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5pPr>
            <a:lvl6pPr marL="3351939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6pPr>
            <a:lvl7pPr marL="3961381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7pPr>
            <a:lvl8pPr marL="4570824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8pPr>
            <a:lvl9pPr marL="5180268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2000" kern="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 ./least_squares.py gapminder-life-expectancy.csv Chile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7B5D5291-D4A1-FE24-E528-F1B508BF1110}"/>
              </a:ext>
            </a:extLst>
          </p:cNvPr>
          <p:cNvSpPr txBox="1">
            <a:spLocks/>
          </p:cNvSpPr>
          <p:nvPr/>
        </p:nvSpPr>
        <p:spPr bwMode="auto">
          <a:xfrm>
            <a:off x="914400" y="3429000"/>
            <a:ext cx="10363200" cy="400089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rtlCol="0" anchor="t" anchorCtr="0" compatLnSpc="1">
            <a:prstTxWarp prst="textNoShape">
              <a:avLst/>
            </a:prstTxWarp>
            <a:spAutoFit/>
          </a:bodyPr>
          <a:lstStyle>
            <a:lvl1pPr marL="457083" indent="-45708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426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90345" indent="-38090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3733">
                <a:solidFill>
                  <a:schemeClr val="tx2"/>
                </a:solidFill>
                <a:latin typeface="+mn-lt"/>
                <a:ea typeface="+mn-ea"/>
              </a:defRPr>
            </a:lvl2pPr>
            <a:lvl3pPr marL="1523609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3200">
                <a:solidFill>
                  <a:schemeClr val="tx2"/>
                </a:solidFill>
                <a:latin typeface="+mn-lt"/>
                <a:ea typeface="+mn-ea"/>
              </a:defRPr>
            </a:lvl3pPr>
            <a:lvl4pPr marL="2133052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4pPr>
            <a:lvl5pPr marL="2742494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5pPr>
            <a:lvl6pPr marL="3351939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6pPr>
            <a:lvl7pPr marL="3961381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7pPr>
            <a:lvl8pPr marL="4570824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8pPr>
            <a:lvl9pPr marL="5180268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2000" kern="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 ./least_squares.py gapminder-life-expectancy.csv Argentina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0579A15-5726-8C4D-C6C3-CE9595565156}"/>
              </a:ext>
            </a:extLst>
          </p:cNvPr>
          <p:cNvSpPr txBox="1">
            <a:spLocks/>
          </p:cNvSpPr>
          <p:nvPr/>
        </p:nvSpPr>
        <p:spPr bwMode="auto">
          <a:xfrm>
            <a:off x="814530" y="1453375"/>
            <a:ext cx="9552709" cy="177981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>
            <a:lvl1pPr marL="457083" indent="-45708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426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90345" indent="-38090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3733">
                <a:solidFill>
                  <a:schemeClr val="tx2"/>
                </a:solidFill>
                <a:latin typeface="+mn-lt"/>
                <a:ea typeface="+mn-ea"/>
              </a:defRPr>
            </a:lvl2pPr>
            <a:lvl3pPr marL="1523609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3200">
                <a:solidFill>
                  <a:schemeClr val="tx2"/>
                </a:solidFill>
                <a:latin typeface="+mn-lt"/>
                <a:ea typeface="+mn-ea"/>
              </a:defRPr>
            </a:lvl3pPr>
            <a:lvl4pPr marL="2133052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4pPr>
            <a:lvl5pPr marL="2742494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5pPr>
            <a:lvl6pPr marL="3351939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6pPr>
            <a:lvl7pPr marL="3961381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7pPr>
            <a:lvl8pPr marL="4570824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8pPr>
            <a:lvl9pPr marL="5180268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2800" kern="0" dirty="0"/>
              <a:t>Let’s run the same calculation for a short list of countries.</a:t>
            </a:r>
          </a:p>
          <a:p>
            <a:pPr marL="0" indent="0">
              <a:buFont typeface="Times" charset="0"/>
              <a:buNone/>
            </a:pPr>
            <a:endParaRPr lang="en-US" sz="2800" kern="0" dirty="0"/>
          </a:p>
          <a:p>
            <a:pPr marL="0" indent="0">
              <a:buFont typeface="Times" charset="0"/>
              <a:buNone/>
            </a:pPr>
            <a:r>
              <a:rPr lang="en-US" sz="2800" kern="0" dirty="0"/>
              <a:t>It might look like this if you were doing this on your laptop: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805B4CA4-7797-3BA7-1CAC-76255CE3519F}"/>
              </a:ext>
            </a:extLst>
          </p:cNvPr>
          <p:cNvSpPr txBox="1">
            <a:spLocks/>
          </p:cNvSpPr>
          <p:nvPr/>
        </p:nvSpPr>
        <p:spPr bwMode="auto">
          <a:xfrm>
            <a:off x="814529" y="5404624"/>
            <a:ext cx="10682253" cy="99617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>
            <a:lvl1pPr marL="457083" indent="-45708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426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90345" indent="-38090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3733">
                <a:solidFill>
                  <a:schemeClr val="tx2"/>
                </a:solidFill>
                <a:latin typeface="+mn-lt"/>
                <a:ea typeface="+mn-ea"/>
              </a:defRPr>
            </a:lvl2pPr>
            <a:lvl3pPr marL="1523609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3200">
                <a:solidFill>
                  <a:schemeClr val="tx2"/>
                </a:solidFill>
                <a:latin typeface="+mn-lt"/>
                <a:ea typeface="+mn-ea"/>
              </a:defRPr>
            </a:lvl3pPr>
            <a:lvl4pPr marL="2133052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4pPr>
            <a:lvl5pPr marL="2742494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5pPr>
            <a:lvl6pPr marL="3351939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6pPr>
            <a:lvl7pPr marL="3961381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7pPr>
            <a:lvl8pPr marL="4570824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8pPr>
            <a:lvl9pPr marL="5180268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2800" kern="0" dirty="0"/>
              <a:t>You could write a “for” loop to go through this list. </a:t>
            </a:r>
            <a:r>
              <a:rPr lang="en-US" sz="2800" kern="0" dirty="0" err="1"/>
              <a:t>HTCondor</a:t>
            </a:r>
            <a:r>
              <a:rPr lang="en-US" sz="2800" kern="0" dirty="0"/>
              <a:t> can loop through a list!</a:t>
            </a:r>
          </a:p>
        </p:txBody>
      </p:sp>
    </p:spTree>
    <p:extLst>
      <p:ext uri="{BB962C8B-B14F-4D97-AF65-F5344CB8AC3E}">
        <p14:creationId xmlns:p14="http://schemas.microsoft.com/office/powerpoint/2010/main" val="36707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455C-3DDA-A747-A12C-B14D7807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639" y="116080"/>
            <a:ext cx="10322562" cy="1143000"/>
          </a:xfrm>
        </p:spPr>
        <p:txBody>
          <a:bodyPr/>
          <a:lstStyle/>
          <a:p>
            <a:r>
              <a:rPr lang="en-US" sz="3700" dirty="0"/>
              <a:t>Provide a list of values with </a:t>
            </a:r>
            <a:r>
              <a:rPr lang="en-US" sz="3700" b="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… from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5FB41-7C05-AC41-9785-DE37750EC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530" y="1558263"/>
            <a:ext cx="9552709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One option is to create another file with the list of input files and use the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variable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from </a:t>
            </a:r>
            <a:r>
              <a:rPr lang="en-US" sz="2800" b="1" i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list </a:t>
            </a:r>
            <a:r>
              <a:rPr lang="en-US" sz="2800" dirty="0"/>
              <a:t>syntax.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48D8F1-58CD-D147-B4C6-E5F2EB4B3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78381-7652-E44B-B179-054FD87007C9}"/>
              </a:ext>
            </a:extLst>
          </p:cNvPr>
          <p:cNvSpPr txBox="1"/>
          <p:nvPr/>
        </p:nvSpPr>
        <p:spPr>
          <a:xfrm>
            <a:off x="698643" y="2982834"/>
            <a:ext cx="10794714" cy="286232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$(country)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log/$(country).log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outputs/$(country).err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outputs/$(country).out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country from countries.txt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AE5EA7-B6E2-F94F-A51C-3E8A42FFF19B}"/>
              </a:ext>
            </a:extLst>
          </p:cNvPr>
          <p:cNvSpPr/>
          <p:nvPr/>
        </p:nvSpPr>
        <p:spPr>
          <a:xfrm>
            <a:off x="9146227" y="2901917"/>
            <a:ext cx="2814637" cy="131771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Argentina</a:t>
            </a: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</a:t>
            </a: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Chile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4822CDE-47D5-6940-BBC7-3BF2AD990AB9}"/>
              </a:ext>
            </a:extLst>
          </p:cNvPr>
          <p:cNvCxnSpPr>
            <a:cxnSpLocks/>
          </p:cNvCxnSpPr>
          <p:nvPr/>
        </p:nvCxnSpPr>
        <p:spPr>
          <a:xfrm flipV="1">
            <a:off x="5712431" y="3875166"/>
            <a:ext cx="3312816" cy="1755072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F808FF-7017-5421-394D-C8B710DEE717}"/>
              </a:ext>
            </a:extLst>
          </p:cNvPr>
          <p:cNvSpPr txBox="1"/>
          <p:nvPr/>
        </p:nvSpPr>
        <p:spPr>
          <a:xfrm>
            <a:off x="9146227" y="2554691"/>
            <a:ext cx="269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name: countries.txt</a:t>
            </a:r>
          </a:p>
        </p:txBody>
      </p:sp>
    </p:spTree>
    <p:extLst>
      <p:ext uri="{BB962C8B-B14F-4D97-AF65-F5344CB8AC3E}">
        <p14:creationId xmlns:p14="http://schemas.microsoft.com/office/powerpoint/2010/main" val="201399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455C-3DDA-A747-A12C-B14D7807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job components vary? 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5FB41-7C05-AC41-9785-DE37750EC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Now, what parts of our submit file change? </a:t>
            </a:r>
          </a:p>
          <a:p>
            <a:r>
              <a:rPr lang="en-US" sz="2800" dirty="0"/>
              <a:t>We want to vary the job’s </a:t>
            </a:r>
            <a:r>
              <a:rPr lang="en-US" sz="2800" b="1" dirty="0"/>
              <a:t>arguments</a:t>
            </a:r>
            <a:r>
              <a:rPr lang="en-US" sz="2800" dirty="0"/>
              <a:t>.</a:t>
            </a:r>
          </a:p>
          <a:p>
            <a:r>
              <a:rPr lang="en-US" sz="2800" dirty="0"/>
              <a:t>We also want to write </a:t>
            </a:r>
            <a:r>
              <a:rPr lang="en-US" sz="2800" b="1" dirty="0"/>
              <a:t>unique outputs</a:t>
            </a:r>
            <a:r>
              <a:rPr lang="en-US" sz="2800" dirty="0"/>
              <a:t>.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6D549-7CF4-7F47-AA47-DA01C0430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97FB6-5E2F-13A5-26F5-208A510B7343}"/>
              </a:ext>
            </a:extLst>
          </p:cNvPr>
          <p:cNvSpPr txBox="1"/>
          <p:nvPr/>
        </p:nvSpPr>
        <p:spPr>
          <a:xfrm>
            <a:off x="698643" y="3070639"/>
            <a:ext cx="10794714" cy="286232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$(country)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$(country)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.log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$(country)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.err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$(country)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.out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highlight>
                  <a:srgbClr val="FFD579"/>
                </a:highlight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country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from countries.txt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F40EA-7D5B-E94A-FF8D-3C789A101B2B}"/>
              </a:ext>
            </a:extLst>
          </p:cNvPr>
          <p:cNvSpPr txBox="1"/>
          <p:nvPr/>
        </p:nvSpPr>
        <p:spPr>
          <a:xfrm>
            <a:off x="6212440" y="4461808"/>
            <a:ext cx="5280917" cy="1938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We create a </a:t>
            </a:r>
            <a:r>
              <a:rPr lang="en-US" sz="2400" b="1" dirty="0"/>
              <a:t>custom variable</a:t>
            </a:r>
            <a:r>
              <a:rPr lang="en-US" sz="2400" dirty="0"/>
              <a:t> in the queue statement!</a:t>
            </a:r>
          </a:p>
          <a:p>
            <a:endParaRPr lang="en-US" sz="2400" dirty="0"/>
          </a:p>
          <a:p>
            <a:r>
              <a:rPr lang="en-US" sz="2400" b="1" dirty="0"/>
              <a:t>Replace things that change</a:t>
            </a:r>
            <a:r>
              <a:rPr lang="en-US" sz="2400" dirty="0"/>
              <a:t> with our custom variable.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69AD62-6364-F8D1-C5A9-AFECB8EA2B0F}"/>
              </a:ext>
            </a:extLst>
          </p:cNvPr>
          <p:cNvSpPr txBox="1"/>
          <p:nvPr/>
        </p:nvSpPr>
        <p:spPr>
          <a:xfrm>
            <a:off x="9894013" y="2314588"/>
            <a:ext cx="870640" cy="4001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Chile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DD3B20-7CDA-CC2F-F116-5670919DA53C}"/>
              </a:ext>
            </a:extLst>
          </p:cNvPr>
          <p:cNvCxnSpPr>
            <a:cxnSpLocks/>
            <a:stCxn id="13" idx="2"/>
          </p:cNvCxnSpPr>
          <p:nvPr/>
        </p:nvCxnSpPr>
        <p:spPr bwMode="auto">
          <a:xfrm>
            <a:off x="10329333" y="2714698"/>
            <a:ext cx="0" cy="35594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90251E5-99C5-6343-347C-BB0E4B499924}"/>
              </a:ext>
            </a:extLst>
          </p:cNvPr>
          <p:cNvSpPr txBox="1"/>
          <p:nvPr/>
        </p:nvSpPr>
        <p:spPr>
          <a:xfrm>
            <a:off x="9894013" y="1846749"/>
            <a:ext cx="870640" cy="4001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Brazil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CF0CE5-5C6A-1DF2-4041-A8837735060F}"/>
              </a:ext>
            </a:extLst>
          </p:cNvPr>
          <p:cNvSpPr txBox="1"/>
          <p:nvPr/>
        </p:nvSpPr>
        <p:spPr>
          <a:xfrm>
            <a:off x="9894013" y="1398078"/>
            <a:ext cx="1281606" cy="4001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Argentina</a:t>
            </a:r>
          </a:p>
        </p:txBody>
      </p:sp>
    </p:spTree>
    <p:extLst>
      <p:ext uri="{BB962C8B-B14F-4D97-AF65-F5344CB8AC3E}">
        <p14:creationId xmlns:p14="http://schemas.microsoft.com/office/powerpoint/2010/main" val="783205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455C-3DDA-A747-A12C-B14D7807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2" y="114300"/>
            <a:ext cx="9692844" cy="1143000"/>
          </a:xfrm>
        </p:spPr>
        <p:txBody>
          <a:bodyPr/>
          <a:lstStyle/>
          <a:p>
            <a:r>
              <a:rPr lang="en-US" sz="3600" dirty="0"/>
              <a:t>Use </a:t>
            </a:r>
            <a:r>
              <a:rPr lang="en-US" sz="3600" i="1" dirty="0"/>
              <a:t>multiple</a:t>
            </a:r>
            <a:r>
              <a:rPr lang="en-US" sz="3600" dirty="0"/>
              <a:t> variables with </a:t>
            </a:r>
            <a:r>
              <a:rPr lang="en-US" sz="3600" b="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… from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5FB41-7C05-AC41-9785-DE37750EC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423"/>
            <a:ext cx="10795001" cy="61602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The queue from syntax can also support multiple values per job.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u="sng" dirty="0"/>
              <a:t>Example</a:t>
            </a:r>
          </a:p>
          <a:p>
            <a:pPr marL="0" indent="0">
              <a:buNone/>
            </a:pPr>
            <a:r>
              <a:rPr lang="en-US" sz="2800" dirty="0"/>
              <a:t>Estimating life expectancy at a given year: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AE6D3-0F90-C54A-9E4A-B064862A3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ECBD8-B1FE-4D2F-0F1D-2E29D7800398}"/>
              </a:ext>
            </a:extLst>
          </p:cNvPr>
          <p:cNvSpPr txBox="1"/>
          <p:nvPr/>
        </p:nvSpPr>
        <p:spPr>
          <a:xfrm>
            <a:off x="959729" y="3532538"/>
            <a:ext cx="9772650" cy="16312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 ./least_squares.py gapminder-life-expectancy.csv Brazil </a:t>
            </a:r>
            <a:r>
              <a:rPr lang="en-US" sz="2000" dirty="0">
                <a:solidFill>
                  <a:srgbClr val="FFD579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2005</a:t>
            </a:r>
          </a:p>
          <a:p>
            <a:r>
              <a:rPr lang="en-US" sz="20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Linear regression (y = mx + b):</a:t>
            </a:r>
          </a:p>
          <a:p>
            <a:r>
              <a:rPr lang="en-US" sz="20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 = 0.205 b = -348.495</a:t>
            </a:r>
          </a:p>
          <a:p>
            <a:r>
              <a:rPr lang="en-US" sz="20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Estimated life expectancy for Brazil in the year 2005</a:t>
            </a:r>
          </a:p>
          <a:p>
            <a:r>
              <a:rPr lang="en-US" sz="20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62.304</a:t>
            </a:r>
          </a:p>
        </p:txBody>
      </p:sp>
    </p:spTree>
    <p:extLst>
      <p:ext uri="{BB962C8B-B14F-4D97-AF65-F5344CB8AC3E}">
        <p14:creationId xmlns:p14="http://schemas.microsoft.com/office/powerpoint/2010/main" val="1855651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A79E-0F2A-CFCB-EFE5-7FDACD10E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C2ED-46A1-EAF7-0605-7BB66751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2" y="114300"/>
            <a:ext cx="9692844" cy="1143000"/>
          </a:xfrm>
        </p:spPr>
        <p:txBody>
          <a:bodyPr/>
          <a:lstStyle/>
          <a:p>
            <a:r>
              <a:rPr lang="en-US" sz="3600" dirty="0"/>
              <a:t>Use </a:t>
            </a:r>
            <a:r>
              <a:rPr lang="en-US" sz="3600" i="1" dirty="0"/>
              <a:t>multiple</a:t>
            </a:r>
            <a:r>
              <a:rPr lang="en-US" sz="3600" dirty="0"/>
              <a:t> variables with </a:t>
            </a:r>
            <a:r>
              <a:rPr lang="en-US" sz="3600" b="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… from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6C4FD-D316-936E-5E02-62A316C12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423"/>
            <a:ext cx="10795001" cy="61602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The queue from syntax can also support multiple values per job.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159DE-1C8F-A3BB-AA45-BB4AC0C1D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395B4-1545-0BBC-39D9-BAD79CFC3C93}"/>
              </a:ext>
            </a:extLst>
          </p:cNvPr>
          <p:cNvSpPr txBox="1"/>
          <p:nvPr/>
        </p:nvSpPr>
        <p:spPr>
          <a:xfrm>
            <a:off x="698499" y="2413478"/>
            <a:ext cx="7757131" cy="3477875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$(country)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$(year)</a:t>
            </a:r>
          </a:p>
          <a:p>
            <a:pPr marL="457200" indent="-457200"/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pPr marL="457200" indent="-457200"/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$(country)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_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$(year)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.log</a:t>
            </a: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$(country)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_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$(year)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.err</a:t>
            </a: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$(country)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_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$(year)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.out</a:t>
            </a:r>
          </a:p>
          <a:p>
            <a:pPr marL="457200" indent="-457200"/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country,year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from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countries_years.txt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290D99-56FD-9A71-B450-910BC51B41BB}"/>
              </a:ext>
            </a:extLst>
          </p:cNvPr>
          <p:cNvSpPr/>
          <p:nvPr/>
        </p:nvSpPr>
        <p:spPr>
          <a:xfrm>
            <a:off x="8622688" y="2249981"/>
            <a:ext cx="3327626" cy="18653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Argentina, 2005</a:t>
            </a:r>
          </a:p>
          <a:p>
            <a:r>
              <a:rPr lang="it-IT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Brazil, 2005</a:t>
            </a:r>
          </a:p>
          <a:p>
            <a:r>
              <a:rPr lang="it-IT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Chile, 2005</a:t>
            </a:r>
          </a:p>
          <a:p>
            <a:r>
              <a:rPr lang="it-IT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Argentina, 2010</a:t>
            </a:r>
          </a:p>
          <a:p>
            <a:r>
              <a:rPr lang="it-IT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Brazil, 2010</a:t>
            </a:r>
          </a:p>
          <a:p>
            <a:r>
              <a:rPr lang="it-IT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Chile, 2010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7602C2-3D62-D2CD-2421-B26A1FE088DA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7335748" y="4115328"/>
            <a:ext cx="2950753" cy="1468249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0EE8F8C-9230-4B72-BEF0-78FF767E22A1}"/>
              </a:ext>
            </a:extLst>
          </p:cNvPr>
          <p:cNvSpPr txBox="1"/>
          <p:nvPr/>
        </p:nvSpPr>
        <p:spPr>
          <a:xfrm>
            <a:off x="8383712" y="1880649"/>
            <a:ext cx="380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File name: countries_years.txt</a:t>
            </a:r>
          </a:p>
        </p:txBody>
      </p:sp>
    </p:spTree>
    <p:extLst>
      <p:ext uri="{BB962C8B-B14F-4D97-AF65-F5344CB8AC3E}">
        <p14:creationId xmlns:p14="http://schemas.microsoft.com/office/powerpoint/2010/main" val="1711622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2C1FA2-00F7-9970-DEC0-33DB44B26A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400800"/>
            <a:ext cx="558800" cy="457200"/>
          </a:xfrm>
        </p:spPr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37520F-6C21-9705-ECA3-A349E3879846}"/>
              </a:ext>
            </a:extLst>
          </p:cNvPr>
          <p:cNvSpPr txBox="1">
            <a:spLocks/>
          </p:cNvSpPr>
          <p:nvPr/>
        </p:nvSpPr>
        <p:spPr bwMode="auto">
          <a:xfrm>
            <a:off x="819151" y="937845"/>
            <a:ext cx="10553698" cy="499403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/>
                <a:ea typeface="+mj-ea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609445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6pPr>
            <a:lvl7pPr marL="1218886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7pPr>
            <a:lvl8pPr marL="1828330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8pPr>
            <a:lvl9pPr marL="2437772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kern="0" dirty="0"/>
              <a:t>Example 2:</a:t>
            </a:r>
          </a:p>
          <a:p>
            <a:pPr>
              <a:lnSpc>
                <a:spcPct val="150000"/>
              </a:lnSpc>
            </a:pPr>
            <a:r>
              <a:rPr lang="en-US" kern="0" dirty="0">
                <a:latin typeface="Consolas" panose="020B0609020204030204" pitchFamily="49" charset="0"/>
                <a:cs typeface="Consolas" panose="020B0609020204030204" pitchFamily="49" charset="0"/>
              </a:rPr>
              <a:t>Queue </a:t>
            </a:r>
            <a:r>
              <a:rPr lang="en-US" i="1" kern="0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endParaRPr lang="en-US" b="0" kern="0" dirty="0"/>
          </a:p>
        </p:txBody>
      </p:sp>
    </p:spTree>
    <p:extLst>
      <p:ext uri="{BB962C8B-B14F-4D97-AF65-F5344CB8AC3E}">
        <p14:creationId xmlns:p14="http://schemas.microsoft.com/office/powerpoint/2010/main" val="1991395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E470-A91D-624A-BE97-6E318409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numerical input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B643B-F8EE-B740-A87C-FFD83A023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dirty="0"/>
              <a:t>Suppose we have many input files and we want to run one job per input file.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6E3591-96D1-8344-ACE7-8DF97A80F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25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6D448C-75F7-E14E-BEFE-013E1E0BF7C6}"/>
              </a:ext>
            </a:extLst>
          </p:cNvPr>
          <p:cNvSpPr/>
          <p:nvPr/>
        </p:nvSpPr>
        <p:spPr>
          <a:xfrm>
            <a:off x="838200" y="3241567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CFE4A-7812-2648-8501-2FCA0C15FB53}"/>
              </a:ext>
            </a:extLst>
          </p:cNvPr>
          <p:cNvSpPr/>
          <p:nvPr/>
        </p:nvSpPr>
        <p:spPr>
          <a:xfrm>
            <a:off x="2783774" y="3458048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49620-7C3E-8346-B597-A8309E1584C0}"/>
              </a:ext>
            </a:extLst>
          </p:cNvPr>
          <p:cNvSpPr/>
          <p:nvPr/>
        </p:nvSpPr>
        <p:spPr>
          <a:xfrm>
            <a:off x="4729348" y="3703716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2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80602-BD49-E64D-A175-8140A80CE003}"/>
              </a:ext>
            </a:extLst>
          </p:cNvPr>
          <p:cNvSpPr/>
          <p:nvPr/>
        </p:nvSpPr>
        <p:spPr>
          <a:xfrm>
            <a:off x="6773883" y="3914215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12EC72-987F-C144-B361-5ABABFBB20B4}"/>
              </a:ext>
            </a:extLst>
          </p:cNvPr>
          <p:cNvSpPr/>
          <p:nvPr/>
        </p:nvSpPr>
        <p:spPr>
          <a:xfrm>
            <a:off x="8818418" y="4106308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</p:spTree>
    <p:extLst>
      <p:ext uri="{BB962C8B-B14F-4D97-AF65-F5344CB8AC3E}">
        <p14:creationId xmlns:p14="http://schemas.microsoft.com/office/powerpoint/2010/main" val="1966629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E470-A91D-624A-BE97-6E318409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numerical input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B643B-F8EE-B740-A87C-FFD83A023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dirty="0"/>
              <a:t>Suppose we have many input files and we want to run one job per input file. </a:t>
            </a:r>
          </a:p>
          <a:p>
            <a:pPr marL="0" indent="0" algn="ctr">
              <a:buNone/>
            </a:pPr>
            <a:r>
              <a:rPr lang="en-US" sz="2800" dirty="0"/>
              <a:t>We can capture this set of inputs using a </a:t>
            </a:r>
            <a:r>
              <a:rPr lang="en-US" sz="2800" b="1" dirty="0"/>
              <a:t>list of integers</a:t>
            </a:r>
            <a:r>
              <a:rPr lang="en-US" sz="2800" dirty="0"/>
              <a:t>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6E3591-96D1-8344-ACE7-8DF97A80F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26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6D448C-75F7-E14E-BEFE-013E1E0BF7C6}"/>
              </a:ext>
            </a:extLst>
          </p:cNvPr>
          <p:cNvSpPr/>
          <p:nvPr/>
        </p:nvSpPr>
        <p:spPr>
          <a:xfrm>
            <a:off x="838200" y="3241567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CFE4A-7812-2648-8501-2FCA0C15FB53}"/>
              </a:ext>
            </a:extLst>
          </p:cNvPr>
          <p:cNvSpPr/>
          <p:nvPr/>
        </p:nvSpPr>
        <p:spPr>
          <a:xfrm>
            <a:off x="2783774" y="3458048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49620-7C3E-8346-B597-A8309E1584C0}"/>
              </a:ext>
            </a:extLst>
          </p:cNvPr>
          <p:cNvSpPr/>
          <p:nvPr/>
        </p:nvSpPr>
        <p:spPr>
          <a:xfrm>
            <a:off x="4729348" y="3703716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2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80602-BD49-E64D-A175-8140A80CE003}"/>
              </a:ext>
            </a:extLst>
          </p:cNvPr>
          <p:cNvSpPr/>
          <p:nvPr/>
        </p:nvSpPr>
        <p:spPr>
          <a:xfrm>
            <a:off x="6773883" y="3914215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12EC72-987F-C144-B361-5ABABFBB20B4}"/>
              </a:ext>
            </a:extLst>
          </p:cNvPr>
          <p:cNvSpPr/>
          <p:nvPr/>
        </p:nvSpPr>
        <p:spPr>
          <a:xfrm>
            <a:off x="8818418" y="4106308"/>
            <a:ext cx="2081503" cy="248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.in</a:t>
            </a:r>
          </a:p>
        </p:txBody>
      </p:sp>
    </p:spTree>
    <p:extLst>
      <p:ext uri="{BB962C8B-B14F-4D97-AF65-F5344CB8AC3E}">
        <p14:creationId xmlns:p14="http://schemas.microsoft.com/office/powerpoint/2010/main" val="1437091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1F6AFCC-7E2B-AD44-9F27-B1355075FE11}"/>
              </a:ext>
            </a:extLst>
          </p:cNvPr>
          <p:cNvSpPr txBox="1"/>
          <p:nvPr/>
        </p:nvSpPr>
        <p:spPr>
          <a:xfrm>
            <a:off x="658895" y="2092655"/>
            <a:ext cx="9150124" cy="3416320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executable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analyze.sh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arguments 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file.out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  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job.log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job.stdout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job.stderr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b="1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856AF-7833-5941-B9B1-A2361E4E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2" y="114300"/>
            <a:ext cx="9994899" cy="1143000"/>
          </a:xfrm>
        </p:spPr>
        <p:txBody>
          <a:bodyPr/>
          <a:lstStyle/>
          <a:p>
            <a:r>
              <a:rPr lang="en-US" sz="3600" dirty="0"/>
              <a:t>Provide a list of integer values with </a:t>
            </a:r>
            <a:r>
              <a:rPr lang="en-US" sz="36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7BCE7-E910-C241-90C7-DF4865F15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27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B9D9F-935D-904E-A9B9-8789EACAD4D0}"/>
              </a:ext>
            </a:extLst>
          </p:cNvPr>
          <p:cNvSpPr txBox="1"/>
          <p:nvPr/>
        </p:nvSpPr>
        <p:spPr>
          <a:xfrm>
            <a:off x="6278048" y="4316447"/>
            <a:ext cx="444374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This queue statement will generate a list of integers, 0 - 4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AEE86B-72DD-C548-9A3C-46B2702EB13B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041607" y="4731946"/>
            <a:ext cx="4236441" cy="50731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343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1F6AFCC-7E2B-AD44-9F27-B1355075FE11}"/>
              </a:ext>
            </a:extLst>
          </p:cNvPr>
          <p:cNvSpPr txBox="1"/>
          <p:nvPr/>
        </p:nvSpPr>
        <p:spPr>
          <a:xfrm>
            <a:off x="658895" y="2092655"/>
            <a:ext cx="9150124" cy="3416320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executable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analyze.sh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arguments 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file.out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  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job.log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job.stdout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job.stderr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b="1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856AF-7833-5941-B9B1-A2361E4E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2" y="114300"/>
            <a:ext cx="9994899" cy="1143000"/>
          </a:xfrm>
        </p:spPr>
        <p:txBody>
          <a:bodyPr/>
          <a:lstStyle/>
          <a:p>
            <a:r>
              <a:rPr lang="en-US" sz="3600" dirty="0"/>
              <a:t>Provide a list of integer values with </a:t>
            </a:r>
            <a:r>
              <a:rPr lang="en-US" sz="36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7BCE7-E910-C241-90C7-DF4865F15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28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B9D9F-935D-904E-A9B9-8789EACAD4D0}"/>
              </a:ext>
            </a:extLst>
          </p:cNvPr>
          <p:cNvSpPr txBox="1"/>
          <p:nvPr/>
        </p:nvSpPr>
        <p:spPr>
          <a:xfrm>
            <a:off x="6278048" y="4316447"/>
            <a:ext cx="444374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This queue statement will generate a list of integers, 0 - 4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AEE86B-72DD-C548-9A3C-46B2702EB13B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041607" y="4731946"/>
            <a:ext cx="4236441" cy="50731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EDC638A-4668-14D4-C569-AA5C031F9A7E}"/>
              </a:ext>
            </a:extLst>
          </p:cNvPr>
          <p:cNvSpPr/>
          <p:nvPr/>
        </p:nvSpPr>
        <p:spPr bwMode="auto">
          <a:xfrm>
            <a:off x="7490012" y="1801906"/>
            <a:ext cx="4143189" cy="1627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>
                <a:latin typeface="Arial" charset="0"/>
              </a:rPr>
              <a:t>If we </a:t>
            </a:r>
            <a:r>
              <a:rPr lang="en-US" sz="2400" i="1" dirty="0">
                <a:latin typeface="Arial" charset="0"/>
              </a:rPr>
              <a:t>only</a:t>
            </a:r>
            <a:r>
              <a:rPr lang="en-US" sz="2400" dirty="0">
                <a:latin typeface="Arial" charset="0"/>
              </a:rPr>
              <a:t> change our queue statement to queue N, </a:t>
            </a:r>
            <a:r>
              <a:rPr lang="en-US" sz="2400" dirty="0" err="1">
                <a:latin typeface="Arial" charset="0"/>
              </a:rPr>
              <a:t>HTCondor</a:t>
            </a:r>
            <a:r>
              <a:rPr lang="en-US" sz="2400" dirty="0">
                <a:latin typeface="Arial" charset="0"/>
              </a:rPr>
              <a:t> will queue N </a:t>
            </a:r>
            <a:r>
              <a:rPr lang="en-US" sz="2400" i="1" dirty="0">
                <a:latin typeface="Arial" charset="0"/>
              </a:rPr>
              <a:t>identical</a:t>
            </a:r>
            <a:r>
              <a:rPr lang="en-US" sz="2400" dirty="0">
                <a:latin typeface="Arial" charset="0"/>
              </a:rPr>
              <a:t> jobs. 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885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37606F5-ECD7-A241-A6CA-5C2FB6F74CDB}"/>
              </a:ext>
            </a:extLst>
          </p:cNvPr>
          <p:cNvSpPr txBox="1"/>
          <p:nvPr/>
        </p:nvSpPr>
        <p:spPr>
          <a:xfrm>
            <a:off x="658893" y="2092655"/>
            <a:ext cx="9280753" cy="3416320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executable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analyze.sh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arguments  =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file.out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   =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job.log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job.stdout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 =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job.stderr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10F17-E528-8E49-9462-AB7B97C2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job components vary?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321F99C-694D-974F-B388-BC8E84383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7863A-A1CA-EB4F-8DF0-37C678F8D88E}"/>
              </a:ext>
            </a:extLst>
          </p:cNvPr>
          <p:cNvSpPr txBox="1"/>
          <p:nvPr/>
        </p:nvSpPr>
        <p:spPr>
          <a:xfrm>
            <a:off x="8003473" y="1859340"/>
            <a:ext cx="3872345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The arguments for our command and the input files would be different for each job.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1E1302-EC0E-6F4B-9192-E0CC32E67526}"/>
              </a:ext>
            </a:extLst>
          </p:cNvPr>
          <p:cNvCxnSpPr>
            <a:cxnSpLocks/>
          </p:cNvCxnSpPr>
          <p:nvPr/>
        </p:nvCxnSpPr>
        <p:spPr>
          <a:xfrm flipH="1">
            <a:off x="6269568" y="2644170"/>
            <a:ext cx="173390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DF6236-B74E-137D-9C10-61DC4B702041}"/>
              </a:ext>
            </a:extLst>
          </p:cNvPr>
          <p:cNvSpPr txBox="1"/>
          <p:nvPr/>
        </p:nvSpPr>
        <p:spPr>
          <a:xfrm>
            <a:off x="7481455" y="3942155"/>
            <a:ext cx="387234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We might also want to differentiate these job files.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C5AA15-3B34-60EB-E3E4-EAB2FC9A7ED2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572000" y="4357654"/>
            <a:ext cx="290945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063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0F17-E528-8E49-9462-AB7B97C2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Automatic Variables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2ED9A-9681-BA40-B032-B0AC2B281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30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437D84-5D12-D5B2-7CFE-BFB3E9728E75}"/>
              </a:ext>
            </a:extLst>
          </p:cNvPr>
          <p:cNvSpPr txBox="1">
            <a:spLocks/>
          </p:cNvSpPr>
          <p:nvPr/>
        </p:nvSpPr>
        <p:spPr>
          <a:xfrm>
            <a:off x="7409330" y="1591787"/>
            <a:ext cx="4223871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57083" indent="-45708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4267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90345" indent="-38090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3733">
                <a:solidFill>
                  <a:schemeClr val="tx2"/>
                </a:solidFill>
                <a:latin typeface="+mn-lt"/>
                <a:ea typeface="+mn-ea"/>
              </a:defRPr>
            </a:lvl2pPr>
            <a:lvl3pPr marL="1523609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3200">
                <a:solidFill>
                  <a:schemeClr val="tx2"/>
                </a:solidFill>
                <a:latin typeface="+mn-lt"/>
                <a:ea typeface="+mn-ea"/>
              </a:defRPr>
            </a:lvl3pPr>
            <a:lvl4pPr marL="2133052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4pPr>
            <a:lvl5pPr marL="2742494" indent="-304722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5pPr>
            <a:lvl6pPr marL="3351939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6pPr>
            <a:lvl7pPr marL="3961381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7pPr>
            <a:lvl8pPr marL="4570824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8pPr>
            <a:lvl9pPr marL="5180268" indent="-304722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667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3200" kern="0" dirty="0">
                <a:cs typeface="Arial"/>
              </a:rPr>
              <a:t>Each job’s </a:t>
            </a:r>
            <a:r>
              <a:rPr lang="en-US" sz="3200" kern="0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ClusterId</a:t>
            </a:r>
            <a:r>
              <a:rPr lang="en-US" sz="3200" kern="0" dirty="0">
                <a:cs typeface="Arial"/>
              </a:rPr>
              <a:t> and </a:t>
            </a:r>
            <a:r>
              <a:rPr lang="en-US" sz="3200" kern="0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ProcId</a:t>
            </a:r>
            <a:r>
              <a:rPr lang="en-US" sz="3200" kern="0" dirty="0">
                <a:cs typeface="Arial"/>
              </a:rPr>
              <a:t> can be accessed inside the submit file using:</a:t>
            </a:r>
          </a:p>
          <a:p>
            <a:pPr marL="457200" lvl="1" indent="0">
              <a:buFont typeface="Symbol" charset="0"/>
              <a:buNone/>
            </a:pPr>
            <a:r>
              <a:rPr lang="en-US" sz="3200" kern="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$(Cluster)</a:t>
            </a:r>
          </a:p>
          <a:p>
            <a:pPr marL="457200" lvl="1" indent="0">
              <a:buFont typeface="Symbol" charset="0"/>
              <a:buNone/>
            </a:pPr>
            <a:r>
              <a:rPr lang="en-US" sz="3200" kern="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$(Process)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729372-CC49-2436-E136-ED83EA1AC6A6}"/>
              </a:ext>
            </a:extLst>
          </p:cNvPr>
          <p:cNvGrpSpPr/>
          <p:nvPr/>
        </p:nvGrpSpPr>
        <p:grpSpPr>
          <a:xfrm>
            <a:off x="424329" y="1369129"/>
            <a:ext cx="5837853" cy="4149957"/>
            <a:chOff x="330200" y="1493838"/>
            <a:chExt cx="4381500" cy="304006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A9128F-F41B-B4B0-DE45-EF74126C80D1}"/>
                </a:ext>
              </a:extLst>
            </p:cNvPr>
            <p:cNvSpPr/>
            <p:nvPr/>
          </p:nvSpPr>
          <p:spPr>
            <a:xfrm>
              <a:off x="330200" y="2489200"/>
              <a:ext cx="11684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queue </a:t>
              </a:r>
              <a:r>
                <a:rPr lang="en-US" sz="2000" i="1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CC99BE-4AF9-F8A1-F497-874D28A18C54}"/>
                </a:ext>
              </a:extLst>
            </p:cNvPr>
            <p:cNvSpPr/>
            <p:nvPr/>
          </p:nvSpPr>
          <p:spPr>
            <a:xfrm>
              <a:off x="2413000" y="2032000"/>
              <a:ext cx="11684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cs typeface="Arial"/>
                </a:rPr>
                <a:t>14908542</a:t>
              </a:r>
              <a:endParaRPr lang="en-US" sz="2000" dirty="0">
                <a:latin typeface="Arial"/>
                <a:cs typeface="Arial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C0CA03-F233-E87B-8EA7-A937DDC4A458}"/>
                </a:ext>
              </a:extLst>
            </p:cNvPr>
            <p:cNvSpPr/>
            <p:nvPr/>
          </p:nvSpPr>
          <p:spPr>
            <a:xfrm>
              <a:off x="2413000" y="2489200"/>
              <a:ext cx="11684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cs typeface="Arial"/>
                </a:rPr>
                <a:t>14908542</a:t>
              </a:r>
              <a:endParaRPr lang="en-US" sz="2000" dirty="0">
                <a:latin typeface="Arial"/>
                <a:cs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26E78F-F382-DABA-2FD4-5A84348A1CDB}"/>
                </a:ext>
              </a:extLst>
            </p:cNvPr>
            <p:cNvSpPr/>
            <p:nvPr/>
          </p:nvSpPr>
          <p:spPr>
            <a:xfrm>
              <a:off x="2425700" y="2959100"/>
              <a:ext cx="11684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cs typeface="Arial"/>
                </a:rPr>
                <a:t>14908542</a:t>
              </a:r>
              <a:endParaRPr lang="en-US" sz="2000" dirty="0">
                <a:latin typeface="Arial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2391D97-62C8-F988-2DCD-7AABA0C531A1}"/>
                </a:ext>
              </a:extLst>
            </p:cNvPr>
            <p:cNvSpPr/>
            <p:nvPr/>
          </p:nvSpPr>
          <p:spPr>
            <a:xfrm>
              <a:off x="3733800" y="2032000"/>
              <a:ext cx="6477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FD8EA02-3597-26AB-706C-A9D9F237FD92}"/>
                </a:ext>
              </a:extLst>
            </p:cNvPr>
            <p:cNvSpPr/>
            <p:nvPr/>
          </p:nvSpPr>
          <p:spPr>
            <a:xfrm>
              <a:off x="3733800" y="2489200"/>
              <a:ext cx="6477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218368-3633-C8AB-921F-8C18D1F687B4}"/>
                </a:ext>
              </a:extLst>
            </p:cNvPr>
            <p:cNvSpPr/>
            <p:nvPr/>
          </p:nvSpPr>
          <p:spPr>
            <a:xfrm>
              <a:off x="3733800" y="2959100"/>
              <a:ext cx="6477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Arial"/>
                  <a:cs typeface="Arial"/>
                </a:rPr>
                <a:t>2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2A77E44-903E-B095-7E76-D1BB5A3ADB74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 flipV="1">
              <a:off x="1498600" y="2387600"/>
              <a:ext cx="914400" cy="4572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CE1C210-0AC1-FFCB-44C6-7FA9EA237B9F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498600" y="2844800"/>
              <a:ext cx="914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AB365F7-24BD-33D2-7C8A-A3A7A8904E76}"/>
                </a:ext>
              </a:extLst>
            </p:cNvPr>
            <p:cNvCxnSpPr>
              <a:stCxn id="10" idx="3"/>
              <a:endCxn id="13" idx="1"/>
            </p:cNvCxnSpPr>
            <p:nvPr/>
          </p:nvCxnSpPr>
          <p:spPr>
            <a:xfrm>
              <a:off x="1498600" y="2844800"/>
              <a:ext cx="927100" cy="4699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0C4376F-A1F5-C7D7-2AC8-D57E93D0235C}"/>
                </a:ext>
              </a:extLst>
            </p:cNvPr>
            <p:cNvSpPr/>
            <p:nvPr/>
          </p:nvSpPr>
          <p:spPr>
            <a:xfrm>
              <a:off x="2413000" y="1493838"/>
              <a:ext cx="12827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ClusterId</a:t>
              </a:r>
              <a:endPara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977ABF-873F-AD48-53FA-7FA414F33CCF}"/>
                </a:ext>
              </a:extLst>
            </p:cNvPr>
            <p:cNvSpPr/>
            <p:nvPr/>
          </p:nvSpPr>
          <p:spPr>
            <a:xfrm>
              <a:off x="3390900" y="1493838"/>
              <a:ext cx="13208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ProcId</a:t>
              </a:r>
              <a:endPara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5F61-AC02-3483-4998-F409CB5C3BE2}"/>
                </a:ext>
              </a:extLst>
            </p:cNvPr>
            <p:cNvSpPr/>
            <p:nvPr/>
          </p:nvSpPr>
          <p:spPr>
            <a:xfrm>
              <a:off x="2425700" y="3390900"/>
              <a:ext cx="11684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Arial"/>
                  <a:cs typeface="Arial"/>
                </a:rPr>
                <a:t>...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299C2B-340A-C3A6-775F-1B94A0F00F26}"/>
                </a:ext>
              </a:extLst>
            </p:cNvPr>
            <p:cNvSpPr/>
            <p:nvPr/>
          </p:nvSpPr>
          <p:spPr>
            <a:xfrm>
              <a:off x="2413000" y="3822700"/>
              <a:ext cx="11684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cs typeface="Arial"/>
                </a:rPr>
                <a:t>14908542</a:t>
              </a:r>
              <a:endParaRPr lang="en-US" sz="2000" dirty="0">
                <a:latin typeface="Arial"/>
                <a:cs typeface="Arial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12B944C-13B0-B838-FA45-F218AB0893D1}"/>
                </a:ext>
              </a:extLst>
            </p:cNvPr>
            <p:cNvSpPr/>
            <p:nvPr/>
          </p:nvSpPr>
          <p:spPr>
            <a:xfrm>
              <a:off x="3733800" y="3822700"/>
              <a:ext cx="647700" cy="711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latin typeface="Arial"/>
                  <a:cs typeface="Arial"/>
                </a:rPr>
                <a:t>N-1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E469A0E-49C2-B8E6-53C7-B0B7D3231638}"/>
                </a:ext>
              </a:extLst>
            </p:cNvPr>
            <p:cNvCxnSpPr>
              <a:stCxn id="10" idx="3"/>
              <a:endCxn id="23" idx="1"/>
            </p:cNvCxnSpPr>
            <p:nvPr/>
          </p:nvCxnSpPr>
          <p:spPr>
            <a:xfrm>
              <a:off x="1498600" y="2844800"/>
              <a:ext cx="914400" cy="13335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1CA2204-906E-DB21-B738-9D3CE943463F}"/>
              </a:ext>
            </a:extLst>
          </p:cNvPr>
          <p:cNvSpPr/>
          <p:nvPr/>
        </p:nvSpPr>
        <p:spPr>
          <a:xfrm>
            <a:off x="4583835" y="3958789"/>
            <a:ext cx="1614366" cy="9489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/>
                <a:cs typeface="Arial"/>
              </a:rPr>
              <a:t>...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11668E-701F-B60E-A5EB-E8F367CA0231}"/>
              </a:ext>
            </a:extLst>
          </p:cNvPr>
          <p:cNvSpPr txBox="1"/>
          <p:nvPr/>
        </p:nvSpPr>
        <p:spPr>
          <a:xfrm>
            <a:off x="4502365" y="6088159"/>
            <a:ext cx="697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* May also see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ClusterID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), $(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ProcID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in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85485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0F17-E528-8E49-9462-AB7B97C2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>
                <a:latin typeface="Courier" pitchFamily="2" charset="0"/>
              </a:rPr>
              <a:t>$(Process)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/>
              <a:t>as the </a:t>
            </a:r>
            <a:r>
              <a:rPr lang="en-US" b="1" dirty="0"/>
              <a:t>variable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2ED9A-9681-BA40-B032-B0AC2B281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E6A33-B73D-2D4A-8691-72BB595FA857}"/>
              </a:ext>
            </a:extLst>
          </p:cNvPr>
          <p:cNvSpPr txBox="1"/>
          <p:nvPr/>
        </p:nvSpPr>
        <p:spPr>
          <a:xfrm>
            <a:off x="658893" y="2092655"/>
            <a:ext cx="9280753" cy="378565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executable = </a:t>
            </a:r>
            <a:r>
              <a:rPr lang="en-US" sz="2400" dirty="0" err="1">
                <a:latin typeface="Courier"/>
                <a:cs typeface="Courier"/>
              </a:rPr>
              <a:t>analyze.sh</a:t>
            </a:r>
            <a:r>
              <a:rPr lang="en-US" sz="2400" dirty="0">
                <a:latin typeface="Courier"/>
                <a:cs typeface="Courier"/>
              </a:rPr>
              <a:t> </a:t>
            </a:r>
          </a:p>
          <a:p>
            <a:r>
              <a:rPr lang="en-US" sz="2400" dirty="0">
                <a:latin typeface="Courier"/>
                <a:cs typeface="Courier"/>
              </a:rPr>
              <a:t>arguments  = 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"/>
                <a:cs typeface="Courier"/>
              </a:rPr>
              <a:t>$(Process)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ourier"/>
                <a:cs typeface="Courier"/>
              </a:rPr>
              <a:t>.</a:t>
            </a:r>
            <a:r>
              <a:rPr lang="en-US" sz="2400" dirty="0">
                <a:latin typeface="Courier"/>
                <a:cs typeface="Courier"/>
              </a:rPr>
              <a:t>in 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"/>
                <a:cs typeface="Courier"/>
              </a:rPr>
              <a:t>$(Process)</a:t>
            </a:r>
            <a:r>
              <a:rPr lang="en-US" sz="2400" dirty="0">
                <a:latin typeface="Courier"/>
                <a:cs typeface="Courier"/>
              </a:rPr>
              <a:t>.out</a:t>
            </a:r>
          </a:p>
          <a:p>
            <a:r>
              <a:rPr lang="en-US" sz="2400" dirty="0" err="1">
                <a:latin typeface="Courier"/>
                <a:cs typeface="Courier"/>
              </a:rPr>
              <a:t>transfer_input_files</a:t>
            </a:r>
            <a:r>
              <a:rPr lang="en-US" sz="2400" dirty="0">
                <a:latin typeface="Courier"/>
                <a:cs typeface="Courier"/>
              </a:rPr>
              <a:t> = file.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"/>
                <a:cs typeface="Courier"/>
              </a:rPr>
              <a:t>$(Process)</a:t>
            </a:r>
            <a:r>
              <a:rPr lang="en-US" sz="2400" dirty="0">
                <a:latin typeface="Courier"/>
                <a:cs typeface="Courier"/>
              </a:rPr>
              <a:t>.in</a:t>
            </a:r>
          </a:p>
          <a:p>
            <a:endParaRPr lang="en-US" sz="2400" dirty="0">
              <a:latin typeface="Courier"/>
              <a:cs typeface="Courier"/>
            </a:endParaRPr>
          </a:p>
          <a:p>
            <a:r>
              <a:rPr lang="en-US" sz="2400" dirty="0">
                <a:latin typeface="Courier"/>
                <a:cs typeface="Courier"/>
              </a:rPr>
              <a:t>log    = job.log</a:t>
            </a:r>
          </a:p>
          <a:p>
            <a:r>
              <a:rPr lang="en-US" sz="2400" dirty="0">
                <a:latin typeface="Courier"/>
                <a:cs typeface="Courier"/>
              </a:rPr>
              <a:t>output = job.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"/>
                <a:cs typeface="Courier"/>
              </a:rPr>
              <a:t>$(Process)</a:t>
            </a:r>
            <a:r>
              <a:rPr lang="en-US" sz="2400" dirty="0">
                <a:latin typeface="Courier"/>
                <a:cs typeface="Courier"/>
              </a:rPr>
              <a:t>.</a:t>
            </a:r>
            <a:r>
              <a:rPr lang="en-US" sz="2400" dirty="0" err="1">
                <a:latin typeface="Courier"/>
                <a:cs typeface="Courier"/>
              </a:rPr>
              <a:t>stdout</a:t>
            </a:r>
            <a:endParaRPr lang="en-US" sz="2400" dirty="0">
              <a:latin typeface="Courier"/>
              <a:cs typeface="Courier"/>
            </a:endParaRPr>
          </a:p>
          <a:p>
            <a:r>
              <a:rPr lang="en-US" sz="2400" dirty="0">
                <a:latin typeface="Courier"/>
                <a:cs typeface="Courier"/>
              </a:rPr>
              <a:t>error  = job.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"/>
                <a:cs typeface="Courier"/>
              </a:rPr>
              <a:t>$(Process)</a:t>
            </a:r>
            <a:r>
              <a:rPr lang="en-US" sz="2400" dirty="0">
                <a:latin typeface="Courier"/>
                <a:cs typeface="Courier"/>
              </a:rPr>
              <a:t>.stderr</a:t>
            </a:r>
          </a:p>
          <a:p>
            <a:endParaRPr lang="en-US" sz="2400" dirty="0">
              <a:latin typeface="Courier"/>
              <a:cs typeface="Courier"/>
            </a:endParaRPr>
          </a:p>
          <a:p>
            <a:r>
              <a:rPr lang="en-US" sz="2400" dirty="0">
                <a:latin typeface="Courier"/>
                <a:cs typeface="Courier"/>
              </a:rPr>
              <a:t>queue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7A539-B0DC-FA4D-851F-F2A129159AA0}"/>
              </a:ext>
            </a:extLst>
          </p:cNvPr>
          <p:cNvSpPr txBox="1"/>
          <p:nvPr/>
        </p:nvSpPr>
        <p:spPr>
          <a:xfrm>
            <a:off x="7573573" y="4167297"/>
            <a:ext cx="415518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The default variable representing the changing numbers in our list is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$(Process)</a:t>
            </a:r>
          </a:p>
        </p:txBody>
      </p:sp>
    </p:spTree>
    <p:extLst>
      <p:ext uri="{BB962C8B-B14F-4D97-AF65-F5344CB8AC3E}">
        <p14:creationId xmlns:p14="http://schemas.microsoft.com/office/powerpoint/2010/main" val="1357758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5F62-78D5-0135-71CE-EA8671795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 Jobs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AE7239-06EA-BB54-17B4-887FF9BC4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927DA-6D02-2DE3-B66D-59786F610E77}"/>
              </a:ext>
            </a:extLst>
          </p:cNvPr>
          <p:cNvSpPr txBox="1"/>
          <p:nvPr/>
        </p:nvSpPr>
        <p:spPr>
          <a:xfrm>
            <a:off x="1638301" y="2498271"/>
            <a:ext cx="9562571" cy="766477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</a:t>
            </a:r>
            <a:r>
              <a:rPr lang="en-US" sz="1400" b="1" dirty="0" err="1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condor_submit</a:t>
            </a:r>
            <a:r>
              <a:rPr lang="en-US" sz="1400" b="1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job.submit</a:t>
            </a:r>
            <a:endParaRPr lang="en-US" sz="1400" b="1" dirty="0">
              <a:solidFill>
                <a:srgbClr val="FFFF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Submitting job(s).</a:t>
            </a:r>
          </a:p>
          <a:p>
            <a:r>
              <a:rPr lang="en-US" sz="14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5 job(s) submitted to cluster 14908542.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8EA9F-93D0-DBD9-AB13-FFAED5CFC823}"/>
              </a:ext>
            </a:extLst>
          </p:cNvPr>
          <p:cNvSpPr txBox="1"/>
          <p:nvPr/>
        </p:nvSpPr>
        <p:spPr>
          <a:xfrm>
            <a:off x="1638302" y="3380381"/>
            <a:ext cx="9562572" cy="1384995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</a:t>
            </a:r>
            <a:r>
              <a:rPr lang="en-US" sz="1400" b="1" dirty="0" err="1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condor_q</a:t>
            </a:r>
            <a:endParaRPr lang="en-US" sz="1400" b="1" dirty="0">
              <a:solidFill>
                <a:srgbClr val="FFFF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de-DE" sz="14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de-DE" sz="1400" dirty="0" err="1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Schedd</a:t>
            </a:r>
            <a:r>
              <a:rPr lang="de-DE" sz="14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 submit-1.chtc.wisc.edu : &lt;128.104.101.92:9618?... @ 05/09/19 10:35:54</a:t>
            </a:r>
          </a:p>
          <a:p>
            <a:r>
              <a:rPr lang="de-DE" sz="14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OWNER  BATCH_NAME   SUBMITTED    DONE    RUN    IDLE  TOTAL  JOB_IDS</a:t>
            </a:r>
          </a:p>
          <a:p>
            <a:r>
              <a:rPr lang="sk-SK" sz="14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alice  ID: 14908542 </a:t>
            </a:r>
            <a:r>
              <a:rPr lang="en-US" sz="14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5/9  11:0</a:t>
            </a:r>
            <a:r>
              <a:rPr lang="sk-SK" sz="14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3      _      _      5      5   128.0-4</a:t>
            </a:r>
          </a:p>
          <a:p>
            <a:endParaRPr lang="sk-SK" sz="1400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sk-SK" sz="14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5 jobs; 0 completed, 0 removed, 5 idle, 0 running, 0 held, 0 suspended</a:t>
            </a:r>
            <a:endParaRPr lang="en-US" sz="1400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87C0A-865E-7270-47CD-F7D19922A15F}"/>
              </a:ext>
            </a:extLst>
          </p:cNvPr>
          <p:cNvSpPr txBox="1"/>
          <p:nvPr/>
        </p:nvSpPr>
        <p:spPr>
          <a:xfrm>
            <a:off x="646577" y="1276110"/>
            <a:ext cx="111687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200057"/>
                </a:solidFill>
              </a:rPr>
              <a:t>Jobs in the queue will be grouped in batches </a:t>
            </a:r>
          </a:p>
          <a:p>
            <a:pPr lvl="1"/>
            <a:r>
              <a:rPr lang="en-US" sz="2400" dirty="0">
                <a:solidFill>
                  <a:srgbClr val="200057"/>
                </a:solidFill>
              </a:rPr>
              <a:t>(default: cluster number, can be changed with </a:t>
            </a:r>
            <a:r>
              <a:rPr lang="en-US" sz="2400" dirty="0" err="1">
                <a:solidFill>
                  <a:srgbClr val="200057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batch_name</a:t>
            </a:r>
            <a:r>
              <a:rPr lang="en-US" sz="2400" dirty="0">
                <a:solidFill>
                  <a:srgbClr val="200057"/>
                </a:solidFill>
              </a:rPr>
              <a:t> in the submit file)</a:t>
            </a:r>
            <a:endParaRPr lang="en-US" sz="3200" dirty="0">
              <a:solidFill>
                <a:srgbClr val="200057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85331-B8D3-311E-CAD0-BB21514840BE}"/>
              </a:ext>
            </a:extLst>
          </p:cNvPr>
          <p:cNvSpPr txBox="1"/>
          <p:nvPr/>
        </p:nvSpPr>
        <p:spPr>
          <a:xfrm>
            <a:off x="646578" y="5076069"/>
            <a:ext cx="79086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kern="0" dirty="0">
                <a:solidFill>
                  <a:srgbClr val="200057"/>
                </a:solidFill>
              </a:rPr>
              <a:t>To see individual jobs, use: </a:t>
            </a:r>
          </a:p>
          <a:p>
            <a:r>
              <a:rPr lang="en-US" sz="3200" b="1" kern="0" dirty="0">
                <a:solidFill>
                  <a:srgbClr val="200057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	</a:t>
            </a:r>
            <a:r>
              <a:rPr lang="en-US" sz="3200" b="1" kern="0" dirty="0" err="1">
                <a:solidFill>
                  <a:srgbClr val="200057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condor_q</a:t>
            </a:r>
            <a:r>
              <a:rPr lang="en-US" sz="3200" b="1" kern="0" dirty="0">
                <a:solidFill>
                  <a:srgbClr val="200057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-</a:t>
            </a:r>
            <a:r>
              <a:rPr lang="en-US" sz="3200" b="1" kern="0" dirty="0" err="1">
                <a:solidFill>
                  <a:srgbClr val="200057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nobatch</a:t>
            </a:r>
            <a:endParaRPr lang="en-US" sz="3200" b="1" kern="0" dirty="0">
              <a:solidFill>
                <a:srgbClr val="200057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3200" dirty="0">
              <a:solidFill>
                <a:srgbClr val="2000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257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4192-186B-D344-84B0-CB51EEF3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options: 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6317-F61A-DB43-ABFA-D3F93110C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Can I start from 1 instead of 0?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Yes! These two lines increment the 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$(Process) </a:t>
            </a:r>
            <a:r>
              <a:rPr lang="en-US" sz="2400" dirty="0"/>
              <a:t>variable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You would use the second variable name 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newProc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en-US" sz="2400" dirty="0"/>
              <a:t>in your submit file</a:t>
            </a:r>
          </a:p>
          <a:p>
            <a:pPr lvl="1"/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Can I create a certain number of digits (i.e. 000, 001 instead of 0,1)?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Yes, this syntax will make 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$(Process) </a:t>
            </a:r>
            <a:r>
              <a:rPr lang="en-US" sz="2400" dirty="0"/>
              <a:t>have a certain number of digits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5003CD-7939-3045-9CD5-E7D61049F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64D61-7294-6D49-92D3-9111A632A27D}"/>
              </a:ext>
            </a:extLst>
          </p:cNvPr>
          <p:cNvSpPr txBox="1"/>
          <p:nvPr/>
        </p:nvSpPr>
        <p:spPr>
          <a:xfrm>
            <a:off x="2059624" y="2230037"/>
            <a:ext cx="6239996" cy="830997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tempProc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$(Process) + 1</a:t>
            </a:r>
          </a:p>
          <a:p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newProc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$INT(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tempProc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0A04F-680C-3646-AD3D-00CBA39711E3}"/>
              </a:ext>
            </a:extLst>
          </p:cNvPr>
          <p:cNvSpPr txBox="1"/>
          <p:nvPr/>
        </p:nvSpPr>
        <p:spPr>
          <a:xfrm>
            <a:off x="2059624" y="5633089"/>
            <a:ext cx="6239996" cy="461665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$INT(Process,%03)</a:t>
            </a:r>
          </a:p>
        </p:txBody>
      </p:sp>
    </p:spTree>
    <p:extLst>
      <p:ext uri="{BB962C8B-B14F-4D97-AF65-F5344CB8AC3E}">
        <p14:creationId xmlns:p14="http://schemas.microsoft.com/office/powerpoint/2010/main" val="266306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5F8AF-408A-93AC-394A-D1B9B6FA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Options for Submitting Multiple Jobs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4A590-BA3B-7A06-A192-DE9D8D92D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65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14A5-ED73-7E4B-9337-6CDF85C0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and 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  <a:r>
              <a:rPr lang="en-US" dirty="0"/>
              <a:t> options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C332901-6647-8F4A-9874-D89F7C0F10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816554"/>
              </p:ext>
            </p:extLst>
          </p:nvPr>
        </p:nvGraphicFramePr>
        <p:xfrm>
          <a:off x="543697" y="1457070"/>
          <a:ext cx="11087745" cy="424234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4199903">
                  <a:extLst>
                    <a:ext uri="{9D8B030D-6E8A-4147-A177-3AD203B41FA5}">
                      <a16:colId xmlns:a16="http://schemas.microsoft.com/office/drawing/2014/main" val="1422036205"/>
                    </a:ext>
                  </a:extLst>
                </a:gridCol>
                <a:gridCol w="3706350">
                  <a:extLst>
                    <a:ext uri="{9D8B030D-6E8A-4147-A177-3AD203B41FA5}">
                      <a16:colId xmlns:a16="http://schemas.microsoft.com/office/drawing/2014/main" val="3023267978"/>
                    </a:ext>
                  </a:extLst>
                </a:gridCol>
                <a:gridCol w="3181492">
                  <a:extLst>
                    <a:ext uri="{9D8B030D-6E8A-4147-A177-3AD203B41FA5}">
                      <a16:colId xmlns:a16="http://schemas.microsoft.com/office/drawing/2014/main" val="767554156"/>
                    </a:ext>
                  </a:extLst>
                </a:gridCol>
              </a:tblGrid>
              <a:tr h="598671">
                <a:tc>
                  <a:txBody>
                    <a:bodyPr/>
                    <a:lstStyle/>
                    <a:p>
                      <a:r>
                        <a:rPr lang="en-US" sz="2400" dirty="0"/>
                        <a:t>Syntax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8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8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Variable Name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8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315372"/>
                  </a:ext>
                </a:extLst>
              </a:tr>
              <a:tr h="598671">
                <a:tc>
                  <a:txBody>
                    <a:bodyPr/>
                    <a:lstStyle/>
                    <a:p>
                      <a:r>
                        <a:rPr lang="en-US" sz="2400" dirty="0"/>
                        <a:t>queue </a:t>
                      </a:r>
                      <a:r>
                        <a:rPr lang="en-US" sz="2400" i="1" dirty="0"/>
                        <a:t>N</a:t>
                      </a:r>
                      <a:endParaRPr lang="en-US" sz="2400" i="1" dirty="0"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Integers: 0 through N-1</a:t>
                      </a:r>
                      <a:endParaRPr lang="en-US" sz="2400" i="1" dirty="0"/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$(Process)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81069443"/>
                  </a:ext>
                </a:extLst>
              </a:tr>
              <a:tr h="1033322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queue </a:t>
                      </a:r>
                      <a:r>
                        <a:rPr lang="en-US" sz="2400" i="1" dirty="0">
                          <a:solidFill>
                            <a:srgbClr val="FF0000"/>
                          </a:solidFill>
                        </a:rPr>
                        <a:t>Var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 matching </a:t>
                      </a:r>
                      <a:r>
                        <a:rPr lang="en-US" sz="2400" i="1" dirty="0">
                          <a:solidFill>
                            <a:srgbClr val="FF0000"/>
                          </a:solidFill>
                        </a:rPr>
                        <a:t>pattern*</a:t>
                      </a:r>
                      <a:endParaRPr lang="en-US" sz="2400" i="1" dirty="0">
                        <a:solidFill>
                          <a:srgbClr val="FF0000"/>
                        </a:solidFill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 that match the wildcard pattern.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lstStyle/>
                    <a:p>
                      <a:endParaRPr lang="en-US" sz="2400" dirty="0"/>
                    </a:p>
                    <a:p>
                      <a:r>
                        <a:rPr lang="en-US" sz="2400" dirty="0"/>
                        <a:t>$(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) </a:t>
                      </a:r>
                    </a:p>
                    <a:p>
                      <a:endParaRPr lang="en-US" sz="2400" dirty="0"/>
                    </a:p>
                    <a:p>
                      <a:r>
                        <a:rPr lang="en-US" sz="2400" dirty="0"/>
                        <a:t>If no variable name is provided, default is $(Item)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610924"/>
                  </a:ext>
                </a:extLst>
              </a:tr>
              <a:tr h="598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queue 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 in (</a:t>
                      </a:r>
                      <a:r>
                        <a:rPr lang="en-US" sz="2400" i="1" dirty="0"/>
                        <a:t>item1</a:t>
                      </a:r>
                      <a:r>
                        <a:rPr lang="en-US" sz="2400" dirty="0"/>
                        <a:t> </a:t>
                      </a:r>
                      <a:r>
                        <a:rPr lang="en-US" sz="2400" i="1" dirty="0"/>
                        <a:t>item2</a:t>
                      </a:r>
                      <a:r>
                        <a:rPr lang="en-US" sz="2400" dirty="0"/>
                        <a:t> …)</a:t>
                      </a:r>
                      <a:endParaRPr lang="en-US" sz="2400" i="1" dirty="0"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 within parentheses. 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004500"/>
                  </a:ext>
                </a:extLst>
              </a:tr>
              <a:tr h="1033322">
                <a:tc>
                  <a:txBody>
                    <a:bodyPr/>
                    <a:lstStyle/>
                    <a:p>
                      <a:r>
                        <a:rPr lang="en-US" sz="2400" dirty="0"/>
                        <a:t>queue </a:t>
                      </a:r>
                      <a:r>
                        <a:rPr lang="en-US" sz="2400" i="1" dirty="0"/>
                        <a:t>Var</a:t>
                      </a:r>
                      <a:r>
                        <a:rPr lang="en-US" sz="2400" dirty="0"/>
                        <a:t> from </a:t>
                      </a:r>
                      <a:r>
                        <a:rPr lang="en-US" sz="2400" i="1" dirty="0" err="1"/>
                        <a:t>list.txt</a:t>
                      </a:r>
                      <a:endParaRPr lang="en-US" sz="2400" i="1" dirty="0">
                        <a:latin typeface="Courier" pitchFamily="2" charset="0"/>
                      </a:endParaRP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List of values from </a:t>
                      </a:r>
                      <a:r>
                        <a:rPr lang="en-US" sz="2400" i="1" dirty="0" err="1"/>
                        <a:t>list.txt</a:t>
                      </a:r>
                      <a:r>
                        <a:rPr lang="en-US" sz="2400" dirty="0"/>
                        <a:t>, where each value is on its own line. </a:t>
                      </a:r>
                    </a:p>
                  </a:txBody>
                  <a:tcPr marL="90115" marR="901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828253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71844D-F932-AA45-B313-16EB0CD1D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35</a:t>
            </a:fld>
            <a:endParaRPr lang="en-US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5573F28C-8904-E885-AB08-B5D8F1523A18}"/>
              </a:ext>
            </a:extLst>
          </p:cNvPr>
          <p:cNvSpPr/>
          <p:nvPr/>
        </p:nvSpPr>
        <p:spPr bwMode="auto">
          <a:xfrm>
            <a:off x="44798" y="2698820"/>
            <a:ext cx="449912" cy="375139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875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A0B1-9E7E-2B41-B595-F1F32EEC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67367"/>
            <a:ext cx="11210365" cy="1325563"/>
          </a:xfrm>
        </p:spPr>
        <p:txBody>
          <a:bodyPr/>
          <a:lstStyle/>
          <a:p>
            <a:r>
              <a:rPr lang="en-US" sz="3600" dirty="0"/>
              <a:t>Other options: </a:t>
            </a:r>
            <a:r>
              <a:rPr lang="en-US" sz="3600" dirty="0">
                <a:latin typeface="Courier" pitchFamily="2" charset="0"/>
              </a:rPr>
              <a:t>queue …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F036-694F-E247-B8CA-EEDB9CEAA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Courier" pitchFamily="2" charset="0"/>
              </a:rPr>
              <a:t>Queue matching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/>
              <a:t>has options to select only files or directories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5A5D368-C53D-414B-9A8F-A223575F1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36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409CB-0C4C-B64A-B7A9-83C81B2DA546}"/>
              </a:ext>
            </a:extLst>
          </p:cNvPr>
          <p:cNvSpPr txBox="1"/>
          <p:nvPr/>
        </p:nvSpPr>
        <p:spPr>
          <a:xfrm>
            <a:off x="1588046" y="2089304"/>
            <a:ext cx="8710334" cy="461665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infile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matching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files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*.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dat</a:t>
            </a:r>
            <a:endParaRPr lang="en-US" sz="24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01F111-D140-3C4E-B449-B1947945E8DC}"/>
              </a:ext>
            </a:extLst>
          </p:cNvPr>
          <p:cNvSpPr txBox="1"/>
          <p:nvPr/>
        </p:nvSpPr>
        <p:spPr>
          <a:xfrm>
            <a:off x="1588046" y="2918400"/>
            <a:ext cx="8710334" cy="461665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</a:t>
            </a:r>
            <a:r>
              <a:rPr lang="en-US" sz="2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indirs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matching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dirs</a:t>
            </a:r>
            <a:r>
              <a:rPr lang="en-US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job*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C8B2F-F640-7974-3B14-12D0833C27EA}"/>
              </a:ext>
            </a:extLst>
          </p:cNvPr>
          <p:cNvSpPr txBox="1"/>
          <p:nvPr/>
        </p:nvSpPr>
        <p:spPr>
          <a:xfrm>
            <a:off x="2634343" y="4203920"/>
            <a:ext cx="6923314" cy="1815882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If you have questions about which queue statement would work best for </a:t>
            </a:r>
            <a:r>
              <a:rPr lang="en-US" sz="2800" i="1" dirty="0"/>
              <a:t>your</a:t>
            </a:r>
            <a:r>
              <a:rPr lang="en-US" sz="2800" dirty="0"/>
              <a:t> workflow, don’t hesitate to reach out to OSG staff this week!</a:t>
            </a:r>
          </a:p>
        </p:txBody>
      </p:sp>
    </p:spTree>
    <p:extLst>
      <p:ext uri="{BB962C8B-B14F-4D97-AF65-F5344CB8AC3E}">
        <p14:creationId xmlns:p14="http://schemas.microsoft.com/office/powerpoint/2010/main" val="35456809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1ED6-AE10-1240-85A2-89E58ED7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" pitchFamily="2" charset="0"/>
              </a:rPr>
              <a:t>Queue</a:t>
            </a:r>
            <a:r>
              <a:rPr lang="en-US" dirty="0"/>
              <a:t> options, pros and cons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781900-6DA7-8C4F-91F0-14820EC3E3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0301523"/>
              </p:ext>
            </p:extLst>
          </p:nvPr>
        </p:nvGraphicFramePr>
        <p:xfrm>
          <a:off x="838200" y="1699959"/>
          <a:ext cx="10515600" cy="4424959"/>
        </p:xfrm>
        <a:graphic>
          <a:graphicData uri="http://schemas.openxmlformats.org/drawingml/2006/table">
            <a:tbl>
              <a:tblPr bandCol="1">
                <a:tableStyleId>{616DA210-FB5B-4158-B5E0-FEB733F419BA}</a:tableStyleId>
              </a:tblPr>
              <a:tblGrid>
                <a:gridCol w="2745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0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1725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queue </a:t>
                      </a:r>
                      <a:r>
                        <a:rPr lang="en-US" sz="2000" b="1" i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N</a:t>
                      </a:r>
                    </a:p>
                  </a:txBody>
                  <a:tcPr>
                    <a:solidFill>
                      <a:srgbClr val="F1823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Arial"/>
                          <a:cs typeface="Arial"/>
                        </a:rPr>
                        <a:t>- Simple, good for multiple jobs that only require a numerical index.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353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queue matching </a:t>
                      </a:r>
                      <a:r>
                        <a:rPr lang="en-US" sz="2000" b="1" i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pattern*</a:t>
                      </a:r>
                    </a:p>
                  </a:txBody>
                  <a:tcPr>
                    <a:solidFill>
                      <a:srgbClr val="F1823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Arial"/>
                          <a:cs typeface="Arial"/>
                        </a:rPr>
                        <a:t>- Natural</a:t>
                      </a:r>
                      <a:r>
                        <a:rPr lang="en-US" sz="2200" baseline="0" dirty="0">
                          <a:latin typeface="Arial"/>
                          <a:cs typeface="Arial"/>
                        </a:rPr>
                        <a:t> nested looping, minimal programming, use optional “files” and “</a:t>
                      </a:r>
                      <a:r>
                        <a:rPr lang="en-US" sz="2200" baseline="0" dirty="0" err="1">
                          <a:latin typeface="Arial"/>
                          <a:cs typeface="Arial"/>
                        </a:rPr>
                        <a:t>dirs</a:t>
                      </a:r>
                      <a:r>
                        <a:rPr lang="en-US" sz="2200" baseline="0" dirty="0">
                          <a:latin typeface="Arial"/>
                          <a:cs typeface="Arial"/>
                        </a:rPr>
                        <a:t>” keywords to only match files or directories</a:t>
                      </a:r>
                    </a:p>
                    <a:p>
                      <a:r>
                        <a:rPr lang="en-US" sz="2200" baseline="0" dirty="0">
                          <a:latin typeface="Arial"/>
                          <a:cs typeface="Arial"/>
                        </a:rPr>
                        <a:t>- Requires good naming conventions. </a:t>
                      </a:r>
                    </a:p>
                    <a:p>
                      <a:pPr marL="342900" indent="-342900">
                        <a:spcAft>
                          <a:spcPts val="600"/>
                        </a:spcAft>
                        <a:buFontTx/>
                        <a:buChar char="-"/>
                      </a:pPr>
                      <a:endParaRPr lang="en-US" sz="900" baseline="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294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queue in (</a:t>
                      </a:r>
                      <a:r>
                        <a:rPr lang="en-US" sz="2000" b="1" i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list</a:t>
                      </a:r>
                      <a:r>
                        <a:rPr lang="en-US" sz="20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</a:p>
                  </a:txBody>
                  <a:tcPr>
                    <a:solidFill>
                      <a:srgbClr val="F1823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Arial"/>
                          <a:cs typeface="Arial"/>
                        </a:rPr>
                        <a:t>- All information contained in a single file, reproducible</a:t>
                      </a:r>
                    </a:p>
                    <a:p>
                      <a:r>
                        <a:rPr lang="en-US" sz="2200" dirty="0">
                          <a:latin typeface="Arial"/>
                          <a:cs typeface="Arial"/>
                        </a:rPr>
                        <a:t>- Harder to automate submit file creation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750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queue from </a:t>
                      </a:r>
                      <a:r>
                        <a:rPr lang="en-US" sz="2000" b="1" i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</a:rPr>
                        <a:t>file</a:t>
                      </a:r>
                    </a:p>
                  </a:txBody>
                  <a:tcPr>
                    <a:solidFill>
                      <a:srgbClr val="F1823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Arial"/>
                          <a:cs typeface="Arial"/>
                        </a:rPr>
                        <a:t>- Supports multiple variables, highly modular</a:t>
                      </a:r>
                      <a:r>
                        <a:rPr lang="en-US" sz="2200" baseline="0" dirty="0">
                          <a:latin typeface="Arial"/>
                          <a:cs typeface="Arial"/>
                        </a:rPr>
                        <a:t> (easy to use one submit file for many job batches), reproducible</a:t>
                      </a:r>
                    </a:p>
                    <a:p>
                      <a:r>
                        <a:rPr lang="en-US" sz="2200" baseline="0" dirty="0">
                          <a:latin typeface="Arial"/>
                          <a:cs typeface="Arial"/>
                        </a:rPr>
                        <a:t>- A</a:t>
                      </a:r>
                      <a:r>
                        <a:rPr lang="en-US" sz="2200" dirty="0">
                          <a:latin typeface="Arial"/>
                          <a:cs typeface="Arial"/>
                        </a:rPr>
                        <a:t>dditiona</a:t>
                      </a:r>
                      <a:r>
                        <a:rPr lang="en-US" sz="2200" baseline="0" dirty="0">
                          <a:latin typeface="Arial"/>
                          <a:cs typeface="Arial"/>
                        </a:rPr>
                        <a:t>l file needed</a:t>
                      </a:r>
                      <a:endParaRPr lang="en-US" sz="2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A30B0-379F-FE48-A34E-3F35B40EE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53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10687D-7E02-07C9-5A55-6F8CF11D9F09}"/>
              </a:ext>
            </a:extLst>
          </p:cNvPr>
          <p:cNvSpPr txBox="1">
            <a:spLocks/>
          </p:cNvSpPr>
          <p:nvPr/>
        </p:nvSpPr>
        <p:spPr bwMode="auto">
          <a:xfrm>
            <a:off x="1556241" y="2508738"/>
            <a:ext cx="9262533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hlink"/>
                </a:solidFill>
                <a:latin typeface="Arial"/>
                <a:ea typeface="+mj-ea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rgbClr val="00008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609445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6pPr>
            <a:lvl7pPr marL="1218886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7pPr>
            <a:lvl8pPr marL="1828330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8pPr>
            <a:lvl9pPr marL="2437772" algn="ctr" rtl="0" fontAlgn="base">
              <a:spcBef>
                <a:spcPct val="0"/>
              </a:spcBef>
              <a:spcAft>
                <a:spcPct val="0"/>
              </a:spcAft>
              <a:defRPr kumimoji="1" sz="4267">
                <a:solidFill>
                  <a:srgbClr val="000080"/>
                </a:solidFill>
                <a:latin typeface="Futura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lnSpc>
                <a:spcPct val="200000"/>
              </a:lnSpc>
            </a:pPr>
            <a:r>
              <a:rPr lang="en-US" kern="0" dirty="0"/>
              <a:t>Additional Thoughts</a:t>
            </a:r>
          </a:p>
        </p:txBody>
      </p:sp>
    </p:spTree>
    <p:extLst>
      <p:ext uri="{BB962C8B-B14F-4D97-AF65-F5344CB8AC3E}">
        <p14:creationId xmlns:p14="http://schemas.microsoft.com/office/powerpoint/2010/main" val="38629257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79D9-A5DF-D74F-84E7-A51372E0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08B5FF3-0CA0-B640-A788-F84704B83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39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C1DCA-E527-2644-ABE8-4B3036C5A656}"/>
              </a:ext>
            </a:extLst>
          </p:cNvPr>
          <p:cNvSpPr txBox="1"/>
          <p:nvPr/>
        </p:nvSpPr>
        <p:spPr>
          <a:xfrm>
            <a:off x="152400" y="1701031"/>
            <a:ext cx="11887200" cy="3046988"/>
          </a:xfrm>
          <a:prstGeom prst="rect">
            <a:avLst/>
          </a:prstGeom>
          <a:solidFill>
            <a:schemeClr val="tx1"/>
          </a:solidFill>
          <a:ln w="76200"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12181445_0.err  16058473_0.err  17381628_0.err  18159900_0.err  5175744_0.err  7266263_0.err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12181445_0.log  16058473_0.log  17381628_0.log  18159900_0.log  5175744_0.log  7266263_0.log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12181445_0.out  16058473_0.out  17381628_0.out  18159900_0.out  5175744_0.out  7266263_0.out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13609567_0.err  16060330_0.err  17381640_0.err  3446080_0.err   5176204_0.err  7266267_0.err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13609567_0.log  16060330_0.log  17381640_0.log  3446080_0.log   5176204_0.log  7266267_0.log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13609567_0.out  16060330_0.out  17381640_0.out  3446080_0.out   5176204_0.out  7266267_0.out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13612268_0.err  16254074_0.err  17381665_0.err  3446306_0.err   5295132_0.err  7937420_0.err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13612268_0.log  16254074_0.log  17381665_0.log  3446306_0.log   5295132_0.log  7937420_0.log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13612268_0.out  16254074_0.out  17381665_0.out  3446306_0.out   5295132_0.out  7937420_0.out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13630381_0.err  17134215_0.err  17381676_0.err  4347054_0.err   5318339_0.err  8779997_0.err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13630381_0.log  17134215_0.log  17381676_0.log  4347054_0.log   5318339_0.log  8779997_0.log</a:t>
            </a:r>
          </a:p>
          <a:p>
            <a:pPr algn="ctr"/>
            <a:r>
              <a:rPr lang="is-I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13630381_0.out  17134215_0.out  17381676_0.out  4347054_0.out   5318339_0.out  8779997_0.out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8038F8-3EBA-5140-90EB-FA1E75AD5295}"/>
              </a:ext>
            </a:extLst>
          </p:cNvPr>
          <p:cNvSpPr txBox="1"/>
          <p:nvPr/>
        </p:nvSpPr>
        <p:spPr>
          <a:xfrm>
            <a:off x="2060995" y="4885854"/>
            <a:ext cx="86821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i="1" dirty="0">
                <a:solidFill>
                  <a:srgbClr val="F18230"/>
                </a:solidFill>
              </a:rPr>
              <a:t>Many jobs means many files.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CB8696-4276-854F-24BB-71F4B2CC7BEF}"/>
              </a:ext>
            </a:extLst>
          </p:cNvPr>
          <p:cNvSpPr txBox="1"/>
          <p:nvPr/>
        </p:nvSpPr>
        <p:spPr>
          <a:xfrm>
            <a:off x="2580774" y="1086489"/>
            <a:ext cx="6966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kern="0" dirty="0"/>
              <a:t>(more on this later!)</a:t>
            </a:r>
          </a:p>
        </p:txBody>
      </p:sp>
    </p:spTree>
    <p:extLst>
      <p:ext uri="{BB962C8B-B14F-4D97-AF65-F5344CB8AC3E}">
        <p14:creationId xmlns:p14="http://schemas.microsoft.com/office/powerpoint/2010/main" val="1955312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989D-6708-A1F8-773C-EA916DDD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and Scale Up Slowly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0D474-6E57-1A98-C0E7-84D1B040D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Before submitting 1,000s of jobs, make sure 10 work!</a:t>
            </a:r>
          </a:p>
          <a:p>
            <a:r>
              <a:rPr lang="en-US" dirty="0"/>
              <a:t>Saves you time and hassle, and helps avoid wasted computing cycles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E7AF7-4797-46CC-0415-95683875B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61CB9-F43C-D62A-0534-0D608ED2C7D9}"/>
              </a:ext>
            </a:extLst>
          </p:cNvPr>
          <p:cNvSpPr txBox="1"/>
          <p:nvPr/>
        </p:nvSpPr>
        <p:spPr>
          <a:xfrm>
            <a:off x="2580774" y="1086489"/>
            <a:ext cx="6966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1" kern="0" dirty="0"/>
              <a:t>(more on this later!)</a:t>
            </a:r>
          </a:p>
        </p:txBody>
      </p:sp>
    </p:spTree>
    <p:extLst>
      <p:ext uri="{BB962C8B-B14F-4D97-AF65-F5344CB8AC3E}">
        <p14:creationId xmlns:p14="http://schemas.microsoft.com/office/powerpoint/2010/main" val="35383516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Watching Progress of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To get a live update of the progress of your jobs, use </a:t>
            </a:r>
            <a:r>
              <a:rPr lang="en-US" sz="3200" b="1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condor_watch_q</a:t>
            </a:r>
            <a:endParaRPr lang="en-US" sz="3200" b="1" dirty="0">
              <a:solidFill>
                <a:srgbClr val="FF000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CB3A46"/>
                </a:solidFill>
                <a:latin typeface="Courier"/>
                <a:cs typeface="Courier"/>
              </a:rPr>
              <a:t> </a:t>
            </a:r>
            <a:r>
              <a:rPr lang="en-US" sz="2400" b="1" dirty="0">
                <a:latin typeface="Courier"/>
                <a:cs typeface="Courier"/>
              </a:rPr>
              <a:t> </a:t>
            </a:r>
            <a:r>
              <a:rPr lang="en-US" sz="2400" dirty="0">
                <a:cs typeface="Arial"/>
              </a:rPr>
              <a:t>This command does an initial </a:t>
            </a:r>
            <a:r>
              <a:rPr lang="en-US" sz="2400" b="1" dirty="0" err="1">
                <a:solidFill>
                  <a:srgbClr val="000000"/>
                </a:solidFill>
                <a:latin typeface="Courier"/>
                <a:cs typeface="Courier"/>
              </a:rPr>
              <a:t>condor_q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/>
              <a:t>and then tracks the entries of 	the corresponding .log file(s)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039DA-6614-1A6A-666F-E45F2CA4F6A0}"/>
              </a:ext>
            </a:extLst>
          </p:cNvPr>
          <p:cNvSpPr/>
          <p:nvPr/>
        </p:nvSpPr>
        <p:spPr bwMode="auto">
          <a:xfrm>
            <a:off x="1747520" y="6400800"/>
            <a:ext cx="5588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n-US" sz="3200">
              <a:latin typeface="Arial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8531E-7344-4605-E32F-BDF757F9E5FF}"/>
              </a:ext>
            </a:extLst>
          </p:cNvPr>
          <p:cNvSpPr txBox="1"/>
          <p:nvPr/>
        </p:nvSpPr>
        <p:spPr>
          <a:xfrm>
            <a:off x="9195699" y="6543179"/>
            <a:ext cx="2432030" cy="253916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solidFill>
                  <a:srgbClr val="000000"/>
                </a:solidFill>
                <a:latin typeface="Arial"/>
                <a:cs typeface="Arial"/>
                <a:hlinkClick r:id="rId2"/>
              </a:rPr>
              <a:t>HTCondor Manual: </a:t>
            </a:r>
            <a:r>
              <a:rPr lang="en-US" sz="1050" dirty="0" err="1">
                <a:solidFill>
                  <a:srgbClr val="000000"/>
                </a:solidFill>
                <a:latin typeface="Arial"/>
                <a:cs typeface="Arial"/>
                <a:hlinkClick r:id="rId2"/>
              </a:rPr>
              <a:t>condor_watch_q</a:t>
            </a:r>
            <a:endParaRPr lang="en-US" sz="10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50F7B-04EA-3BC6-368E-593C58E249DF}"/>
              </a:ext>
            </a:extLst>
          </p:cNvPr>
          <p:cNvSpPr txBox="1"/>
          <p:nvPr/>
        </p:nvSpPr>
        <p:spPr>
          <a:xfrm>
            <a:off x="1543051" y="3434479"/>
            <a:ext cx="9442008" cy="2585323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Courier"/>
                <a:cs typeface="Courier"/>
              </a:rPr>
              <a:t>$ </a:t>
            </a:r>
            <a:r>
              <a:rPr lang="en-US" sz="1600" dirty="0" err="1">
                <a:solidFill>
                  <a:srgbClr val="FFFFFF"/>
                </a:solidFill>
                <a:latin typeface="Courier"/>
                <a:cs typeface="Courier"/>
              </a:rPr>
              <a:t>condor_watch_q</a:t>
            </a:r>
            <a:endParaRPr lang="en-US" sz="1600" dirty="0">
              <a:solidFill>
                <a:srgbClr val="FFFFFF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FF"/>
                </a:solidFill>
                <a:latin typeface="Courier"/>
                <a:cs typeface="Courier"/>
              </a:rPr>
              <a:t>BATCH        IDLE  RUN  DONE  TOTAL  JOB_IDS</a:t>
            </a:r>
          </a:p>
          <a:p>
            <a:r>
              <a:rPr lang="en-US" sz="1600" b="1" dirty="0">
                <a:solidFill>
                  <a:srgbClr val="00B0F0"/>
                </a:solidFill>
                <a:latin typeface="Courier"/>
                <a:cs typeface="Courier"/>
              </a:rPr>
              <a:t>ID: 129        3    4     3     10   129.0 ... 129.9</a:t>
            </a:r>
            <a:r>
              <a:rPr lang="en-US" sz="1600" b="1" dirty="0">
                <a:solidFill>
                  <a:srgbClr val="FFE269"/>
                </a:solidFill>
                <a:latin typeface="Courier"/>
                <a:cs typeface="Courier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Courier"/>
                <a:cs typeface="Courier"/>
              </a:rPr>
              <a:t>[</a:t>
            </a:r>
            <a:r>
              <a:rPr lang="en-US" sz="1600" b="1" dirty="0">
                <a:solidFill>
                  <a:srgbClr val="00CC00"/>
                </a:solidFill>
                <a:latin typeface="Courier"/>
                <a:cs typeface="Courier"/>
              </a:rPr>
              <a:t>######</a:t>
            </a:r>
            <a:r>
              <a:rPr lang="en-US" sz="1600" b="1" dirty="0">
                <a:solidFill>
                  <a:srgbClr val="00B0F0"/>
                </a:solidFill>
                <a:latin typeface="Courier"/>
                <a:cs typeface="Courier"/>
              </a:rPr>
              <a:t>========</a:t>
            </a:r>
            <a:r>
              <a:rPr lang="en-US" sz="1600" b="1" dirty="0">
                <a:solidFill>
                  <a:srgbClr val="FFE269"/>
                </a:solidFill>
                <a:latin typeface="Courier"/>
                <a:cs typeface="Courier"/>
              </a:rPr>
              <a:t>------</a:t>
            </a:r>
            <a:r>
              <a:rPr lang="en-US" sz="1600" dirty="0">
                <a:solidFill>
                  <a:srgbClr val="FFFFFF"/>
                </a:solidFill>
                <a:latin typeface="Courier"/>
                <a:cs typeface="Courier"/>
              </a:rPr>
              <a:t>]</a:t>
            </a:r>
          </a:p>
          <a:p>
            <a:endParaRPr lang="en-US" sz="1600" dirty="0">
              <a:solidFill>
                <a:srgbClr val="FFFFFF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FF"/>
                </a:solidFill>
                <a:latin typeface="Courier"/>
                <a:cs typeface="Courier"/>
              </a:rPr>
              <a:t>[</a:t>
            </a:r>
            <a:r>
              <a:rPr lang="en-US" sz="1600" b="1" dirty="0">
                <a:solidFill>
                  <a:srgbClr val="00CC00"/>
                </a:solidFill>
                <a:latin typeface="Courier"/>
                <a:cs typeface="Courier"/>
              </a:rPr>
              <a:t>######################</a:t>
            </a:r>
            <a:r>
              <a:rPr lang="en-US" sz="1600" b="1" dirty="0">
                <a:solidFill>
                  <a:srgbClr val="00B0F0"/>
                </a:solidFill>
                <a:latin typeface="Courier"/>
                <a:cs typeface="Courier"/>
              </a:rPr>
              <a:t>=============================</a:t>
            </a:r>
            <a:r>
              <a:rPr lang="en-US" sz="1600" b="1" dirty="0">
                <a:solidFill>
                  <a:srgbClr val="FFE269"/>
                </a:solidFill>
                <a:latin typeface="Courier"/>
                <a:cs typeface="Courier"/>
              </a:rPr>
              <a:t>----------------------</a:t>
            </a:r>
            <a:r>
              <a:rPr lang="en-US" sz="1600" dirty="0">
                <a:solidFill>
                  <a:srgbClr val="FFFFFF"/>
                </a:solidFill>
                <a:latin typeface="Courier"/>
                <a:cs typeface="Courier"/>
              </a:rPr>
              <a:t>]</a:t>
            </a:r>
          </a:p>
          <a:p>
            <a:endParaRPr lang="en-US" sz="1600" dirty="0">
              <a:solidFill>
                <a:srgbClr val="FFFFFF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FF"/>
                </a:solidFill>
                <a:latin typeface="Courier"/>
                <a:cs typeface="Courier"/>
              </a:rPr>
              <a:t>Total: 10 jobs; 3 completed, 4 idle, 3 running</a:t>
            </a:r>
          </a:p>
          <a:p>
            <a:endParaRPr lang="en-US" sz="1600" dirty="0">
              <a:solidFill>
                <a:srgbClr val="FFFFFF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FF"/>
                </a:solidFill>
                <a:latin typeface="Courier"/>
                <a:cs typeface="Courier"/>
              </a:rPr>
              <a:t>Updated at 2024-08-01 10:11:52</a:t>
            </a:r>
          </a:p>
          <a:p>
            <a:r>
              <a:rPr lang="en-US" sz="1600" dirty="0">
                <a:solidFill>
                  <a:srgbClr val="FFFFFF"/>
                </a:solidFill>
                <a:latin typeface="Courier"/>
                <a:cs typeface="Courier"/>
              </a:rPr>
              <a:t>Input ^C to exit</a:t>
            </a:r>
          </a:p>
        </p:txBody>
      </p:sp>
    </p:spTree>
    <p:extLst>
      <p:ext uri="{BB962C8B-B14F-4D97-AF65-F5344CB8AC3E}">
        <p14:creationId xmlns:p14="http://schemas.microsoft.com/office/powerpoint/2010/main" val="29843305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61407FC-B460-6841-BC16-4CAC66918F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221ABD4-1226-C549-AD6F-83AA01147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E28F6-B04A-D04C-8EC9-DAFF37C5DB2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HTCondor Week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546ED-4080-7E40-926E-275B3E2754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F5F0D6E2-F26A-CC43-90C8-073EE57DD11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66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38C0-552F-8D4B-8CF2-C139D778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E03A4-8104-8446-A56E-2A6F3A1C5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7731" y="1519417"/>
            <a:ext cx="714487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What varies? </a:t>
            </a:r>
          </a:p>
          <a:p>
            <a:pPr lvl="1"/>
            <a:r>
              <a:rPr lang="en-US" sz="3200" dirty="0"/>
              <a:t>Not much – just needs an index to keep simulation results separate. </a:t>
            </a:r>
          </a:p>
          <a:p>
            <a:pPr marL="0" indent="0">
              <a:buNone/>
            </a:pPr>
            <a:r>
              <a:rPr lang="en-US" sz="3200" b="1" dirty="0"/>
              <a:t>Use </a:t>
            </a:r>
            <a:r>
              <a:rPr lang="en-US" sz="3200" b="1" dirty="0">
                <a:latin typeface="Courier" pitchFamily="2" charset="0"/>
              </a:rPr>
              <a:t>queue N</a:t>
            </a:r>
          </a:p>
          <a:p>
            <a:pPr lvl="1"/>
            <a:r>
              <a:rPr lang="en-US" sz="3200" dirty="0"/>
              <a:t>Simple, built-in</a:t>
            </a:r>
          </a:p>
          <a:p>
            <a:pPr lvl="1"/>
            <a:r>
              <a:rPr lang="en-US" sz="3200" dirty="0"/>
              <a:t>No need for specific input values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F53D4-2659-AC48-B3E4-BDA72B46B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AD0A6F5-8319-EF8E-D2BA-4D2433CBA468}"/>
              </a:ext>
            </a:extLst>
          </p:cNvPr>
          <p:cNvGraphicFramePr>
            <a:graphicFrameLocks noGrp="1"/>
          </p:cNvGraphicFramePr>
          <p:nvPr/>
        </p:nvGraphicFramePr>
        <p:xfrm>
          <a:off x="1188852" y="1519417"/>
          <a:ext cx="2943761" cy="429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38528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Mei Monte Carlo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52337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30997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Needs to run many random simulations to model particles in a detector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7B3F051-A110-5C6F-ABDF-B3DC10D95A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28" t="4618" r="40572" b="53832"/>
          <a:stretch/>
        </p:blipFill>
        <p:spPr>
          <a:xfrm>
            <a:off x="1968846" y="2270433"/>
            <a:ext cx="1408488" cy="160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688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0D09-15BD-4249-B193-CFFD7840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45935-6D92-3341-A229-55BB52C8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1436" y="1567122"/>
            <a:ext cx="717176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What varies? </a:t>
            </a:r>
          </a:p>
          <a:p>
            <a:pPr lvl="1"/>
            <a:r>
              <a:rPr lang="en-US" sz="2800" dirty="0"/>
              <a:t>Five parameter combinations per job</a:t>
            </a:r>
          </a:p>
          <a:p>
            <a:pPr lvl="1"/>
            <a:r>
              <a:rPr lang="en-US" sz="2800" dirty="0"/>
              <a:t>Parameters are given as arguments to the executable</a:t>
            </a:r>
          </a:p>
          <a:p>
            <a:pPr marL="0" indent="0">
              <a:buNone/>
            </a:pPr>
            <a:r>
              <a:rPr lang="en-US" sz="2800" b="1" dirty="0"/>
              <a:t>Use </a:t>
            </a:r>
            <a:r>
              <a:rPr lang="en-US" sz="2800" b="1" dirty="0">
                <a:latin typeface="Courier" pitchFamily="2" charset="0"/>
              </a:rPr>
              <a:t>queue … from</a:t>
            </a:r>
          </a:p>
          <a:p>
            <a:pPr lvl="1"/>
            <a:r>
              <a:rPr lang="en-US" sz="2800" dirty="0"/>
              <a:t>queue from can accommodate multiple values per job</a:t>
            </a:r>
          </a:p>
          <a:p>
            <a:pPr lvl="1"/>
            <a:r>
              <a:rPr lang="en-US" sz="2800" dirty="0"/>
              <a:t>Easy to re-run combinations that fail by using subset of original list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967E3-8EED-E04F-A7CD-505CBA251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CF9D2B-1E26-D68B-E08D-C109D9BCB20D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1593555"/>
          <a:ext cx="2943761" cy="4298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3761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42751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Tamara Trials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Testing different design parameters for designing clinical trials.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FB35820-1C7E-3092-09EC-766133D341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173" t="4618" r="6502" b="53832"/>
          <a:stretch/>
        </p:blipFill>
        <p:spPr>
          <a:xfrm>
            <a:off x="1502030" y="2282786"/>
            <a:ext cx="1616101" cy="160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21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F1A18-5307-6041-AEB0-CA6A36D7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478DC-B8DC-F54C-93C5-B3AF463CE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776" y="1825625"/>
            <a:ext cx="7360024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What varies? </a:t>
            </a:r>
          </a:p>
          <a:p>
            <a:pPr lvl="1"/>
            <a:r>
              <a:rPr lang="en-US" dirty="0"/>
              <a:t>Each job analyzes one sample; each sample consists of two </a:t>
            </a:r>
            <a:r>
              <a:rPr lang="en-US" dirty="0" err="1"/>
              <a:t>fastq</a:t>
            </a:r>
            <a:r>
              <a:rPr lang="en-US" dirty="0"/>
              <a:t> files in a folder with a standard prefix. </a:t>
            </a:r>
          </a:p>
          <a:p>
            <a:pPr marL="0" indent="0">
              <a:buNone/>
            </a:pPr>
            <a:r>
              <a:rPr lang="en-US" b="1" dirty="0"/>
              <a:t>Use </a:t>
            </a:r>
            <a:r>
              <a:rPr lang="en-US" b="1" dirty="0">
                <a:latin typeface="Courier" pitchFamily="2" charset="0"/>
              </a:rPr>
              <a:t>queue … matching</a:t>
            </a:r>
          </a:p>
          <a:p>
            <a:pPr lvl="1"/>
            <a:r>
              <a:rPr lang="en-US" dirty="0"/>
              <a:t>Folders have a standard prefix, input files have standard suffix, easy to pattern match</a:t>
            </a:r>
          </a:p>
          <a:p>
            <a:pPr marL="0" indent="0">
              <a:buNone/>
            </a:pPr>
            <a:r>
              <a:rPr lang="en-US" b="1" dirty="0"/>
              <a:t>Good alternative: </a:t>
            </a:r>
            <a:r>
              <a:rPr lang="en-US" b="1" dirty="0">
                <a:latin typeface="Courier" pitchFamily="2" charset="0"/>
              </a:rPr>
              <a:t>queue … from</a:t>
            </a:r>
          </a:p>
          <a:p>
            <a:pPr lvl="1"/>
            <a:r>
              <a:rPr lang="en-US" dirty="0"/>
              <a:t>Provide list of folder names/file prefixes, construct paths in the submit file.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0AA0C-8B97-3E4F-BCD6-4663DD707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45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D857E35-39A3-DF2A-3E21-04E6F4D38CE7}"/>
              </a:ext>
            </a:extLst>
          </p:cNvPr>
          <p:cNvGraphicFramePr>
            <a:graphicFrameLocks noGrp="1"/>
          </p:cNvGraphicFramePr>
          <p:nvPr/>
        </p:nvGraphicFramePr>
        <p:xfrm>
          <a:off x="608261" y="1704765"/>
          <a:ext cx="3074052" cy="4298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405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42751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Ben Bioinformatics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103536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  <a:p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40920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Applying a quality control / processing pipeline to 20 RNA samples.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F5F5B4BB-3356-F1F2-50C1-2B999867C5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9" t="4618" r="69125" b="53832"/>
          <a:stretch/>
        </p:blipFill>
        <p:spPr>
          <a:xfrm>
            <a:off x="1328794" y="2374600"/>
            <a:ext cx="1808866" cy="160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230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7343-AD37-1A47-A4EB-0F2140AE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Tip: Organize with Directories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54F0DBF-F7F0-A24C-9176-905B36D66C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46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A2310C-7E9F-9045-83C3-9A45A9AE042A}"/>
              </a:ext>
            </a:extLst>
          </p:cNvPr>
          <p:cNvSpPr txBox="1"/>
          <p:nvPr/>
        </p:nvSpPr>
        <p:spPr>
          <a:xfrm>
            <a:off x="540141" y="2119913"/>
            <a:ext cx="7546955" cy="286232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 = ./analyze.sh </a:t>
            </a:r>
          </a:p>
          <a:p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input/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file$(Process).in,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			   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shared/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   =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logs/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job.$(Process).log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output/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job.$(Process).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stdout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 =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error/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job.$(Process).stderr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3360D9-7404-7B40-A161-F166514C214B}"/>
              </a:ext>
            </a:extLst>
          </p:cNvPr>
          <p:cNvSpPr txBox="1"/>
          <p:nvPr/>
        </p:nvSpPr>
        <p:spPr>
          <a:xfrm>
            <a:off x="8324603" y="1380924"/>
            <a:ext cx="3327256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submit_dir</a:t>
            </a:r>
            <a:r>
              <a:rPr lang="en-US" dirty="0">
                <a:latin typeface="Courier" pitchFamily="2" charset="0"/>
              </a:rPr>
              <a:t>/</a:t>
            </a: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jobs.submit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dirty="0" err="1">
                <a:latin typeface="Courier" pitchFamily="2" charset="0"/>
              </a:rPr>
              <a:t>analyze.sh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shared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/</a:t>
            </a:r>
          </a:p>
          <a:p>
            <a:r>
              <a:rPr lang="en-US" dirty="0">
                <a:latin typeface="Courier" pitchFamily="2" charset="0"/>
              </a:rPr>
              <a:t>    script1.sh</a:t>
            </a:r>
          </a:p>
          <a:p>
            <a:r>
              <a:rPr lang="en-US" dirty="0">
                <a:latin typeface="Courier" pitchFamily="2" charset="0"/>
              </a:rPr>
              <a:t>    </a:t>
            </a:r>
            <a:r>
              <a:rPr lang="en-US" dirty="0" err="1">
                <a:latin typeface="Courier" pitchFamily="2" charset="0"/>
              </a:rPr>
              <a:t>reference.dat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input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/</a:t>
            </a:r>
          </a:p>
          <a:p>
            <a:r>
              <a:rPr lang="en-US" dirty="0">
                <a:latin typeface="Courier" pitchFamily="2" charset="0"/>
              </a:rPr>
              <a:t>    file0.in</a:t>
            </a:r>
          </a:p>
          <a:p>
            <a:r>
              <a:rPr lang="en-US" dirty="0">
                <a:latin typeface="Courier" pitchFamily="2" charset="0"/>
              </a:rPr>
              <a:t>    ...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logs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/</a:t>
            </a:r>
          </a:p>
          <a:p>
            <a:r>
              <a:rPr lang="en-US" dirty="0">
                <a:latin typeface="Courier" pitchFamily="2" charset="0"/>
              </a:rPr>
              <a:t>    job.0.log</a:t>
            </a:r>
          </a:p>
          <a:p>
            <a:r>
              <a:rPr lang="en-US" dirty="0">
                <a:latin typeface="Courier" pitchFamily="2" charset="0"/>
              </a:rPr>
              <a:t>    ...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output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/</a:t>
            </a:r>
          </a:p>
          <a:p>
            <a:r>
              <a:rPr lang="en-US" dirty="0">
                <a:latin typeface="Courier" pitchFamily="2" charset="0"/>
              </a:rPr>
              <a:t>    job.0.stdout</a:t>
            </a:r>
          </a:p>
          <a:p>
            <a:r>
              <a:rPr lang="en-US" dirty="0">
                <a:latin typeface="Courier" pitchFamily="2" charset="0"/>
              </a:rPr>
              <a:t>    ...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error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pitchFamily="2" charset="0"/>
              </a:rPr>
              <a:t>/</a:t>
            </a:r>
          </a:p>
          <a:p>
            <a:r>
              <a:rPr lang="en-US" dirty="0">
                <a:latin typeface="Courier" pitchFamily="2" charset="0"/>
              </a:rPr>
              <a:t>    job.0.stderr</a:t>
            </a:r>
          </a:p>
          <a:p>
            <a:r>
              <a:rPr lang="en-US" dirty="0">
                <a:latin typeface="Courier" pitchFamily="2" charset="0"/>
              </a:rPr>
              <a:t>    ...</a:t>
            </a:r>
          </a:p>
        </p:txBody>
      </p:sp>
    </p:spTree>
    <p:extLst>
      <p:ext uri="{BB962C8B-B14F-4D97-AF65-F5344CB8AC3E}">
        <p14:creationId xmlns:p14="http://schemas.microsoft.com/office/powerpoint/2010/main" val="32741680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7343-AD37-1A47-A4EB-0F2140AE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Tip: Organize with Directories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54F0DBF-F7F0-A24C-9176-905B36D66C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A2310C-7E9F-9045-83C3-9A45A9AE042A}"/>
              </a:ext>
            </a:extLst>
          </p:cNvPr>
          <p:cNvSpPr txBox="1"/>
          <p:nvPr/>
        </p:nvSpPr>
        <p:spPr>
          <a:xfrm>
            <a:off x="540141" y="2119913"/>
            <a:ext cx="7546955" cy="286232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 = ./analyze.sh  </a:t>
            </a:r>
          </a:p>
          <a:p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input/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file$(Process).in,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			   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shared/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   =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logs/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job.$(Process).log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output/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job.$(Process).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stdout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 =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error/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job.$(Process).stderr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3360D9-7404-7B40-A161-F166514C214B}"/>
              </a:ext>
            </a:extLst>
          </p:cNvPr>
          <p:cNvSpPr txBox="1"/>
          <p:nvPr/>
        </p:nvSpPr>
        <p:spPr>
          <a:xfrm>
            <a:off x="8324603" y="1380924"/>
            <a:ext cx="3327256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submit_dir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jobs.submit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analyze.sh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shared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script1.sh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reference.dat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file0.in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...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job.0.log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...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job.0.stdout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...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job.0.stderr</a:t>
            </a:r>
          </a:p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D0901-9879-86F5-370B-EE91856B6850}"/>
              </a:ext>
            </a:extLst>
          </p:cNvPr>
          <p:cNvSpPr txBox="1"/>
          <p:nvPr/>
        </p:nvSpPr>
        <p:spPr>
          <a:xfrm>
            <a:off x="3556823" y="5337428"/>
            <a:ext cx="4530273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Transfer an entire directory (</a:t>
            </a:r>
            <a:r>
              <a:rPr lang="en-US" b="1" dirty="0"/>
              <a:t>shared</a:t>
            </a:r>
            <a:r>
              <a:rPr lang="en-US" dirty="0"/>
              <a:t>) </a:t>
            </a:r>
          </a:p>
          <a:p>
            <a:r>
              <a:rPr lang="en-US" dirty="0"/>
              <a:t>or just the contents of a directory (</a:t>
            </a:r>
            <a:r>
              <a:rPr lang="en-US" b="1" dirty="0"/>
              <a:t>shared/</a:t>
            </a:r>
            <a:r>
              <a:rPr lang="en-US" dirty="0"/>
              <a:t>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C6F158-C616-50FF-8FFE-70EA3A215FD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155324" y="3058510"/>
            <a:ext cx="666635" cy="2278918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2136853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088E-42B6-5274-42FC-1904AE512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301" y="114300"/>
            <a:ext cx="10773103" cy="1143000"/>
          </a:xfrm>
        </p:spPr>
        <p:txBody>
          <a:bodyPr/>
          <a:lstStyle/>
          <a:p>
            <a:r>
              <a:rPr lang="en-US" sz="4000" dirty="0"/>
              <a:t>Submit File Options for Organizing 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FF9FE7-D018-5B8E-7504-20DE9103B0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graphicFrame>
        <p:nvGraphicFramePr>
          <p:cNvPr id="6" name="Google Shape;305;p33">
            <a:extLst>
              <a:ext uri="{FF2B5EF4-FFF2-40B4-BE49-F238E27FC236}">
                <a16:creationId xmlns:a16="http://schemas.microsoft.com/office/drawing/2014/main" id="{02315810-2D62-D9BD-DB0C-6CEB08E1DB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0530615"/>
              </p:ext>
            </p:extLst>
          </p:nvPr>
        </p:nvGraphicFramePr>
        <p:xfrm>
          <a:off x="541724" y="1637520"/>
          <a:ext cx="11360800" cy="44042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84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3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6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/>
                        <a:t>Syntax</a:t>
                      </a:r>
                      <a:endParaRPr sz="1800" b="1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8230">
                        <a:alpha val="8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/>
                        <a:t>Purpose</a:t>
                      </a:r>
                      <a:endParaRPr sz="1800" b="1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8230">
                        <a:alpha val="8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/>
                        <a:t>Features</a:t>
                      </a:r>
                      <a:endParaRPr sz="1800" b="1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8230">
                        <a:alpha val="8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06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initialdir = path/to/initialDirectory</a:t>
                      </a:r>
                      <a:endParaRPr sz="1800" dirty="0">
                        <a:latin typeface="Cascadia Mono" panose="020B0609020000020004" pitchFamily="49" charset="0"/>
                        <a:ea typeface="Cascadia Mono" panose="020B0609020000020004" pitchFamily="49" charset="0"/>
                        <a:cs typeface="Cascadia Mono" panose="020B0609020000020004" pitchFamily="49" charset="0"/>
                        <a:sym typeface="Consolas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Sets the submission directory for each job</a:t>
                      </a:r>
                      <a:r>
                        <a:rPr lang="en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. When set, this is becomes the base path where output files will be saved.</a:t>
                      </a:r>
                      <a:endParaRPr sz="18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21900" marR="121900" marT="121900" marB="12190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/>
                        <a:t>- Used to submit multiple jobs from </a:t>
                      </a:r>
                      <a:r>
                        <a:rPr lang="en" sz="1800" b="1" dirty="0"/>
                        <a:t>different directories</a:t>
                      </a:r>
                      <a:endParaRPr sz="18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/>
                        <a:t>- Used to avoid having to write some paths in other submit file values</a:t>
                      </a:r>
                      <a:endParaRPr sz="1800" dirty="0"/>
                    </a:p>
                  </a:txBody>
                  <a:tcPr marL="121900" marR="121900" marT="121900" marB="12190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06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transfer_output_remaps = “</a:t>
                      </a:r>
                      <a:r>
                        <a:rPr lang="en" sz="18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file1.out</a:t>
                      </a:r>
                      <a:r>
                        <a:rPr lang="en" sz="18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=path/to/</a:t>
                      </a:r>
                      <a:r>
                        <a:rPr lang="en" sz="18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file1.out</a:t>
                      </a:r>
                      <a:r>
                        <a:rPr lang="en" sz="18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;</a:t>
                      </a:r>
                      <a:endParaRPr sz="1800" dirty="0">
                        <a:latin typeface="Cascadia Mono" panose="020B0609020000020004" pitchFamily="49" charset="0"/>
                        <a:ea typeface="Cascadia Mono" panose="020B0609020000020004" pitchFamily="49" charset="0"/>
                        <a:cs typeface="Cascadia Mono" panose="020B0609020000020004" pitchFamily="49" charset="0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file2.out</a:t>
                      </a:r>
                      <a:r>
                        <a:rPr lang="en" sz="18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=path/to/</a:t>
                      </a:r>
                      <a:r>
                        <a:rPr lang="en" sz="1800" b="1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renamedFile2</a:t>
                      </a:r>
                      <a:r>
                        <a:rPr lang="en" sz="1800" dirty="0">
                          <a:latin typeface="Cascadia Mono" panose="020B0609020000020004" pitchFamily="49" charset="0"/>
                          <a:ea typeface="Cascadia Mono" panose="020B0609020000020004" pitchFamily="49" charset="0"/>
                          <a:cs typeface="Cascadia Mono" panose="020B0609020000020004" pitchFamily="49" charset="0"/>
                          <a:sym typeface="Consolas"/>
                        </a:rPr>
                        <a:t>.out”</a:t>
                      </a:r>
                      <a:endParaRPr sz="1800" dirty="0">
                        <a:latin typeface="Cascadia Mono" panose="020B0609020000020004" pitchFamily="49" charset="0"/>
                        <a:ea typeface="Cascadia Mono" panose="020B0609020000020004" pitchFamily="49" charset="0"/>
                        <a:cs typeface="Cascadia Mono" panose="020B0609020000020004" pitchFamily="49" charset="0"/>
                        <a:sym typeface="Consolas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Used to </a:t>
                      </a:r>
                      <a:r>
                        <a:rPr lang="en" sz="1800" b="1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save output files to a specific path </a:t>
                      </a:r>
                      <a:r>
                        <a:rPr lang="en" sz="1800" dirty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and using a certain name</a:t>
                      </a:r>
                      <a:endParaRPr sz="18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21900" marR="121900" marT="121900" marB="12190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/>
                        <a:t>- Used to save output files to a </a:t>
                      </a:r>
                      <a:r>
                        <a:rPr lang="en" sz="1800" b="1" dirty="0"/>
                        <a:t>specific folder</a:t>
                      </a:r>
                      <a:endParaRPr sz="18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/>
                        <a:t>- Used to </a:t>
                      </a:r>
                      <a:r>
                        <a:rPr lang="en" sz="1800" b="1" dirty="0"/>
                        <a:t>rename</a:t>
                      </a:r>
                      <a:r>
                        <a:rPr lang="en" sz="1800" dirty="0"/>
                        <a:t> output files to avoid writing over existing files</a:t>
                      </a:r>
                      <a:endParaRPr sz="1800" dirty="0"/>
                    </a:p>
                  </a:txBody>
                  <a:tcPr marL="121900" marR="121900" marT="121900" marB="12190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74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3837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23FA-7A97-B343-8B6E-14E3125A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2" y="114300"/>
            <a:ext cx="10298325" cy="1143000"/>
          </a:xfrm>
        </p:spPr>
        <p:txBody>
          <a:bodyPr/>
          <a:lstStyle/>
          <a:p>
            <a:r>
              <a:rPr lang="en-US" sz="4000" dirty="0"/>
              <a:t>Job-specific directories with </a:t>
            </a:r>
            <a:r>
              <a:rPr lang="en-US" sz="4000" dirty="0" err="1">
                <a:latin typeface="Courier" pitchFamily="2" charset="0"/>
              </a:rPr>
              <a:t>initialdir</a:t>
            </a:r>
            <a:endParaRPr lang="en-US" sz="4000" dirty="0">
              <a:latin typeface="Courier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DB7BD-9FAF-A74C-8F97-75635C4A05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49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8EB537-B816-5C42-8F00-6346F0533D81}"/>
              </a:ext>
            </a:extLst>
          </p:cNvPr>
          <p:cNvSpPr txBox="1"/>
          <p:nvPr/>
        </p:nvSpPr>
        <p:spPr>
          <a:xfrm>
            <a:off x="603205" y="2785315"/>
            <a:ext cx="7546955" cy="2554545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./analyze.sh </a:t>
            </a:r>
          </a:p>
          <a:p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initialdir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job$(Process)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 =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job.stderr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8E2A4-516E-9D47-BE3C-992230D4470A}"/>
              </a:ext>
            </a:extLst>
          </p:cNvPr>
          <p:cNvSpPr txBox="1"/>
          <p:nvPr/>
        </p:nvSpPr>
        <p:spPr>
          <a:xfrm>
            <a:off x="8387667" y="2031263"/>
            <a:ext cx="3327256" cy="40626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submit_dir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jobs.submit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analyze.sh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job0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job.stderr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job1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job.stderr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job2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2F9C2-18BE-5233-A99D-B9B849A466DF}"/>
              </a:ext>
            </a:extLst>
          </p:cNvPr>
          <p:cNvSpPr txBox="1"/>
          <p:nvPr/>
        </p:nvSpPr>
        <p:spPr>
          <a:xfrm>
            <a:off x="540140" y="1586856"/>
            <a:ext cx="7847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0057"/>
                </a:solidFill>
              </a:rPr>
              <a:t>Use </a:t>
            </a:r>
            <a:r>
              <a:rPr lang="en-US" sz="2400" dirty="0" err="1">
                <a:solidFill>
                  <a:srgbClr val="20005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initialdir</a:t>
            </a:r>
            <a:r>
              <a:rPr lang="en-US" sz="2400" dirty="0">
                <a:solidFill>
                  <a:srgbClr val="200057"/>
                </a:solidFill>
              </a:rPr>
              <a:t> to </a:t>
            </a:r>
            <a:r>
              <a:rPr lang="en-US" sz="2400" dirty="0">
                <a:solidFill>
                  <a:srgbClr val="20005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 the submission directory.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005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All output files will be saved back to this directory. </a:t>
            </a:r>
            <a:endParaRPr lang="en-US" sz="2400" dirty="0">
              <a:solidFill>
                <a:srgbClr val="200057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CE0D1E-384D-6A23-A47F-96491D801BAC}"/>
              </a:ext>
            </a:extLst>
          </p:cNvPr>
          <p:cNvCxnSpPr/>
          <p:nvPr/>
        </p:nvCxnSpPr>
        <p:spPr bwMode="auto">
          <a:xfrm flipV="1">
            <a:off x="6842234" y="2885089"/>
            <a:ext cx="1828800" cy="509669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FAF684-90DB-35EC-850B-5E3581A7ABE3}"/>
              </a:ext>
            </a:extLst>
          </p:cNvPr>
          <p:cNvSpPr txBox="1"/>
          <p:nvPr/>
        </p:nvSpPr>
        <p:spPr>
          <a:xfrm>
            <a:off x="5597167" y="3378992"/>
            <a:ext cx="2380593" cy="14773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Executable should be in the directory with the submit file, </a:t>
            </a:r>
            <a:r>
              <a:rPr lang="en-US" b="1" dirty="0"/>
              <a:t>not</a:t>
            </a:r>
            <a:r>
              <a:rPr lang="en-US" dirty="0"/>
              <a:t> in the individual job directories.</a:t>
            </a:r>
          </a:p>
        </p:txBody>
      </p:sp>
    </p:spTree>
    <p:extLst>
      <p:ext uri="{BB962C8B-B14F-4D97-AF65-F5344CB8AC3E}">
        <p14:creationId xmlns:p14="http://schemas.microsoft.com/office/powerpoint/2010/main" val="39229193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34AB-7910-7641-ACB0-17E90322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184" y="-79718"/>
            <a:ext cx="10823369" cy="1325563"/>
          </a:xfrm>
        </p:spPr>
        <p:txBody>
          <a:bodyPr/>
          <a:lstStyle/>
          <a:p>
            <a:r>
              <a:rPr lang="en-US" dirty="0"/>
              <a:t>Send output to a specific directory</a:t>
            </a:r>
            <a:endParaRPr lang="en-US" dirty="0">
              <a:latin typeface="Courier" pitchFamily="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A964A7-97AA-364E-B503-85155B2A7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F0D6E2-F26A-CC43-90C8-073EE57DD11A}" type="slidenum">
              <a:rPr lang="en-US" smtClean="0"/>
              <a:t>50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0CA41-04D1-8B4E-9C36-BED015AFE589}"/>
              </a:ext>
            </a:extLst>
          </p:cNvPr>
          <p:cNvSpPr txBox="1"/>
          <p:nvPr/>
        </p:nvSpPr>
        <p:spPr>
          <a:xfrm>
            <a:off x="618412" y="3562450"/>
            <a:ext cx="9451864" cy="2862322"/>
          </a:xfrm>
          <a:prstGeom prst="rect">
            <a:avLst/>
          </a:prstGeom>
          <a:solidFill>
            <a:srgbClr val="F3E5C7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                = ./analyze.sh 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arguments             =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= input/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job.out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transfer_output_remaps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“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file.out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file.out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”</a:t>
            </a:r>
          </a:p>
          <a:p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B2EDB-41AB-C641-A2F0-25A4245C4F49}"/>
              </a:ext>
            </a:extLst>
          </p:cNvPr>
          <p:cNvSpPr txBox="1"/>
          <p:nvPr/>
        </p:nvSpPr>
        <p:spPr>
          <a:xfrm>
            <a:off x="8406648" y="2172165"/>
            <a:ext cx="3327256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submit_dir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jobs.submit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analyze.sh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input/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file.in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output/</a:t>
            </a:r>
          </a:p>
          <a:p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20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file.out</a:t>
            </a:r>
            <a:endParaRPr lang="en-US" sz="2000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B39196-705C-2291-B5BE-D0B73D32A561}"/>
              </a:ext>
            </a:extLst>
          </p:cNvPr>
          <p:cNvSpPr txBox="1"/>
          <p:nvPr/>
        </p:nvSpPr>
        <p:spPr>
          <a:xfrm>
            <a:off x="618412" y="1297464"/>
            <a:ext cx="72126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0005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Reminder</a:t>
            </a:r>
            <a:r>
              <a:rPr lang="en-US" sz="2400" dirty="0">
                <a:solidFill>
                  <a:srgbClr val="20005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by default, </a:t>
            </a:r>
            <a:r>
              <a:rPr lang="en-US" sz="2400" dirty="0" err="1">
                <a:solidFill>
                  <a:srgbClr val="20005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HTCondor</a:t>
            </a:r>
            <a:r>
              <a:rPr lang="en-US" sz="2400" dirty="0">
                <a:solidFill>
                  <a:srgbClr val="20005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transfers all files back to the submission directory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005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</a:t>
            </a:r>
            <a:r>
              <a:rPr lang="en-US" sz="2400" dirty="0" err="1">
                <a:solidFill>
                  <a:srgbClr val="200057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transfer_output_remaps</a:t>
            </a:r>
            <a:r>
              <a:rPr lang="en-US" sz="2400" dirty="0">
                <a:solidFill>
                  <a:srgbClr val="200057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0005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save output files to a specific path and using a certain name to avoid a cluttered workspace/ writing over other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664867"/>
      </p:ext>
    </p:extLst>
  </p:cSld>
  <p:clrMapOvr>
    <a:masterClrMapping/>
  </p:clrMapOvr>
</p:sld>
</file>

<file path=ppt/theme/theme1.xml><?xml version="1.0" encoding="utf-8"?>
<a:theme xmlns:a="http://schemas.openxmlformats.org/drawingml/2006/main" name="OSG-Summer-School-Template">
  <a:themeElements>
    <a:clrScheme name="">
      <a:dk1>
        <a:srgbClr val="000000"/>
      </a:dk1>
      <a:lt1>
        <a:srgbClr val="FFFFFF"/>
      </a:lt1>
      <a:dk2>
        <a:srgbClr val="23005F"/>
      </a:dk2>
      <a:lt2>
        <a:srgbClr val="808080"/>
      </a:lt2>
      <a:accent1>
        <a:srgbClr val="C70000"/>
      </a:accent1>
      <a:accent2>
        <a:srgbClr val="5554FF"/>
      </a:accent2>
      <a:accent3>
        <a:srgbClr val="FFFFFF"/>
      </a:accent3>
      <a:accent4>
        <a:srgbClr val="000000"/>
      </a:accent4>
      <a:accent5>
        <a:srgbClr val="E0AAAA"/>
      </a:accent5>
      <a:accent6>
        <a:srgbClr val="4C4BE7"/>
      </a:accent6>
      <a:hlink>
        <a:srgbClr val="111A99"/>
      </a:hlink>
      <a:folHlink>
        <a:srgbClr val="99CC00"/>
      </a:folHlink>
    </a:clrScheme>
    <a:fontScheme name="Japanese Art">
      <a:majorFont>
        <a:latin typeface="Futura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Japanese Art 1">
        <a:dk1>
          <a:srgbClr val="000000"/>
        </a:dk1>
        <a:lt1>
          <a:srgbClr val="D9C641"/>
        </a:lt1>
        <a:dk2>
          <a:srgbClr val="23005F"/>
        </a:dk2>
        <a:lt2>
          <a:srgbClr val="808080"/>
        </a:lt2>
        <a:accent1>
          <a:srgbClr val="C70000"/>
        </a:accent1>
        <a:accent2>
          <a:srgbClr val="5554FF"/>
        </a:accent2>
        <a:accent3>
          <a:srgbClr val="E9DFB0"/>
        </a:accent3>
        <a:accent4>
          <a:srgbClr val="000000"/>
        </a:accent4>
        <a:accent5>
          <a:srgbClr val="E0AAAA"/>
        </a:accent5>
        <a:accent6>
          <a:srgbClr val="4C4BE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19743</TotalTime>
  <Words>3791</Words>
  <Application>Microsoft Office PowerPoint</Application>
  <PresentationFormat>Widescreen</PresentationFormat>
  <Paragraphs>704</Paragraphs>
  <Slides>50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Courier</vt:lpstr>
      <vt:lpstr>Futura</vt:lpstr>
      <vt:lpstr>Helvetica Neue</vt:lpstr>
      <vt:lpstr>Arial</vt:lpstr>
      <vt:lpstr>Arial Narrow</vt:lpstr>
      <vt:lpstr>Calibri</vt:lpstr>
      <vt:lpstr>Cascadia Mono</vt:lpstr>
      <vt:lpstr>Consolas</vt:lpstr>
      <vt:lpstr>Symbol</vt:lpstr>
      <vt:lpstr>Times</vt:lpstr>
      <vt:lpstr>Wingdings</vt:lpstr>
      <vt:lpstr>OSG-Summer-School-Template</vt:lpstr>
      <vt:lpstr>Submitting Multiple Jobs With HTCondor</vt:lpstr>
      <vt:lpstr>Objectives</vt:lpstr>
      <vt:lpstr>Why multiple jobs? </vt:lpstr>
      <vt:lpstr>Why multiple jobs? </vt:lpstr>
      <vt:lpstr>Why multiple jobs? </vt:lpstr>
      <vt:lpstr>Why multiple jobs? </vt:lpstr>
      <vt:lpstr>Why multiple jobs? </vt:lpstr>
      <vt:lpstr>Many jobs, one submit file</vt:lpstr>
      <vt:lpstr>Let’s review: one job</vt:lpstr>
      <vt:lpstr>Let’s review: one job</vt:lpstr>
      <vt:lpstr>Let’s review: one job</vt:lpstr>
      <vt:lpstr>Let’s review: one job</vt:lpstr>
      <vt:lpstr>Job Example</vt:lpstr>
      <vt:lpstr>Submitting Multiple Jobs</vt:lpstr>
      <vt:lpstr>Submitting Multiple Jobs</vt:lpstr>
      <vt:lpstr>Variable and queue options</vt:lpstr>
      <vt:lpstr>Variable and queue options</vt:lpstr>
      <vt:lpstr>PowerPoint Presentation</vt:lpstr>
      <vt:lpstr>Example 1</vt:lpstr>
      <vt:lpstr>Provide a list of values with queue … from</vt:lpstr>
      <vt:lpstr>Which job components vary? </vt:lpstr>
      <vt:lpstr>Use multiple variables with queue … from</vt:lpstr>
      <vt:lpstr>Use multiple variables with queue … from</vt:lpstr>
      <vt:lpstr>PowerPoint Presentation</vt:lpstr>
      <vt:lpstr>List of numerical input values</vt:lpstr>
      <vt:lpstr>List of numerical input values</vt:lpstr>
      <vt:lpstr>Provide a list of integer values with queue N</vt:lpstr>
      <vt:lpstr>Provide a list of integer values with queue N</vt:lpstr>
      <vt:lpstr>Which job components vary? </vt:lpstr>
      <vt:lpstr>HTCondor Automatic Variables</vt:lpstr>
      <vt:lpstr>Use $(Process) as the variable</vt:lpstr>
      <vt:lpstr>Submitting Jobs</vt:lpstr>
      <vt:lpstr>Other options: queue N</vt:lpstr>
      <vt:lpstr>Other Options for Submitting Multiple Jobs</vt:lpstr>
      <vt:lpstr>Variable and queue options</vt:lpstr>
      <vt:lpstr>Other options: queue … matching</vt:lpstr>
      <vt:lpstr>Queue options, pros and cons</vt:lpstr>
      <vt:lpstr>PowerPoint Presentation</vt:lpstr>
      <vt:lpstr>Organization</vt:lpstr>
      <vt:lpstr>Test and Scale Up Slowly</vt:lpstr>
      <vt:lpstr>Watching Progress of Jobs</vt:lpstr>
      <vt:lpstr>Questions?</vt:lpstr>
      <vt:lpstr>Case Study 1</vt:lpstr>
      <vt:lpstr>Case Study 2 </vt:lpstr>
      <vt:lpstr>Case Study 3 </vt:lpstr>
      <vt:lpstr>Tip: Organize with Directories</vt:lpstr>
      <vt:lpstr>Tip: Organize with Directories</vt:lpstr>
      <vt:lpstr>Submit File Options for Organizing Files</vt:lpstr>
      <vt:lpstr>Job-specific directories with initialdir</vt:lpstr>
      <vt:lpstr>Send output to a specific directory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Submitting Multiple Jobs</dc:title>
  <dc:creator>Christina Koch</dc:creator>
  <cp:lastModifiedBy>Amber Lim</cp:lastModifiedBy>
  <cp:revision>201</cp:revision>
  <dcterms:created xsi:type="dcterms:W3CDTF">2020-05-13T19:40:58Z</dcterms:created>
  <dcterms:modified xsi:type="dcterms:W3CDTF">2026-07-13T04:59:40Z</dcterms:modified>
</cp:coreProperties>
</file>
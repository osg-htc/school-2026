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326" r:id="rId3"/>
    <p:sldId id="338" r:id="rId4"/>
    <p:sldId id="339" r:id="rId5"/>
    <p:sldId id="340" r:id="rId6"/>
    <p:sldId id="341" r:id="rId7"/>
    <p:sldId id="322" r:id="rId8"/>
    <p:sldId id="327" r:id="rId9"/>
    <p:sldId id="323" r:id="rId10"/>
    <p:sldId id="262" r:id="rId11"/>
    <p:sldId id="334" r:id="rId12"/>
    <p:sldId id="337" r:id="rId13"/>
    <p:sldId id="259" r:id="rId14"/>
    <p:sldId id="329" r:id="rId15"/>
    <p:sldId id="330" r:id="rId16"/>
    <p:sldId id="331" r:id="rId17"/>
    <p:sldId id="332" r:id="rId18"/>
    <p:sldId id="344" r:id="rId19"/>
    <p:sldId id="345" r:id="rId20"/>
    <p:sldId id="346" r:id="rId21"/>
    <p:sldId id="335" r:id="rId22"/>
    <p:sldId id="343" r:id="rId23"/>
    <p:sldId id="33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701"/>
  </p:normalViewPr>
  <p:slideViewPr>
    <p:cSldViewPr snapToGrid="0">
      <p:cViewPr varScale="1">
        <p:scale>
          <a:sx n="110" d="100"/>
          <a:sy n="110" d="100"/>
        </p:scale>
        <p:origin x="8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EBBA53-B5BE-E248-AF58-61B76F9411E7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1E174-8050-8D48-9552-B73FC7F9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5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882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508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7899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90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98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06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989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22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81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E174-8050-8D48-9552-B73FC7F9B5B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2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D0510-9967-D6EE-1824-835D6A2CE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4266ED-D85E-E39D-B997-20647FDCA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C6C9E-C459-43C9-0CB1-66F2919B1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5" y="6356349"/>
            <a:ext cx="137240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DA660C-AD86-1B60-B3FE-CE8E32EF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8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8C42D-D167-486B-7489-67B958F5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15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F51BE-00B3-93E0-8896-B19320177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622EE-7943-E4C1-7057-0B80B1CBE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F9D8F-2DF8-58C9-123A-52C647970D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50"/>
            <a:ext cx="1372402" cy="365125"/>
          </a:xfrm>
          <a:prstGeom prst="rect">
            <a:avLst/>
          </a:prstGeom>
        </p:spPr>
        <p:txBody>
          <a:bodyPr/>
          <a:lstStyle>
            <a:lvl1pPr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r>
              <a:rPr lang="en-US"/>
              <a:t>7/13/2026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96FDC-0641-C52F-CA2E-C92B5207A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3387291" cy="365125"/>
          </a:xfrm>
          <a:prstGeom prst="rect">
            <a:avLst/>
          </a:prstGeom>
        </p:spPr>
        <p:txBody>
          <a:bodyPr/>
          <a:lstStyle>
            <a:lvl1pPr algn="l"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r>
              <a:rPr lang="en-US" dirty="0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754D3-6195-292F-ABB9-E19F3A0BF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3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30015-5AC9-8409-A7B7-1929AA760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E9A6F-3ED0-3BC5-0608-0EE82E701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4070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338A60-7159-D427-7A47-8A430F80B4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50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A7D2B-1B11-2E21-54C4-90EE07779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1850" y="6356349"/>
            <a:ext cx="3385426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455EC-3918-5482-5A76-B4253B69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84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BF36F-6D1A-AADD-7E67-237DCDE8D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08E27-59D9-C97E-D984-C5379428FA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170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F69D23-E31B-3D09-1F4F-7FA782FBF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170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CF26DB-54C8-8F1B-B0ED-3FCEC5CF6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50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66981-DDD1-6FAE-C735-6184D5EAA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B4345F-E05D-18C7-94CC-A771A5535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9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9D216-8E16-FD48-8F7F-157BCADBC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53D6E-3A3C-39BE-53DF-E2F3EB468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9EFE85-9347-91E6-9CD7-524FFD133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80013" cy="34818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051138-A469-FC15-0345-1A551D15A1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3CC10-97C9-D5C0-827C-FAD44871A3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818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343BDD-FB4B-A61D-2940-1A4F71DB6E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49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A259F3-9565-25D9-910C-B21F0403C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1" y="6356349"/>
            <a:ext cx="3379076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F0AEC3-709E-ACC5-0AAB-FD51F8EDB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239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A6AB5-FB77-4B9F-2EB3-97F94724B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EF2B52-6628-A1E4-C026-25A2E063F5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49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1BAC22-F278-E00B-DD44-4D4FC3C1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8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3BC01B-369A-FC53-6F78-59AD77BEA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90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ED4E2D-F97E-4BC7-2C08-75020487A1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798" y="6356348"/>
            <a:ext cx="13716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6FDBA-1024-B714-8932-C7C93A43F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8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52985-70BA-918C-E44C-6F338680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11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2E92F-FA53-AA6E-1A45-A3AF0FDB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B4BF7-9A52-420C-0233-A7110DC1D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6A3A82-40EC-4A59-3F8B-BD6DBF7294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28947-BF14-AAD6-6A92-24A60B811D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798" y="6356350"/>
            <a:ext cx="13716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27B19-B6B0-E417-B6FB-8C005D8FB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148155-AABA-1F83-647F-E9CB486FB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4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5956-ECBE-AC91-321E-D52BE6D1C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096A46-DB89-15CD-430C-0C7AC4C806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F5A15-5212-A99F-9CF1-BA822ECED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0CCE9C-9BDD-82F5-572C-26B94334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49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65C313-EB9C-23EB-8BB4-D7CCA373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8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48B9C-5FFC-A52D-E102-DA4A41555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650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214E-5575-8341-CFF4-F95A78E0D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1BAD6-CDEC-F387-5B62-93386A3DC1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670F6-C1A8-7A83-78DE-7B3ECAD97E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60026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4C49B-BDD6-2872-C7AA-1E186200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0A0D1-23F6-8F38-37A2-B30B94122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23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993409-2D0D-4D12-0799-8434BC22CE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6410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EFCAB7-C2D0-F15A-ED6B-37C92D981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6410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FBE4D-B891-F643-5346-02884BDDCF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996" y="6356350"/>
            <a:ext cx="1372402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DD6062-88C1-9658-669F-35FB170D7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50"/>
            <a:ext cx="3387291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CCEEE-5278-49E0-2AB8-0F949748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248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5AA8C0-931D-F732-39B4-3B44F6852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28BFB8-2476-6BE1-E058-A18FA9CD9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70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E9A7D-8C82-3EDD-3922-D80EDAF60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1370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r>
              <a:rPr lang="en-US"/>
              <a:t>7/13/2026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83736-57DA-9A35-6B3E-A93674611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33872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r>
              <a:rPr lang="en-US"/>
              <a:t>OSG School 2026 - HTC Intro 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017C3-8B63-9605-9321-1F70010B6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1398" y="6356350"/>
            <a:ext cx="13724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lumMod val="85000"/>
                    <a:lumOff val="15000"/>
                  </a:schemeClr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defRPr>
            </a:lvl1pPr>
          </a:lstStyle>
          <a:p>
            <a:fld id="{F6C440DE-4232-F343-8CB0-BB1B0BB80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Helvetica Neue Light" panose="02000403000000020004" pitchFamily="2" charset="0"/>
          <a:ea typeface="Helvetica Neue Light" panose="020004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osg-htc.org/documentation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rtal.osg-htc.org/" TargetMode="External"/><Relationship Id="rId4" Type="http://schemas.openxmlformats.org/officeDocument/2006/relationships/hyperlink" Target="https://portal.osg-htc.org/documentation/overview/account_setup/is-it-for-you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osg-htc.org/school-2026/materials/#the-open-science-pool-ospoo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rtal.osg-htc.org/" TargetMode="External"/><Relationship Id="rId5" Type="http://schemas.openxmlformats.org/officeDocument/2006/relationships/hyperlink" Target="https://portal.osg-htc.org/documentation/overview/account_setup/is-it-for-you/" TargetMode="External"/><Relationship Id="rId4" Type="http://schemas.openxmlformats.org/officeDocument/2006/relationships/hyperlink" Target="https://portal.osg-htc.org/documentation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osg-htc.org/school-2026/materials/#intro-to-htcondor-job-execution" TargetMode="External"/><Relationship Id="rId7" Type="http://schemas.openxmlformats.org/officeDocument/2006/relationships/hyperlink" Target="https://portal.osg-htc.org/documentation/htc_workloads/workload_planning/roadma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rtal.osg-htc.org/documentation/" TargetMode="External"/><Relationship Id="rId5" Type="http://schemas.openxmlformats.org/officeDocument/2006/relationships/hyperlink" Target="https://osg-htc.org/school-2026/materials/#workflows-with-dagman" TargetMode="External"/><Relationship Id="rId4" Type="http://schemas.openxmlformats.org/officeDocument/2006/relationships/hyperlink" Target="https://osg-htc.org/school-2026/materials/#troubleshooting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osg-htc.org/school-2026/materials/#softwar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rtal.osg-htc.org/documentation/htc_workloads/workload_planning/roadmap/" TargetMode="External"/><Relationship Id="rId5" Type="http://schemas.openxmlformats.org/officeDocument/2006/relationships/hyperlink" Target="https://portal.osg-htc.org/documentation/" TargetMode="External"/><Relationship Id="rId4" Type="http://schemas.openxmlformats.org/officeDocument/2006/relationships/hyperlink" Target="https://osg-htc.org/school-2026/materials/#data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carpentries-incubator.github.io/docker-introduction/" TargetMode="External"/><Relationship Id="rId3" Type="http://schemas.openxmlformats.org/officeDocument/2006/relationships/hyperlink" Target="https://portal.osg-htc.org/documentation/" TargetMode="External"/><Relationship Id="rId7" Type="http://schemas.openxmlformats.org/officeDocument/2006/relationships/hyperlink" Target="http://www2.stat.duke.edu/~rcs46/lectures_2015/01-markdown-git/slides/naming-slides/naming-slides.pdf" TargetMode="External"/><Relationship Id="rId2" Type="http://schemas.openxmlformats.org/officeDocument/2006/relationships/hyperlink" Target="https://osg-htc.org/school-2026/material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wcarpentry.github.io/git-novice/" TargetMode="External"/><Relationship Id="rId5" Type="http://schemas.openxmlformats.org/officeDocument/2006/relationships/hyperlink" Target="https://swcarpentry.github.io/shell-novice/" TargetMode="External"/><Relationship Id="rId4" Type="http://schemas.openxmlformats.org/officeDocument/2006/relationships/hyperlink" Target="https://portal.osg-htc.org/documentation/support_and_training/training/materials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.wisc.edu/4b3k15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350D5-3FA4-7677-9601-27BF80069D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High Throughput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AF47EE-0175-91C3-703B-D477FF4B9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Christina Koch</a:t>
            </a:r>
          </a:p>
          <a:p>
            <a:r>
              <a:rPr lang="en-US" dirty="0"/>
              <a:t>OSG School 2026</a:t>
            </a:r>
          </a:p>
          <a:p>
            <a:r>
              <a:rPr lang="en-US" dirty="0"/>
              <a:t>July 13, 2026</a:t>
            </a:r>
          </a:p>
        </p:txBody>
      </p:sp>
    </p:spTree>
    <p:extLst>
      <p:ext uri="{BB962C8B-B14F-4D97-AF65-F5344CB8AC3E}">
        <p14:creationId xmlns:p14="http://schemas.microsoft.com/office/powerpoint/2010/main" val="98763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78F83-6D3A-671A-293D-2D090B07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422A02-F588-ED01-49EA-66D207258D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0F436-64D3-D808-2D15-8EEDA2687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2B139D-001A-D45B-2C8D-341AFC2B0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BB60-E906-1375-5E2F-9B36A5CAC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389920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AFA18-B6E3-0C81-ECB4-18C6DD12E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Researcher #1</a:t>
            </a:r>
          </a:p>
        </p:txBody>
      </p:sp>
      <p:pic>
        <p:nvPicPr>
          <p:cNvPr id="13" name="Content Placeholder 12" descr="A person holding a test tube with a flower inside&#10;&#10;Description automatically generated">
            <a:extLst>
              <a:ext uri="{FF2B5EF4-FFF2-40B4-BE49-F238E27FC236}">
                <a16:creationId xmlns:a16="http://schemas.microsoft.com/office/drawing/2014/main" id="{9AE9FFC7-835E-37C7-0505-F7C0F7D4975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84276" y="2099876"/>
            <a:ext cx="4008248" cy="2658248"/>
          </a:xfr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A24C1-9508-1884-8C53-3A27E39CF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B6B980-B393-8A78-363B-B193C572D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0CBA12-A50D-196A-29ED-3FC640887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3</a:t>
            </a:fld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FD35480-1836-4681-287A-E17F90989C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99875"/>
            <a:ext cx="5181600" cy="3896663"/>
          </a:xfrm>
        </p:spPr>
        <p:txBody>
          <a:bodyPr/>
          <a:lstStyle/>
          <a:p>
            <a:pPr rtl="0" fontAlgn="base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New research student</a:t>
            </a:r>
          </a:p>
          <a:p>
            <a:pPr rtl="0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Working in plant pathology lab, studying plant genomes</a:t>
            </a:r>
          </a:p>
          <a:p>
            <a:pPr rtl="0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Can run first step of pipeline on one sample</a:t>
            </a:r>
          </a:p>
          <a:p>
            <a:pPr rtl="0" fontAlgn="base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dirty="0"/>
              <a:t>Now has 50 samples to run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62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FAD95-8E6B-D863-253F-333329FF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Researcher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343B-5855-C3A9-691B-E24520743A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Starting master’s project</a:t>
            </a:r>
          </a:p>
          <a:p>
            <a:r>
              <a:rPr lang="en-US" dirty="0"/>
              <a:t>Using self-written model which predicts accuracy of a medical trial design</a:t>
            </a:r>
          </a:p>
          <a:p>
            <a:r>
              <a:rPr lang="en-US" dirty="0"/>
              <a:t>Model takes 3-4 hours to run</a:t>
            </a:r>
          </a:p>
          <a:p>
            <a:r>
              <a:rPr lang="en-US" dirty="0"/>
              <a:t>Want to test many designs (each design is expressed as a combination of parameters)</a:t>
            </a:r>
          </a:p>
        </p:txBody>
      </p:sp>
      <p:pic>
        <p:nvPicPr>
          <p:cNvPr id="9" name="Content Placeholder 8" descr="A person holding a computer&#10;&#10;Description automatically generated">
            <a:extLst>
              <a:ext uri="{FF2B5EF4-FFF2-40B4-BE49-F238E27FC236}">
                <a16:creationId xmlns:a16="http://schemas.microsoft.com/office/drawing/2014/main" id="{A9B83A78-DA73-EA47-9649-2A4741EEB9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64350" y="2215603"/>
            <a:ext cx="4239966" cy="2826644"/>
          </a:xfr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FFF8C-C6AA-80B9-C344-56312F74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689B4-E9D8-93C4-8C8E-616654DA3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53F89-3F5D-E9D0-3186-264A862F6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73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089B-2413-FEF4-90CD-BAE061106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Researcher #3</a:t>
            </a:r>
          </a:p>
        </p:txBody>
      </p:sp>
      <p:pic>
        <p:nvPicPr>
          <p:cNvPr id="9" name="Content Placeholder 8" descr="A person sitting in front of several monitors&#10;&#10;Description automatically generated">
            <a:extLst>
              <a:ext uri="{FF2B5EF4-FFF2-40B4-BE49-F238E27FC236}">
                <a16:creationId xmlns:a16="http://schemas.microsoft.com/office/drawing/2014/main" id="{9022C556-8CDC-B9DA-66B4-A4D3061AA8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01435" y="2257064"/>
            <a:ext cx="4357307" cy="2889742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4F191A-DCCD-1D27-7381-6C1AF485EB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Member of a large physics collaboration</a:t>
            </a:r>
          </a:p>
          <a:p>
            <a:r>
              <a:rPr lang="en-US" dirty="0"/>
              <a:t>Want to predict (with probability) behavior of particle in detector</a:t>
            </a:r>
          </a:p>
          <a:p>
            <a:r>
              <a:rPr lang="en-US" dirty="0"/>
              <a:t>Collaboration has particle simulation code already</a:t>
            </a:r>
          </a:p>
          <a:p>
            <a:r>
              <a:rPr lang="en-US" dirty="0"/>
              <a:t>Probability estimate comes from running millions of particle simulations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06489-FF7B-E252-540E-56CFC18CE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D94409-C560-746C-C323-AB2E04596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CB2C7D-AD73-7798-7C14-AA12C3905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108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A445-3126-6731-2871-79852F877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they have in common?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1676E-90A7-17D8-EE5E-6D73489D2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Each researcher has a (non-ordered) </a:t>
            </a:r>
            <a:r>
              <a:rPr lang="en-US" u="sng" dirty="0"/>
              <a:t>list</a:t>
            </a:r>
            <a:r>
              <a:rPr lang="en-US" dirty="0"/>
              <a:t> of </a:t>
            </a:r>
            <a:r>
              <a:rPr lang="en-US" b="1" dirty="0"/>
              <a:t>tasks</a:t>
            </a:r>
            <a:r>
              <a:rPr lang="en-US" dirty="0"/>
              <a:t> that would take too long to run sequentially on their local computer. </a:t>
            </a:r>
            <a:endParaRPr lang="en-US" b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BFCECB5-927B-88A8-8D89-99E39395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9E764AB-4968-71E7-E0B7-3537BB085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438C5A-67B4-31BA-7011-75EB6A8BCB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082416"/>
              </p:ext>
            </p:extLst>
          </p:nvPr>
        </p:nvGraphicFramePr>
        <p:xfrm>
          <a:off x="1100655" y="2829129"/>
          <a:ext cx="3199743" cy="30953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99743">
                  <a:extLst>
                    <a:ext uri="{9D8B030D-6E8A-4147-A177-3AD203B41FA5}">
                      <a16:colId xmlns:a16="http://schemas.microsoft.com/office/drawing/2014/main" val="2347873843"/>
                    </a:ext>
                  </a:extLst>
                </a:gridCol>
              </a:tblGrid>
              <a:tr h="1932524">
                <a:tc>
                  <a:txBody>
                    <a:bodyPr/>
                    <a:lstStyle/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611002"/>
                  </a:ext>
                </a:extLst>
              </a:tr>
              <a:tr h="11446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Running </a:t>
                      </a:r>
                      <a:r>
                        <a:rPr lang="en-US" sz="2100" b="1" dirty="0"/>
                        <a:t>analysis pipeline </a:t>
                      </a:r>
                      <a:r>
                        <a:rPr lang="en-US" sz="2100" u="sng" dirty="0"/>
                        <a:t>for each sample</a:t>
                      </a:r>
                      <a:r>
                        <a:rPr lang="en-US" sz="2100" dirty="0"/>
                        <a:t>.</a:t>
                      </a: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61714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FF0DFFB-0856-6254-FDCE-AC4275D842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319772"/>
              </p:ext>
            </p:extLst>
          </p:nvPr>
        </p:nvGraphicFramePr>
        <p:xfrm>
          <a:off x="4537277" y="2829128"/>
          <a:ext cx="3289822" cy="3083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9822">
                  <a:extLst>
                    <a:ext uri="{9D8B030D-6E8A-4147-A177-3AD203B41FA5}">
                      <a16:colId xmlns:a16="http://schemas.microsoft.com/office/drawing/2014/main" val="2347873843"/>
                    </a:ext>
                  </a:extLst>
                </a:gridCol>
              </a:tblGrid>
              <a:tr h="1691489">
                <a:tc>
                  <a:txBody>
                    <a:bodyPr/>
                    <a:lstStyle/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611002"/>
                  </a:ext>
                </a:extLst>
              </a:tr>
              <a:tr h="11332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Running a </a:t>
                      </a:r>
                      <a:r>
                        <a:rPr lang="en-US" sz="2100" b="1" dirty="0"/>
                        <a:t>simulation</a:t>
                      </a:r>
                      <a:r>
                        <a:rPr lang="en-US" sz="2100" dirty="0"/>
                        <a:t> </a:t>
                      </a:r>
                      <a:r>
                        <a:rPr lang="en-US" sz="2100" u="sng" dirty="0"/>
                        <a:t>for each parameter combination</a:t>
                      </a:r>
                      <a:endParaRPr lang="en-US" sz="21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61714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1F0B52-E670-FF22-F3CD-5CA432AFD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1718759"/>
              </p:ext>
            </p:extLst>
          </p:nvPr>
        </p:nvGraphicFramePr>
        <p:xfrm>
          <a:off x="8063978" y="2829128"/>
          <a:ext cx="3289822" cy="30771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9822">
                  <a:extLst>
                    <a:ext uri="{9D8B030D-6E8A-4147-A177-3AD203B41FA5}">
                      <a16:colId xmlns:a16="http://schemas.microsoft.com/office/drawing/2014/main" val="2347873843"/>
                    </a:ext>
                  </a:extLst>
                </a:gridCol>
              </a:tblGrid>
              <a:tr h="1687643">
                <a:tc>
                  <a:txBody>
                    <a:bodyPr/>
                    <a:lstStyle/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  <a:p>
                      <a:endParaRPr lang="en-US" sz="24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611002"/>
                  </a:ext>
                </a:extLst>
              </a:tr>
              <a:tr h="112645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Running </a:t>
                      </a:r>
                      <a:r>
                        <a:rPr lang="en-US" sz="2100" u="sng" dirty="0"/>
                        <a:t>millions</a:t>
                      </a:r>
                      <a:r>
                        <a:rPr lang="en-US" sz="2100" dirty="0"/>
                        <a:t> of </a:t>
                      </a:r>
                      <a:r>
                        <a:rPr lang="en-US" sz="2100" b="1" dirty="0"/>
                        <a:t>simulations</a:t>
                      </a:r>
                      <a:r>
                        <a:rPr lang="en-US" sz="2100" dirty="0"/>
                        <a:t>. </a:t>
                      </a: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3617144"/>
                  </a:ext>
                </a:extLst>
              </a:tr>
            </a:tbl>
          </a:graphicData>
        </a:graphic>
      </p:graphicFrame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C32FB4B-5107-9C31-A9E0-0E43BA7CB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pic>
        <p:nvPicPr>
          <p:cNvPr id="14" name="Content Placeholder 8" descr="A person holding a test tube with a flower inside&#10;&#10;Description automatically generated">
            <a:extLst>
              <a:ext uri="{FF2B5EF4-FFF2-40B4-BE49-F238E27FC236}">
                <a16:creationId xmlns:a16="http://schemas.microsoft.com/office/drawing/2014/main" id="{EE6C67A9-C503-D821-CC48-1A12629AA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990" y="2875428"/>
            <a:ext cx="2785071" cy="1847044"/>
          </a:xfrm>
          <a:prstGeom prst="rect">
            <a:avLst/>
          </a:prstGeom>
        </p:spPr>
      </p:pic>
      <p:pic>
        <p:nvPicPr>
          <p:cNvPr id="15" name="Content Placeholder 8" descr="A person holding a computer&#10;&#10;Description automatically generated">
            <a:extLst>
              <a:ext uri="{FF2B5EF4-FFF2-40B4-BE49-F238E27FC236}">
                <a16:creationId xmlns:a16="http://schemas.microsoft.com/office/drawing/2014/main" id="{EDECEDA4-BDCD-72E6-D948-9265C6E3A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6904" y="2875428"/>
            <a:ext cx="2770567" cy="1847044"/>
          </a:xfrm>
          <a:prstGeom prst="rect">
            <a:avLst/>
          </a:prstGeom>
        </p:spPr>
      </p:pic>
      <p:pic>
        <p:nvPicPr>
          <p:cNvPr id="16" name="Content Placeholder 8" descr="A person sitting in front of several monitors&#10;&#10;Description automatically generated">
            <a:extLst>
              <a:ext uri="{FF2B5EF4-FFF2-40B4-BE49-F238E27FC236}">
                <a16:creationId xmlns:a16="http://schemas.microsoft.com/office/drawing/2014/main" id="{FCE5E654-0C6C-261E-4332-C2A92B411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6274" y="2875428"/>
            <a:ext cx="2785071" cy="184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84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C44B8-907F-2251-4D4B-ACF932D6F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care?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0D680-FA8E-C27C-A8B9-0202CBD02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Each researcher has a (non-ordered) list of tasks that would take </a:t>
            </a:r>
            <a:r>
              <a:rPr lang="en-US" b="1" dirty="0"/>
              <a:t>too long to run sequentially on their local computer</a:t>
            </a:r>
            <a:r>
              <a:rPr lang="en-US" dirty="0"/>
              <a:t>.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179AD-AEF6-3F7A-19B7-EF7BF1567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9455-F261-CB06-1846-8F59C128D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7</a:t>
            </a:fld>
            <a:endParaRPr lang="en-US"/>
          </a:p>
        </p:txBody>
      </p:sp>
      <p:pic>
        <p:nvPicPr>
          <p:cNvPr id="4" name="Google Shape;112;p20">
            <a:extLst>
              <a:ext uri="{FF2B5EF4-FFF2-40B4-BE49-F238E27FC236}">
                <a16:creationId xmlns:a16="http://schemas.microsoft.com/office/drawing/2014/main" id="{AE152F76-6858-9C55-DE49-B3C741C9353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8989"/>
          <a:stretch/>
        </p:blipFill>
        <p:spPr>
          <a:xfrm>
            <a:off x="3180593" y="2896395"/>
            <a:ext cx="5234363" cy="318031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BB2D5F7-802E-616D-4043-1C5FA19C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1092330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BA02-4558-DAD5-1AFD-272DF59C0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0EB0B-9B8C-7B5E-8A1E-E92D195C1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Each researcher has a (non-ordered) list of tasks that would take 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too long to run sequentially on their local computer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Don’t let computing be a barrier to your research!! We want to be able to tackle big problems.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strategy to speed things up with computers is ALWAYS to run in parallel.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Then you can go from using a small number of resources (one computer) to a LOT of resources (for example, many computers).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92DBA-2813-688C-6E3F-16E7C90FF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32B7D6-8FB5-7AA5-26D1-5D8441F4D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9E3C66-4677-B789-3E5E-0A92B2CA5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40666476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F6FF-A577-A01E-CE56-19A542C51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in 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CC7EC-D460-576E-955E-C94809D21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different ways to parallelize in computing: </a:t>
            </a:r>
          </a:p>
        </p:txBody>
      </p:sp>
      <p:sp>
        <p:nvSpPr>
          <p:cNvPr id="31" name="Date Placeholder 30">
            <a:extLst>
              <a:ext uri="{FF2B5EF4-FFF2-40B4-BE49-F238E27FC236}">
                <a16:creationId xmlns:a16="http://schemas.microsoft.com/office/drawing/2014/main" id="{70249C8E-5CBD-2328-0897-F44820CEB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BF90DF62-7A50-D9FB-8C43-A9EEBBB33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9</a:t>
            </a:fld>
            <a:endParaRPr lang="en-US"/>
          </a:p>
        </p:txBody>
      </p:sp>
      <p:sp>
        <p:nvSpPr>
          <p:cNvPr id="4" name="Google Shape;193;p24">
            <a:extLst>
              <a:ext uri="{FF2B5EF4-FFF2-40B4-BE49-F238E27FC236}">
                <a16:creationId xmlns:a16="http://schemas.microsoft.com/office/drawing/2014/main" id="{D648108B-4401-7F4A-A400-CB630012D1A8}"/>
              </a:ext>
            </a:extLst>
          </p:cNvPr>
          <p:cNvSpPr/>
          <p:nvPr/>
        </p:nvSpPr>
        <p:spPr>
          <a:xfrm>
            <a:off x="4680994" y="2721260"/>
            <a:ext cx="3071191" cy="306708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List of tasks</a:t>
            </a:r>
            <a:endParaRPr sz="2000" dirty="0"/>
          </a:p>
        </p:txBody>
      </p:sp>
      <p:sp>
        <p:nvSpPr>
          <p:cNvPr id="5" name="Google Shape;196;p24">
            <a:extLst>
              <a:ext uri="{FF2B5EF4-FFF2-40B4-BE49-F238E27FC236}">
                <a16:creationId xmlns:a16="http://schemas.microsoft.com/office/drawing/2014/main" id="{20509402-88A3-8B4D-4FED-2D73ADED7D22}"/>
              </a:ext>
            </a:extLst>
          </p:cNvPr>
          <p:cNvSpPr/>
          <p:nvPr/>
        </p:nvSpPr>
        <p:spPr>
          <a:xfrm>
            <a:off x="5581595" y="304988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7;p24">
            <a:extLst>
              <a:ext uri="{FF2B5EF4-FFF2-40B4-BE49-F238E27FC236}">
                <a16:creationId xmlns:a16="http://schemas.microsoft.com/office/drawing/2014/main" id="{CE675698-F0D0-C4F5-D07D-49AB3428FC2B}"/>
              </a:ext>
            </a:extLst>
          </p:cNvPr>
          <p:cNvSpPr/>
          <p:nvPr/>
        </p:nvSpPr>
        <p:spPr>
          <a:xfrm>
            <a:off x="5974545" y="289493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98;p24">
            <a:extLst>
              <a:ext uri="{FF2B5EF4-FFF2-40B4-BE49-F238E27FC236}">
                <a16:creationId xmlns:a16="http://schemas.microsoft.com/office/drawing/2014/main" id="{6D7317EB-90E5-D2A9-9EC9-C9F30ACE7DF0}"/>
              </a:ext>
            </a:extLst>
          </p:cNvPr>
          <p:cNvSpPr/>
          <p:nvPr/>
        </p:nvSpPr>
        <p:spPr>
          <a:xfrm>
            <a:off x="5926595" y="330188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99;p24">
            <a:extLst>
              <a:ext uri="{FF2B5EF4-FFF2-40B4-BE49-F238E27FC236}">
                <a16:creationId xmlns:a16="http://schemas.microsoft.com/office/drawing/2014/main" id="{9B880AF7-E311-0852-74AC-A9C159A5E813}"/>
              </a:ext>
            </a:extLst>
          </p:cNvPr>
          <p:cNvSpPr/>
          <p:nvPr/>
        </p:nvSpPr>
        <p:spPr>
          <a:xfrm>
            <a:off x="6372817" y="2959553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00;p24">
            <a:extLst>
              <a:ext uri="{FF2B5EF4-FFF2-40B4-BE49-F238E27FC236}">
                <a16:creationId xmlns:a16="http://schemas.microsoft.com/office/drawing/2014/main" id="{B8024572-93A7-EBF5-8A6F-C158814B739E}"/>
              </a:ext>
            </a:extLst>
          </p:cNvPr>
          <p:cNvSpPr/>
          <p:nvPr/>
        </p:nvSpPr>
        <p:spPr>
          <a:xfrm>
            <a:off x="5236595" y="322416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01;p24">
            <a:extLst>
              <a:ext uri="{FF2B5EF4-FFF2-40B4-BE49-F238E27FC236}">
                <a16:creationId xmlns:a16="http://schemas.microsoft.com/office/drawing/2014/main" id="{FA7D5058-AA60-6E0C-618C-D571DF4C0BC4}"/>
              </a:ext>
            </a:extLst>
          </p:cNvPr>
          <p:cNvSpPr/>
          <p:nvPr/>
        </p:nvSpPr>
        <p:spPr>
          <a:xfrm>
            <a:off x="5727629" y="367124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02;p24">
            <a:extLst>
              <a:ext uri="{FF2B5EF4-FFF2-40B4-BE49-F238E27FC236}">
                <a16:creationId xmlns:a16="http://schemas.microsoft.com/office/drawing/2014/main" id="{CC4AA08D-CBD0-3894-9D48-F5F6CE94DFE2}"/>
              </a:ext>
            </a:extLst>
          </p:cNvPr>
          <p:cNvSpPr/>
          <p:nvPr/>
        </p:nvSpPr>
        <p:spPr>
          <a:xfrm>
            <a:off x="4984595" y="358258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03;p24">
            <a:extLst>
              <a:ext uri="{FF2B5EF4-FFF2-40B4-BE49-F238E27FC236}">
                <a16:creationId xmlns:a16="http://schemas.microsoft.com/office/drawing/2014/main" id="{03E52B5E-1C8C-41F3-A49F-A44D44175497}"/>
              </a:ext>
            </a:extLst>
          </p:cNvPr>
          <p:cNvSpPr/>
          <p:nvPr/>
        </p:nvSpPr>
        <p:spPr>
          <a:xfrm>
            <a:off x="5329595" y="370858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04;p24">
            <a:extLst>
              <a:ext uri="{FF2B5EF4-FFF2-40B4-BE49-F238E27FC236}">
                <a16:creationId xmlns:a16="http://schemas.microsoft.com/office/drawing/2014/main" id="{8664D8EB-4126-650C-38A1-50C81F04D516}"/>
              </a:ext>
            </a:extLst>
          </p:cNvPr>
          <p:cNvSpPr/>
          <p:nvPr/>
        </p:nvSpPr>
        <p:spPr>
          <a:xfrm>
            <a:off x="6271595" y="347616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05;p24">
            <a:extLst>
              <a:ext uri="{FF2B5EF4-FFF2-40B4-BE49-F238E27FC236}">
                <a16:creationId xmlns:a16="http://schemas.microsoft.com/office/drawing/2014/main" id="{A685373B-2CBA-6CF3-7D15-65EEC17E3C62}"/>
              </a:ext>
            </a:extLst>
          </p:cNvPr>
          <p:cNvSpPr/>
          <p:nvPr/>
        </p:nvSpPr>
        <p:spPr>
          <a:xfrm>
            <a:off x="6427107" y="377940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06;p24">
            <a:extLst>
              <a:ext uri="{FF2B5EF4-FFF2-40B4-BE49-F238E27FC236}">
                <a16:creationId xmlns:a16="http://schemas.microsoft.com/office/drawing/2014/main" id="{D0A15794-1B2B-1912-9D4E-FAE6F33408F2}"/>
              </a:ext>
            </a:extLst>
          </p:cNvPr>
          <p:cNvSpPr/>
          <p:nvPr/>
        </p:nvSpPr>
        <p:spPr>
          <a:xfrm>
            <a:off x="6839390" y="326479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07;p24">
            <a:extLst>
              <a:ext uri="{FF2B5EF4-FFF2-40B4-BE49-F238E27FC236}">
                <a16:creationId xmlns:a16="http://schemas.microsoft.com/office/drawing/2014/main" id="{A4C59125-EC22-7C76-1396-10B6EBB7B1B6}"/>
              </a:ext>
            </a:extLst>
          </p:cNvPr>
          <p:cNvSpPr/>
          <p:nvPr/>
        </p:nvSpPr>
        <p:spPr>
          <a:xfrm>
            <a:off x="7128887" y="367124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08;p24">
            <a:extLst>
              <a:ext uri="{FF2B5EF4-FFF2-40B4-BE49-F238E27FC236}">
                <a16:creationId xmlns:a16="http://schemas.microsoft.com/office/drawing/2014/main" id="{2790AF7E-2A6C-80EC-68EB-94FAEC6FCBD3}"/>
              </a:ext>
            </a:extLst>
          </p:cNvPr>
          <p:cNvSpPr/>
          <p:nvPr/>
        </p:nvSpPr>
        <p:spPr>
          <a:xfrm>
            <a:off x="6795332" y="376124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09;p24">
            <a:extLst>
              <a:ext uri="{FF2B5EF4-FFF2-40B4-BE49-F238E27FC236}">
                <a16:creationId xmlns:a16="http://schemas.microsoft.com/office/drawing/2014/main" id="{C710E6B9-68A3-8377-A62F-8DBF45959B46}"/>
              </a:ext>
            </a:extLst>
          </p:cNvPr>
          <p:cNvSpPr/>
          <p:nvPr/>
        </p:nvSpPr>
        <p:spPr>
          <a:xfrm>
            <a:off x="7277258" y="426100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210;p24">
            <a:extLst>
              <a:ext uri="{FF2B5EF4-FFF2-40B4-BE49-F238E27FC236}">
                <a16:creationId xmlns:a16="http://schemas.microsoft.com/office/drawing/2014/main" id="{78169143-03EE-B30F-CB36-7490DF46B489}"/>
              </a:ext>
            </a:extLst>
          </p:cNvPr>
          <p:cNvSpPr/>
          <p:nvPr/>
        </p:nvSpPr>
        <p:spPr>
          <a:xfrm>
            <a:off x="6713390" y="443263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11;p24">
            <a:extLst>
              <a:ext uri="{FF2B5EF4-FFF2-40B4-BE49-F238E27FC236}">
                <a16:creationId xmlns:a16="http://schemas.microsoft.com/office/drawing/2014/main" id="{A6626775-C2D1-7E3E-F8F2-6185C69E5019}"/>
              </a:ext>
            </a:extLst>
          </p:cNvPr>
          <p:cNvSpPr/>
          <p:nvPr/>
        </p:nvSpPr>
        <p:spPr>
          <a:xfrm>
            <a:off x="4835370" y="398016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2;p24">
            <a:extLst>
              <a:ext uri="{FF2B5EF4-FFF2-40B4-BE49-F238E27FC236}">
                <a16:creationId xmlns:a16="http://schemas.microsoft.com/office/drawing/2014/main" id="{8F935D81-E721-A344-3199-0EA626DA2206}"/>
              </a:ext>
            </a:extLst>
          </p:cNvPr>
          <p:cNvSpPr/>
          <p:nvPr/>
        </p:nvSpPr>
        <p:spPr>
          <a:xfrm>
            <a:off x="5171070" y="408273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3;p24">
            <a:extLst>
              <a:ext uri="{FF2B5EF4-FFF2-40B4-BE49-F238E27FC236}">
                <a16:creationId xmlns:a16="http://schemas.microsoft.com/office/drawing/2014/main" id="{E9F5DE16-8461-CC72-F289-A9A23AC2067E}"/>
              </a:ext>
            </a:extLst>
          </p:cNvPr>
          <p:cNvSpPr/>
          <p:nvPr/>
        </p:nvSpPr>
        <p:spPr>
          <a:xfrm>
            <a:off x="5380895" y="453939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14;p24">
            <a:extLst>
              <a:ext uri="{FF2B5EF4-FFF2-40B4-BE49-F238E27FC236}">
                <a16:creationId xmlns:a16="http://schemas.microsoft.com/office/drawing/2014/main" id="{73390BF4-023D-B87D-6E30-70720FC886C1}"/>
              </a:ext>
            </a:extLst>
          </p:cNvPr>
          <p:cNvSpPr/>
          <p:nvPr/>
        </p:nvSpPr>
        <p:spPr>
          <a:xfrm>
            <a:off x="5926595" y="467463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15;p24">
            <a:extLst>
              <a:ext uri="{FF2B5EF4-FFF2-40B4-BE49-F238E27FC236}">
                <a16:creationId xmlns:a16="http://schemas.microsoft.com/office/drawing/2014/main" id="{7A4D1D9A-9032-D233-646B-66995BF09FD4}"/>
              </a:ext>
            </a:extLst>
          </p:cNvPr>
          <p:cNvSpPr/>
          <p:nvPr/>
        </p:nvSpPr>
        <p:spPr>
          <a:xfrm>
            <a:off x="6332795" y="471054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16;p24">
            <a:extLst>
              <a:ext uri="{FF2B5EF4-FFF2-40B4-BE49-F238E27FC236}">
                <a16:creationId xmlns:a16="http://schemas.microsoft.com/office/drawing/2014/main" id="{A43C4247-AE7E-995E-1FF2-C8DF394B307D}"/>
              </a:ext>
            </a:extLst>
          </p:cNvPr>
          <p:cNvSpPr/>
          <p:nvPr/>
        </p:nvSpPr>
        <p:spPr>
          <a:xfrm>
            <a:off x="7016545" y="471054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17;p24">
            <a:extLst>
              <a:ext uri="{FF2B5EF4-FFF2-40B4-BE49-F238E27FC236}">
                <a16:creationId xmlns:a16="http://schemas.microsoft.com/office/drawing/2014/main" id="{69A8CBC0-0EAC-5EB0-0821-B4442EE3BFAF}"/>
              </a:ext>
            </a:extLst>
          </p:cNvPr>
          <p:cNvSpPr/>
          <p:nvPr/>
        </p:nvSpPr>
        <p:spPr>
          <a:xfrm>
            <a:off x="4950270" y="4422635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18;p24">
            <a:extLst>
              <a:ext uri="{FF2B5EF4-FFF2-40B4-BE49-F238E27FC236}">
                <a16:creationId xmlns:a16="http://schemas.microsoft.com/office/drawing/2014/main" id="{12A7F748-05CA-DDDC-BF7C-EED6C32AE1B1}"/>
              </a:ext>
            </a:extLst>
          </p:cNvPr>
          <p:cNvSpPr/>
          <p:nvPr/>
        </p:nvSpPr>
        <p:spPr>
          <a:xfrm>
            <a:off x="5284420" y="4858863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19;p24">
            <a:extLst>
              <a:ext uri="{FF2B5EF4-FFF2-40B4-BE49-F238E27FC236}">
                <a16:creationId xmlns:a16="http://schemas.microsoft.com/office/drawing/2014/main" id="{376749AA-CA5A-7D3D-4BC4-437E74EDC21D}"/>
              </a:ext>
            </a:extLst>
          </p:cNvPr>
          <p:cNvSpPr/>
          <p:nvPr/>
        </p:nvSpPr>
        <p:spPr>
          <a:xfrm>
            <a:off x="5614595" y="506697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20;p24">
            <a:extLst>
              <a:ext uri="{FF2B5EF4-FFF2-40B4-BE49-F238E27FC236}">
                <a16:creationId xmlns:a16="http://schemas.microsoft.com/office/drawing/2014/main" id="{7E0A5D56-2EDD-4651-5146-E1E5DAF44336}"/>
              </a:ext>
            </a:extLst>
          </p:cNvPr>
          <p:cNvSpPr/>
          <p:nvPr/>
        </p:nvSpPr>
        <p:spPr>
          <a:xfrm>
            <a:off x="6019595" y="530604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21;p24">
            <a:extLst>
              <a:ext uri="{FF2B5EF4-FFF2-40B4-BE49-F238E27FC236}">
                <a16:creationId xmlns:a16="http://schemas.microsoft.com/office/drawing/2014/main" id="{8BBB0F12-4B97-D8AB-B945-6C0552600257}"/>
              </a:ext>
            </a:extLst>
          </p:cNvPr>
          <p:cNvSpPr/>
          <p:nvPr/>
        </p:nvSpPr>
        <p:spPr>
          <a:xfrm>
            <a:off x="6655710" y="518185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84601FC-E64F-4DDB-0F21-26A6AF1705AB}"/>
              </a:ext>
            </a:extLst>
          </p:cNvPr>
          <p:cNvSpPr/>
          <p:nvPr/>
        </p:nvSpPr>
        <p:spPr>
          <a:xfrm>
            <a:off x="1094178" y="2981266"/>
            <a:ext cx="1747777" cy="1419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Parallelize on computer components (CPU/GPU)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EA903E-D532-7C2D-BD84-41DF17F5A04F}"/>
              </a:ext>
            </a:extLst>
          </p:cNvPr>
          <p:cNvSpPr/>
          <p:nvPr/>
        </p:nvSpPr>
        <p:spPr>
          <a:xfrm>
            <a:off x="9687578" y="2668329"/>
            <a:ext cx="1747777" cy="1419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Parallelize on multiple (more) computers.</a:t>
            </a:r>
          </a:p>
        </p:txBody>
      </p:sp>
      <p:pic>
        <p:nvPicPr>
          <p:cNvPr id="34" name="Google Shape;312;p30">
            <a:extLst>
              <a:ext uri="{FF2B5EF4-FFF2-40B4-BE49-F238E27FC236}">
                <a16:creationId xmlns:a16="http://schemas.microsoft.com/office/drawing/2014/main" id="{4C8AE75B-3A04-B523-F5EE-B7A2A10492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090433" y="2721862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12;p30">
            <a:extLst>
              <a:ext uri="{FF2B5EF4-FFF2-40B4-BE49-F238E27FC236}">
                <a16:creationId xmlns:a16="http://schemas.microsoft.com/office/drawing/2014/main" id="{43644663-F585-0BD4-8570-CF1543C869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265409" y="477481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12;p30">
            <a:extLst>
              <a:ext uri="{FF2B5EF4-FFF2-40B4-BE49-F238E27FC236}">
                <a16:creationId xmlns:a16="http://schemas.microsoft.com/office/drawing/2014/main" id="{3446C869-678E-E4E5-BC2D-97D7514D83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181795" y="3767746"/>
            <a:ext cx="1422451" cy="108587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61F74681-AFFF-4CBD-144B-03AFA1C34A0A}"/>
              </a:ext>
            </a:extLst>
          </p:cNvPr>
          <p:cNvSpPr/>
          <p:nvPr/>
        </p:nvSpPr>
        <p:spPr>
          <a:xfrm>
            <a:off x="1157407" y="4580525"/>
            <a:ext cx="1747776" cy="49128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Google Shape;312;p30">
            <a:extLst>
              <a:ext uri="{FF2B5EF4-FFF2-40B4-BE49-F238E27FC236}">
                <a16:creationId xmlns:a16="http://schemas.microsoft.com/office/drawing/2014/main" id="{63BE3561-F487-506F-7655-F9CF5030C3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1337146" y="4889107"/>
            <a:ext cx="1422451" cy="108587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C5F87C64-75CA-9B73-3E5B-5811A4D3424D}"/>
              </a:ext>
            </a:extLst>
          </p:cNvPr>
          <p:cNvSpPr/>
          <p:nvPr/>
        </p:nvSpPr>
        <p:spPr>
          <a:xfrm>
            <a:off x="1205741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B1FF581-F23E-C567-0160-AE57CF924DB0}"/>
              </a:ext>
            </a:extLst>
          </p:cNvPr>
          <p:cNvSpPr/>
          <p:nvPr/>
        </p:nvSpPr>
        <p:spPr>
          <a:xfrm>
            <a:off x="1205741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A9E777-AA3D-A7DA-4291-425BF7939C6E}"/>
              </a:ext>
            </a:extLst>
          </p:cNvPr>
          <p:cNvSpPr/>
          <p:nvPr/>
        </p:nvSpPr>
        <p:spPr>
          <a:xfrm>
            <a:off x="1486434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4E82008-7028-B6C5-8F95-450B3F956EF1}"/>
              </a:ext>
            </a:extLst>
          </p:cNvPr>
          <p:cNvSpPr/>
          <p:nvPr/>
        </p:nvSpPr>
        <p:spPr>
          <a:xfrm>
            <a:off x="1486434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C29C56B-EB71-9725-25E1-8DFF43613A7E}"/>
              </a:ext>
            </a:extLst>
          </p:cNvPr>
          <p:cNvSpPr/>
          <p:nvPr/>
        </p:nvSpPr>
        <p:spPr>
          <a:xfrm>
            <a:off x="1759056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D21F398-8EF1-04E8-E823-6AF4AE4DE976}"/>
              </a:ext>
            </a:extLst>
          </p:cNvPr>
          <p:cNvSpPr/>
          <p:nvPr/>
        </p:nvSpPr>
        <p:spPr>
          <a:xfrm>
            <a:off x="1759056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7A0997-9339-1A13-C013-850C5B1150DB}"/>
              </a:ext>
            </a:extLst>
          </p:cNvPr>
          <p:cNvSpPr/>
          <p:nvPr/>
        </p:nvSpPr>
        <p:spPr>
          <a:xfrm>
            <a:off x="2039749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6D19F49-8A1F-0772-A0AC-B8DE0390833F}"/>
              </a:ext>
            </a:extLst>
          </p:cNvPr>
          <p:cNvSpPr/>
          <p:nvPr/>
        </p:nvSpPr>
        <p:spPr>
          <a:xfrm>
            <a:off x="2039749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415572-D154-95F2-93A5-2AEDC621F706}"/>
              </a:ext>
            </a:extLst>
          </p:cNvPr>
          <p:cNvSpPr/>
          <p:nvPr/>
        </p:nvSpPr>
        <p:spPr>
          <a:xfrm>
            <a:off x="2319670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EA9403-B00A-641E-4D18-7FACDA5D7F6D}"/>
              </a:ext>
            </a:extLst>
          </p:cNvPr>
          <p:cNvSpPr/>
          <p:nvPr/>
        </p:nvSpPr>
        <p:spPr>
          <a:xfrm>
            <a:off x="2319670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A86524B-7CDA-FFCB-4055-44F72679DD41}"/>
              </a:ext>
            </a:extLst>
          </p:cNvPr>
          <p:cNvSpPr/>
          <p:nvPr/>
        </p:nvSpPr>
        <p:spPr>
          <a:xfrm>
            <a:off x="2600363" y="4610389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7BBE6C0-442E-3A06-452D-12176B0D8CFD}"/>
              </a:ext>
            </a:extLst>
          </p:cNvPr>
          <p:cNvSpPr/>
          <p:nvPr/>
        </p:nvSpPr>
        <p:spPr>
          <a:xfrm>
            <a:off x="2600363" y="4831164"/>
            <a:ext cx="243130" cy="1810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6170E-BFCB-67C6-9643-375752F5F7C6}"/>
              </a:ext>
            </a:extLst>
          </p:cNvPr>
          <p:cNvCxnSpPr>
            <a:stCxn id="39" idx="1"/>
          </p:cNvCxnSpPr>
          <p:nvPr/>
        </p:nvCxnSpPr>
        <p:spPr>
          <a:xfrm flipH="1" flipV="1">
            <a:off x="1205741" y="5066972"/>
            <a:ext cx="131405" cy="3650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7CD07CF-4B97-3181-A053-7FFDFEEEB58B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2759597" y="5051939"/>
            <a:ext cx="153000" cy="38010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F7E3625-0330-162A-ED10-33D18C4EBA2C}"/>
              </a:ext>
            </a:extLst>
          </p:cNvPr>
          <p:cNvCxnSpPr>
            <a:cxnSpLocks/>
            <a:stCxn id="20" idx="2"/>
            <a:endCxn id="49" idx="1"/>
          </p:cNvCxnSpPr>
          <p:nvPr/>
        </p:nvCxnSpPr>
        <p:spPr>
          <a:xfrm flipH="1">
            <a:off x="2319670" y="4106160"/>
            <a:ext cx="2515700" cy="594732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D3299F1-6E10-1E97-F862-B3F688FFA044}"/>
              </a:ext>
            </a:extLst>
          </p:cNvPr>
          <p:cNvCxnSpPr>
            <a:cxnSpLocks/>
            <a:stCxn id="21" idx="2"/>
            <a:endCxn id="51" idx="1"/>
          </p:cNvCxnSpPr>
          <p:nvPr/>
        </p:nvCxnSpPr>
        <p:spPr>
          <a:xfrm flipH="1">
            <a:off x="2600363" y="4208735"/>
            <a:ext cx="2570707" cy="49215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A374C00-4F8D-47A2-C466-F847F79AACF9}"/>
              </a:ext>
            </a:extLst>
          </p:cNvPr>
          <p:cNvCxnSpPr>
            <a:cxnSpLocks/>
            <a:stCxn id="26" idx="2"/>
            <a:endCxn id="50" idx="1"/>
          </p:cNvCxnSpPr>
          <p:nvPr/>
        </p:nvCxnSpPr>
        <p:spPr>
          <a:xfrm flipH="1">
            <a:off x="2319670" y="4548635"/>
            <a:ext cx="2630600" cy="373032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2EF2644-7EC6-6E98-E45D-251C1C283362}"/>
              </a:ext>
            </a:extLst>
          </p:cNvPr>
          <p:cNvCxnSpPr>
            <a:cxnSpLocks/>
            <a:stCxn id="22" idx="2"/>
            <a:endCxn id="52" idx="1"/>
          </p:cNvCxnSpPr>
          <p:nvPr/>
        </p:nvCxnSpPr>
        <p:spPr>
          <a:xfrm flipH="1">
            <a:off x="2600363" y="4665395"/>
            <a:ext cx="2780532" cy="256272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0C3279D-9AB7-B707-984D-2EC56E24349A}"/>
              </a:ext>
            </a:extLst>
          </p:cNvPr>
          <p:cNvCxnSpPr>
            <a:cxnSpLocks/>
            <a:stCxn id="16" idx="6"/>
            <a:endCxn id="34" idx="1"/>
          </p:cNvCxnSpPr>
          <p:nvPr/>
        </p:nvCxnSpPr>
        <p:spPr>
          <a:xfrm flipV="1">
            <a:off x="7380887" y="3264797"/>
            <a:ext cx="709546" cy="532449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41BDFB75-AF0C-A257-3FEB-99B481378196}"/>
              </a:ext>
            </a:extLst>
          </p:cNvPr>
          <p:cNvCxnSpPr>
            <a:cxnSpLocks/>
            <a:stCxn id="18" idx="6"/>
            <a:endCxn id="38" idx="1"/>
          </p:cNvCxnSpPr>
          <p:nvPr/>
        </p:nvCxnSpPr>
        <p:spPr>
          <a:xfrm flipV="1">
            <a:off x="7529258" y="4310681"/>
            <a:ext cx="652537" cy="76323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6220C3A-F960-9FE6-2014-350D8713AA23}"/>
              </a:ext>
            </a:extLst>
          </p:cNvPr>
          <p:cNvCxnSpPr>
            <a:cxnSpLocks/>
            <a:stCxn id="25" idx="6"/>
            <a:endCxn id="37" idx="1"/>
          </p:cNvCxnSpPr>
          <p:nvPr/>
        </p:nvCxnSpPr>
        <p:spPr>
          <a:xfrm>
            <a:off x="7268545" y="4836548"/>
            <a:ext cx="996864" cy="48119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FF22D72-CA32-ADBE-52FD-1A4EE9648B47}"/>
              </a:ext>
            </a:extLst>
          </p:cNvPr>
          <p:cNvSpPr txBox="1"/>
          <p:nvPr/>
        </p:nvSpPr>
        <p:spPr>
          <a:xfrm>
            <a:off x="2893160" y="5183567"/>
            <a:ext cx="2362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special programming; good for dependent or correlated sub-tasks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89FD61-8C7F-B937-F505-2837909BAF98}"/>
              </a:ext>
            </a:extLst>
          </p:cNvPr>
          <p:cNvSpPr txBox="1"/>
          <p:nvPr/>
        </p:nvSpPr>
        <p:spPr>
          <a:xfrm>
            <a:off x="9713476" y="4174646"/>
            <a:ext cx="22304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we’ll be focusing on; no need to re-write code</a:t>
            </a:r>
          </a:p>
        </p:txBody>
      </p:sp>
      <p:sp>
        <p:nvSpPr>
          <p:cNvPr id="92" name="Footer Placeholder 91">
            <a:extLst>
              <a:ext uri="{FF2B5EF4-FFF2-40B4-BE49-F238E27FC236}">
                <a16:creationId xmlns:a16="http://schemas.microsoft.com/office/drawing/2014/main" id="{C31708A3-5DF3-8956-34AD-937A34D8D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3840653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6582-4F79-4F61-34CD-59001D23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Throughput Computing (HTC)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BFD275-4442-7D88-DE66-2D458A7F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EBCA8FDE-BB82-1C17-111B-0020B6F99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10</a:t>
            </a:fld>
            <a:endParaRPr lang="en-US"/>
          </a:p>
        </p:txBody>
      </p:sp>
      <p:sp>
        <p:nvSpPr>
          <p:cNvPr id="4" name="Google Shape;193;p24">
            <a:extLst>
              <a:ext uri="{FF2B5EF4-FFF2-40B4-BE49-F238E27FC236}">
                <a16:creationId xmlns:a16="http://schemas.microsoft.com/office/drawing/2014/main" id="{268A0553-11B9-E5E6-CB1D-F4D3BBDCBACF}"/>
              </a:ext>
            </a:extLst>
          </p:cNvPr>
          <p:cNvSpPr/>
          <p:nvPr/>
        </p:nvSpPr>
        <p:spPr>
          <a:xfrm>
            <a:off x="1420959" y="2257434"/>
            <a:ext cx="3071191" cy="306708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List of tasks</a:t>
            </a:r>
            <a:endParaRPr sz="2000" dirty="0"/>
          </a:p>
        </p:txBody>
      </p:sp>
      <p:sp>
        <p:nvSpPr>
          <p:cNvPr id="5" name="Google Shape;196;p24">
            <a:extLst>
              <a:ext uri="{FF2B5EF4-FFF2-40B4-BE49-F238E27FC236}">
                <a16:creationId xmlns:a16="http://schemas.microsoft.com/office/drawing/2014/main" id="{5010A4B9-F5A6-CBE3-A6EC-60EC9F977EC4}"/>
              </a:ext>
            </a:extLst>
          </p:cNvPr>
          <p:cNvSpPr/>
          <p:nvPr/>
        </p:nvSpPr>
        <p:spPr>
          <a:xfrm>
            <a:off x="2321560" y="2586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7;p24">
            <a:extLst>
              <a:ext uri="{FF2B5EF4-FFF2-40B4-BE49-F238E27FC236}">
                <a16:creationId xmlns:a16="http://schemas.microsoft.com/office/drawing/2014/main" id="{CA622782-34D3-581F-7ECD-27580E32AFCF}"/>
              </a:ext>
            </a:extLst>
          </p:cNvPr>
          <p:cNvSpPr/>
          <p:nvPr/>
        </p:nvSpPr>
        <p:spPr>
          <a:xfrm>
            <a:off x="2714510" y="24311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98;p24">
            <a:extLst>
              <a:ext uri="{FF2B5EF4-FFF2-40B4-BE49-F238E27FC236}">
                <a16:creationId xmlns:a16="http://schemas.microsoft.com/office/drawing/2014/main" id="{CF3EDD4A-1928-3E33-3810-957A6EEBDE9B}"/>
              </a:ext>
            </a:extLst>
          </p:cNvPr>
          <p:cNvSpPr/>
          <p:nvPr/>
        </p:nvSpPr>
        <p:spPr>
          <a:xfrm>
            <a:off x="2666560" y="2838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99;p24">
            <a:extLst>
              <a:ext uri="{FF2B5EF4-FFF2-40B4-BE49-F238E27FC236}">
                <a16:creationId xmlns:a16="http://schemas.microsoft.com/office/drawing/2014/main" id="{C4198C95-EA2B-9968-DC89-DB631D3EFB48}"/>
              </a:ext>
            </a:extLst>
          </p:cNvPr>
          <p:cNvSpPr/>
          <p:nvPr/>
        </p:nvSpPr>
        <p:spPr>
          <a:xfrm>
            <a:off x="3112782" y="249572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00;p24">
            <a:extLst>
              <a:ext uri="{FF2B5EF4-FFF2-40B4-BE49-F238E27FC236}">
                <a16:creationId xmlns:a16="http://schemas.microsoft.com/office/drawing/2014/main" id="{81A99608-031A-813F-AC66-E8AF13FAEA81}"/>
              </a:ext>
            </a:extLst>
          </p:cNvPr>
          <p:cNvSpPr/>
          <p:nvPr/>
        </p:nvSpPr>
        <p:spPr>
          <a:xfrm>
            <a:off x="1976560" y="2760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01;p24">
            <a:extLst>
              <a:ext uri="{FF2B5EF4-FFF2-40B4-BE49-F238E27FC236}">
                <a16:creationId xmlns:a16="http://schemas.microsoft.com/office/drawing/2014/main" id="{6E208D08-9890-9355-4CF2-147B7DABDC51}"/>
              </a:ext>
            </a:extLst>
          </p:cNvPr>
          <p:cNvSpPr/>
          <p:nvPr/>
        </p:nvSpPr>
        <p:spPr>
          <a:xfrm>
            <a:off x="2467594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02;p24">
            <a:extLst>
              <a:ext uri="{FF2B5EF4-FFF2-40B4-BE49-F238E27FC236}">
                <a16:creationId xmlns:a16="http://schemas.microsoft.com/office/drawing/2014/main" id="{33A4C7A0-9538-9688-650C-395019CD7A89}"/>
              </a:ext>
            </a:extLst>
          </p:cNvPr>
          <p:cNvSpPr/>
          <p:nvPr/>
        </p:nvSpPr>
        <p:spPr>
          <a:xfrm>
            <a:off x="1724560" y="3118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03;p24">
            <a:extLst>
              <a:ext uri="{FF2B5EF4-FFF2-40B4-BE49-F238E27FC236}">
                <a16:creationId xmlns:a16="http://schemas.microsoft.com/office/drawing/2014/main" id="{CBC631CC-18C4-9174-B1ED-BFDFA39196F8}"/>
              </a:ext>
            </a:extLst>
          </p:cNvPr>
          <p:cNvSpPr/>
          <p:nvPr/>
        </p:nvSpPr>
        <p:spPr>
          <a:xfrm>
            <a:off x="2069560" y="3244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04;p24">
            <a:extLst>
              <a:ext uri="{FF2B5EF4-FFF2-40B4-BE49-F238E27FC236}">
                <a16:creationId xmlns:a16="http://schemas.microsoft.com/office/drawing/2014/main" id="{10DCEB99-BF53-732A-1855-9D2EA7539C8E}"/>
              </a:ext>
            </a:extLst>
          </p:cNvPr>
          <p:cNvSpPr/>
          <p:nvPr/>
        </p:nvSpPr>
        <p:spPr>
          <a:xfrm>
            <a:off x="3011560" y="3012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05;p24">
            <a:extLst>
              <a:ext uri="{FF2B5EF4-FFF2-40B4-BE49-F238E27FC236}">
                <a16:creationId xmlns:a16="http://schemas.microsoft.com/office/drawing/2014/main" id="{B6E6A093-9297-8F0B-BB3F-9E199E9C2DEB}"/>
              </a:ext>
            </a:extLst>
          </p:cNvPr>
          <p:cNvSpPr/>
          <p:nvPr/>
        </p:nvSpPr>
        <p:spPr>
          <a:xfrm>
            <a:off x="3167072" y="331558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06;p24">
            <a:extLst>
              <a:ext uri="{FF2B5EF4-FFF2-40B4-BE49-F238E27FC236}">
                <a16:creationId xmlns:a16="http://schemas.microsoft.com/office/drawing/2014/main" id="{EA87AB06-3C64-EC6C-01F5-1BC80FC6C8C2}"/>
              </a:ext>
            </a:extLst>
          </p:cNvPr>
          <p:cNvSpPr/>
          <p:nvPr/>
        </p:nvSpPr>
        <p:spPr>
          <a:xfrm>
            <a:off x="3579355" y="2800971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07;p24">
            <a:extLst>
              <a:ext uri="{FF2B5EF4-FFF2-40B4-BE49-F238E27FC236}">
                <a16:creationId xmlns:a16="http://schemas.microsoft.com/office/drawing/2014/main" id="{EED88E70-4966-C7C1-ACD2-01FB2146BEE5}"/>
              </a:ext>
            </a:extLst>
          </p:cNvPr>
          <p:cNvSpPr/>
          <p:nvPr/>
        </p:nvSpPr>
        <p:spPr>
          <a:xfrm>
            <a:off x="3868852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08;p24">
            <a:extLst>
              <a:ext uri="{FF2B5EF4-FFF2-40B4-BE49-F238E27FC236}">
                <a16:creationId xmlns:a16="http://schemas.microsoft.com/office/drawing/2014/main" id="{593FF6C2-F10C-200A-581A-72D503F8ECAE}"/>
              </a:ext>
            </a:extLst>
          </p:cNvPr>
          <p:cNvSpPr/>
          <p:nvPr/>
        </p:nvSpPr>
        <p:spPr>
          <a:xfrm>
            <a:off x="3535297" y="329741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09;p24">
            <a:extLst>
              <a:ext uri="{FF2B5EF4-FFF2-40B4-BE49-F238E27FC236}">
                <a16:creationId xmlns:a16="http://schemas.microsoft.com/office/drawing/2014/main" id="{5D318761-F7FB-7724-0C19-DA73B4EDDAF7}"/>
              </a:ext>
            </a:extLst>
          </p:cNvPr>
          <p:cNvSpPr/>
          <p:nvPr/>
        </p:nvSpPr>
        <p:spPr>
          <a:xfrm>
            <a:off x="4017223" y="379717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210;p24">
            <a:extLst>
              <a:ext uri="{FF2B5EF4-FFF2-40B4-BE49-F238E27FC236}">
                <a16:creationId xmlns:a16="http://schemas.microsoft.com/office/drawing/2014/main" id="{F6268415-D03A-B5FA-47A5-4F3214F19D7D}"/>
              </a:ext>
            </a:extLst>
          </p:cNvPr>
          <p:cNvSpPr/>
          <p:nvPr/>
        </p:nvSpPr>
        <p:spPr>
          <a:xfrm>
            <a:off x="3453355" y="396881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11;p24">
            <a:extLst>
              <a:ext uri="{FF2B5EF4-FFF2-40B4-BE49-F238E27FC236}">
                <a16:creationId xmlns:a16="http://schemas.microsoft.com/office/drawing/2014/main" id="{EC0149DE-3FBF-93C3-D5D8-D2D6FFCA5C00}"/>
              </a:ext>
            </a:extLst>
          </p:cNvPr>
          <p:cNvSpPr/>
          <p:nvPr/>
        </p:nvSpPr>
        <p:spPr>
          <a:xfrm>
            <a:off x="1575335" y="3516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2;p24">
            <a:extLst>
              <a:ext uri="{FF2B5EF4-FFF2-40B4-BE49-F238E27FC236}">
                <a16:creationId xmlns:a16="http://schemas.microsoft.com/office/drawing/2014/main" id="{C75B6539-9006-F00B-AB2E-560EB5060B55}"/>
              </a:ext>
            </a:extLst>
          </p:cNvPr>
          <p:cNvSpPr/>
          <p:nvPr/>
        </p:nvSpPr>
        <p:spPr>
          <a:xfrm>
            <a:off x="1911035" y="36189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3;p24">
            <a:extLst>
              <a:ext uri="{FF2B5EF4-FFF2-40B4-BE49-F238E27FC236}">
                <a16:creationId xmlns:a16="http://schemas.microsoft.com/office/drawing/2014/main" id="{419D89EB-F507-6D76-57CE-4E3386FFE0AE}"/>
              </a:ext>
            </a:extLst>
          </p:cNvPr>
          <p:cNvSpPr/>
          <p:nvPr/>
        </p:nvSpPr>
        <p:spPr>
          <a:xfrm>
            <a:off x="2120860" y="407556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14;p24">
            <a:extLst>
              <a:ext uri="{FF2B5EF4-FFF2-40B4-BE49-F238E27FC236}">
                <a16:creationId xmlns:a16="http://schemas.microsoft.com/office/drawing/2014/main" id="{FDA1A617-213A-25DB-CCD1-6CF141B0D405}"/>
              </a:ext>
            </a:extLst>
          </p:cNvPr>
          <p:cNvSpPr/>
          <p:nvPr/>
        </p:nvSpPr>
        <p:spPr>
          <a:xfrm>
            <a:off x="2666560" y="4210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15;p24">
            <a:extLst>
              <a:ext uri="{FF2B5EF4-FFF2-40B4-BE49-F238E27FC236}">
                <a16:creationId xmlns:a16="http://schemas.microsoft.com/office/drawing/2014/main" id="{9BA3194F-F4C0-0FC6-0ED7-E01EE8FE883F}"/>
              </a:ext>
            </a:extLst>
          </p:cNvPr>
          <p:cNvSpPr/>
          <p:nvPr/>
        </p:nvSpPr>
        <p:spPr>
          <a:xfrm>
            <a:off x="307276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16;p24">
            <a:extLst>
              <a:ext uri="{FF2B5EF4-FFF2-40B4-BE49-F238E27FC236}">
                <a16:creationId xmlns:a16="http://schemas.microsoft.com/office/drawing/2014/main" id="{774C4663-5D70-8B98-1BDF-65E7F189B9D6}"/>
              </a:ext>
            </a:extLst>
          </p:cNvPr>
          <p:cNvSpPr/>
          <p:nvPr/>
        </p:nvSpPr>
        <p:spPr>
          <a:xfrm>
            <a:off x="375651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17;p24">
            <a:extLst>
              <a:ext uri="{FF2B5EF4-FFF2-40B4-BE49-F238E27FC236}">
                <a16:creationId xmlns:a16="http://schemas.microsoft.com/office/drawing/2014/main" id="{EE037D01-DABC-1B24-C33B-17245BF92A57}"/>
              </a:ext>
            </a:extLst>
          </p:cNvPr>
          <p:cNvSpPr/>
          <p:nvPr/>
        </p:nvSpPr>
        <p:spPr>
          <a:xfrm>
            <a:off x="1690235" y="3958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18;p24">
            <a:extLst>
              <a:ext uri="{FF2B5EF4-FFF2-40B4-BE49-F238E27FC236}">
                <a16:creationId xmlns:a16="http://schemas.microsoft.com/office/drawing/2014/main" id="{51F6D0AB-A903-EE92-888F-E74FC7E2C16C}"/>
              </a:ext>
            </a:extLst>
          </p:cNvPr>
          <p:cNvSpPr/>
          <p:nvPr/>
        </p:nvSpPr>
        <p:spPr>
          <a:xfrm>
            <a:off x="2024385" y="439503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19;p24">
            <a:extLst>
              <a:ext uri="{FF2B5EF4-FFF2-40B4-BE49-F238E27FC236}">
                <a16:creationId xmlns:a16="http://schemas.microsoft.com/office/drawing/2014/main" id="{D3E002D1-FBC9-100E-BE20-E521DB3D5422}"/>
              </a:ext>
            </a:extLst>
          </p:cNvPr>
          <p:cNvSpPr/>
          <p:nvPr/>
        </p:nvSpPr>
        <p:spPr>
          <a:xfrm>
            <a:off x="2354560" y="460314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20;p24">
            <a:extLst>
              <a:ext uri="{FF2B5EF4-FFF2-40B4-BE49-F238E27FC236}">
                <a16:creationId xmlns:a16="http://schemas.microsoft.com/office/drawing/2014/main" id="{5A9BB2B1-CE03-E043-081B-9D1989346754}"/>
              </a:ext>
            </a:extLst>
          </p:cNvPr>
          <p:cNvSpPr/>
          <p:nvPr/>
        </p:nvSpPr>
        <p:spPr>
          <a:xfrm>
            <a:off x="2759560" y="484221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21;p24">
            <a:extLst>
              <a:ext uri="{FF2B5EF4-FFF2-40B4-BE49-F238E27FC236}">
                <a16:creationId xmlns:a16="http://schemas.microsoft.com/office/drawing/2014/main" id="{B9831F75-1254-D20B-788C-5AD889FC43F9}"/>
              </a:ext>
            </a:extLst>
          </p:cNvPr>
          <p:cNvSpPr/>
          <p:nvPr/>
        </p:nvSpPr>
        <p:spPr>
          <a:xfrm>
            <a:off x="3395675" y="471803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" name="Google Shape;312;p30">
            <a:extLst>
              <a:ext uri="{FF2B5EF4-FFF2-40B4-BE49-F238E27FC236}">
                <a16:creationId xmlns:a16="http://schemas.microsoft.com/office/drawing/2014/main" id="{F2A6B229-4AC5-D11C-CE69-16C20FABD3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5785701" y="200061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12;p30">
            <a:extLst>
              <a:ext uri="{FF2B5EF4-FFF2-40B4-BE49-F238E27FC236}">
                <a16:creationId xmlns:a16="http://schemas.microsoft.com/office/drawing/2014/main" id="{B5F47A5E-6493-05B0-104F-1AD4D61B068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7894222" y="2481710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12;p30">
            <a:extLst>
              <a:ext uri="{FF2B5EF4-FFF2-40B4-BE49-F238E27FC236}">
                <a16:creationId xmlns:a16="http://schemas.microsoft.com/office/drawing/2014/main" id="{307F7DBE-A077-1EBB-08AB-3CF3CF1C1E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821144" y="3479169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12;p30">
            <a:extLst>
              <a:ext uri="{FF2B5EF4-FFF2-40B4-BE49-F238E27FC236}">
                <a16:creationId xmlns:a16="http://schemas.microsoft.com/office/drawing/2014/main" id="{8E7155CD-078B-774F-6CD0-24E60006C8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721214" y="442528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12;p30">
            <a:extLst>
              <a:ext uri="{FF2B5EF4-FFF2-40B4-BE49-F238E27FC236}">
                <a16:creationId xmlns:a16="http://schemas.microsoft.com/office/drawing/2014/main" id="{F0327C03-9356-4737-7DC9-337C7909CE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355967" y="4781587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12;p30">
            <a:extLst>
              <a:ext uri="{FF2B5EF4-FFF2-40B4-BE49-F238E27FC236}">
                <a16:creationId xmlns:a16="http://schemas.microsoft.com/office/drawing/2014/main" id="{72B8F42C-E5DC-3E49-0E67-2654AAFD15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4645150" y="5094216"/>
            <a:ext cx="1422451" cy="108587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B2526D-39D0-8FA6-F45E-5A0DE07B7217}"/>
              </a:ext>
            </a:extLst>
          </p:cNvPr>
          <p:cNvCxnSpPr>
            <a:stCxn id="15" idx="6"/>
            <a:endCxn id="32" idx="1"/>
          </p:cNvCxnSpPr>
          <p:nvPr/>
        </p:nvCxnSpPr>
        <p:spPr>
          <a:xfrm flipV="1">
            <a:off x="3831355" y="2543546"/>
            <a:ext cx="1954346" cy="38342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C8ED51-49B9-C668-ACE3-2B88E00E530B}"/>
              </a:ext>
            </a:extLst>
          </p:cNvPr>
          <p:cNvCxnSpPr>
            <a:cxnSpLocks/>
            <a:stCxn id="16" idx="6"/>
            <a:endCxn id="33" idx="1"/>
          </p:cNvCxnSpPr>
          <p:nvPr/>
        </p:nvCxnSpPr>
        <p:spPr>
          <a:xfrm flipV="1">
            <a:off x="4120852" y="3024645"/>
            <a:ext cx="3773370" cy="30877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72342FA-7E6A-03B3-ADA8-5BF8B115002B}"/>
              </a:ext>
            </a:extLst>
          </p:cNvPr>
          <p:cNvCxnSpPr>
            <a:cxnSpLocks/>
            <a:stCxn id="18" idx="6"/>
            <a:endCxn id="35" idx="1"/>
          </p:cNvCxnSpPr>
          <p:nvPr/>
        </p:nvCxnSpPr>
        <p:spPr>
          <a:xfrm>
            <a:off x="4269223" y="3923178"/>
            <a:ext cx="4451991" cy="1045038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5B3AB4A-5929-8065-D544-334754E6BB94}"/>
              </a:ext>
            </a:extLst>
          </p:cNvPr>
          <p:cNvCxnSpPr>
            <a:cxnSpLocks/>
            <a:stCxn id="17" idx="4"/>
            <a:endCxn id="34" idx="1"/>
          </p:cNvCxnSpPr>
          <p:nvPr/>
        </p:nvCxnSpPr>
        <p:spPr>
          <a:xfrm>
            <a:off x="3661297" y="3549414"/>
            <a:ext cx="3159847" cy="47269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5C08CC-54B0-F390-EABD-6099D5197418}"/>
              </a:ext>
            </a:extLst>
          </p:cNvPr>
          <p:cNvCxnSpPr>
            <a:cxnSpLocks/>
            <a:stCxn id="25" idx="6"/>
            <a:endCxn id="36" idx="1"/>
          </p:cNvCxnSpPr>
          <p:nvPr/>
        </p:nvCxnSpPr>
        <p:spPr>
          <a:xfrm>
            <a:off x="4008510" y="4372722"/>
            <a:ext cx="2347457" cy="95180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19827F8-19C1-6BAE-4D34-C09CC426D7DB}"/>
              </a:ext>
            </a:extLst>
          </p:cNvPr>
          <p:cNvCxnSpPr>
            <a:cxnSpLocks/>
            <a:stCxn id="30" idx="6"/>
            <a:endCxn id="37" idx="1"/>
          </p:cNvCxnSpPr>
          <p:nvPr/>
        </p:nvCxnSpPr>
        <p:spPr>
          <a:xfrm>
            <a:off x="3647675" y="4844030"/>
            <a:ext cx="997475" cy="793121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31D606F3-3A08-B7A9-27BB-EAF6184E5139}"/>
              </a:ext>
            </a:extLst>
          </p:cNvPr>
          <p:cNvSpPr/>
          <p:nvPr/>
        </p:nvSpPr>
        <p:spPr>
          <a:xfrm>
            <a:off x="9687578" y="2668329"/>
            <a:ext cx="1747777" cy="1419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Parallelize on multiple (more) computers.</a:t>
            </a:r>
          </a:p>
        </p:txBody>
      </p:sp>
      <p:sp>
        <p:nvSpPr>
          <p:cNvPr id="41" name="Footer Placeholder 40">
            <a:extLst>
              <a:ext uri="{FF2B5EF4-FFF2-40B4-BE49-F238E27FC236}">
                <a16:creationId xmlns:a16="http://schemas.microsoft.com/office/drawing/2014/main" id="{0E026804-1DF5-6AD1-BEC2-2F9E93BB3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28732052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6582-4F79-4F61-34CD-59001D23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Terms</a:t>
            </a:r>
          </a:p>
        </p:txBody>
      </p:sp>
      <p:sp>
        <p:nvSpPr>
          <p:cNvPr id="31" name="Date Placeholder 30">
            <a:extLst>
              <a:ext uri="{FF2B5EF4-FFF2-40B4-BE49-F238E27FC236}">
                <a16:creationId xmlns:a16="http://schemas.microsoft.com/office/drawing/2014/main" id="{7936384F-8F3A-93AC-423F-216617EA7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A5956E00-F4A6-2609-3EE7-B8F3CAAC9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11</a:t>
            </a:fld>
            <a:endParaRPr lang="en-US"/>
          </a:p>
        </p:txBody>
      </p:sp>
      <p:sp>
        <p:nvSpPr>
          <p:cNvPr id="4" name="Google Shape;193;p24">
            <a:extLst>
              <a:ext uri="{FF2B5EF4-FFF2-40B4-BE49-F238E27FC236}">
                <a16:creationId xmlns:a16="http://schemas.microsoft.com/office/drawing/2014/main" id="{268A0553-11B9-E5E6-CB1D-F4D3BBDCBACF}"/>
              </a:ext>
            </a:extLst>
          </p:cNvPr>
          <p:cNvSpPr/>
          <p:nvPr/>
        </p:nvSpPr>
        <p:spPr>
          <a:xfrm>
            <a:off x="1420959" y="2257434"/>
            <a:ext cx="3071191" cy="306708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List of tasks</a:t>
            </a:r>
            <a:endParaRPr sz="2000" dirty="0"/>
          </a:p>
        </p:txBody>
      </p:sp>
      <p:sp>
        <p:nvSpPr>
          <p:cNvPr id="5" name="Google Shape;196;p24">
            <a:extLst>
              <a:ext uri="{FF2B5EF4-FFF2-40B4-BE49-F238E27FC236}">
                <a16:creationId xmlns:a16="http://schemas.microsoft.com/office/drawing/2014/main" id="{5010A4B9-F5A6-CBE3-A6EC-60EC9F977EC4}"/>
              </a:ext>
            </a:extLst>
          </p:cNvPr>
          <p:cNvSpPr/>
          <p:nvPr/>
        </p:nvSpPr>
        <p:spPr>
          <a:xfrm>
            <a:off x="2321560" y="2586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7;p24">
            <a:extLst>
              <a:ext uri="{FF2B5EF4-FFF2-40B4-BE49-F238E27FC236}">
                <a16:creationId xmlns:a16="http://schemas.microsoft.com/office/drawing/2014/main" id="{CA622782-34D3-581F-7ECD-27580E32AFCF}"/>
              </a:ext>
            </a:extLst>
          </p:cNvPr>
          <p:cNvSpPr/>
          <p:nvPr/>
        </p:nvSpPr>
        <p:spPr>
          <a:xfrm>
            <a:off x="2714510" y="24311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98;p24">
            <a:extLst>
              <a:ext uri="{FF2B5EF4-FFF2-40B4-BE49-F238E27FC236}">
                <a16:creationId xmlns:a16="http://schemas.microsoft.com/office/drawing/2014/main" id="{CF3EDD4A-1928-3E33-3810-957A6EEBDE9B}"/>
              </a:ext>
            </a:extLst>
          </p:cNvPr>
          <p:cNvSpPr/>
          <p:nvPr/>
        </p:nvSpPr>
        <p:spPr>
          <a:xfrm>
            <a:off x="2666560" y="2838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99;p24">
            <a:extLst>
              <a:ext uri="{FF2B5EF4-FFF2-40B4-BE49-F238E27FC236}">
                <a16:creationId xmlns:a16="http://schemas.microsoft.com/office/drawing/2014/main" id="{C4198C95-EA2B-9968-DC89-DB631D3EFB48}"/>
              </a:ext>
            </a:extLst>
          </p:cNvPr>
          <p:cNvSpPr/>
          <p:nvPr/>
        </p:nvSpPr>
        <p:spPr>
          <a:xfrm>
            <a:off x="3112782" y="249572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00;p24">
            <a:extLst>
              <a:ext uri="{FF2B5EF4-FFF2-40B4-BE49-F238E27FC236}">
                <a16:creationId xmlns:a16="http://schemas.microsoft.com/office/drawing/2014/main" id="{81A99608-031A-813F-AC66-E8AF13FAEA81}"/>
              </a:ext>
            </a:extLst>
          </p:cNvPr>
          <p:cNvSpPr/>
          <p:nvPr/>
        </p:nvSpPr>
        <p:spPr>
          <a:xfrm>
            <a:off x="1976560" y="2760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01;p24">
            <a:extLst>
              <a:ext uri="{FF2B5EF4-FFF2-40B4-BE49-F238E27FC236}">
                <a16:creationId xmlns:a16="http://schemas.microsoft.com/office/drawing/2014/main" id="{6E208D08-9890-9355-4CF2-147B7DABDC51}"/>
              </a:ext>
            </a:extLst>
          </p:cNvPr>
          <p:cNvSpPr/>
          <p:nvPr/>
        </p:nvSpPr>
        <p:spPr>
          <a:xfrm>
            <a:off x="2467594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02;p24">
            <a:extLst>
              <a:ext uri="{FF2B5EF4-FFF2-40B4-BE49-F238E27FC236}">
                <a16:creationId xmlns:a16="http://schemas.microsoft.com/office/drawing/2014/main" id="{33A4C7A0-9538-9688-650C-395019CD7A89}"/>
              </a:ext>
            </a:extLst>
          </p:cNvPr>
          <p:cNvSpPr/>
          <p:nvPr/>
        </p:nvSpPr>
        <p:spPr>
          <a:xfrm>
            <a:off x="1724560" y="3118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03;p24">
            <a:extLst>
              <a:ext uri="{FF2B5EF4-FFF2-40B4-BE49-F238E27FC236}">
                <a16:creationId xmlns:a16="http://schemas.microsoft.com/office/drawing/2014/main" id="{CBC631CC-18C4-9174-B1ED-BFDFA39196F8}"/>
              </a:ext>
            </a:extLst>
          </p:cNvPr>
          <p:cNvSpPr/>
          <p:nvPr/>
        </p:nvSpPr>
        <p:spPr>
          <a:xfrm>
            <a:off x="2069560" y="3244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04;p24">
            <a:extLst>
              <a:ext uri="{FF2B5EF4-FFF2-40B4-BE49-F238E27FC236}">
                <a16:creationId xmlns:a16="http://schemas.microsoft.com/office/drawing/2014/main" id="{10DCEB99-BF53-732A-1855-9D2EA7539C8E}"/>
              </a:ext>
            </a:extLst>
          </p:cNvPr>
          <p:cNvSpPr/>
          <p:nvPr/>
        </p:nvSpPr>
        <p:spPr>
          <a:xfrm>
            <a:off x="3011560" y="3012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05;p24">
            <a:extLst>
              <a:ext uri="{FF2B5EF4-FFF2-40B4-BE49-F238E27FC236}">
                <a16:creationId xmlns:a16="http://schemas.microsoft.com/office/drawing/2014/main" id="{B6E6A093-9297-8F0B-BB3F-9E199E9C2DEB}"/>
              </a:ext>
            </a:extLst>
          </p:cNvPr>
          <p:cNvSpPr/>
          <p:nvPr/>
        </p:nvSpPr>
        <p:spPr>
          <a:xfrm>
            <a:off x="3167072" y="331558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06;p24">
            <a:extLst>
              <a:ext uri="{FF2B5EF4-FFF2-40B4-BE49-F238E27FC236}">
                <a16:creationId xmlns:a16="http://schemas.microsoft.com/office/drawing/2014/main" id="{EA87AB06-3C64-EC6C-01F5-1BC80FC6C8C2}"/>
              </a:ext>
            </a:extLst>
          </p:cNvPr>
          <p:cNvSpPr/>
          <p:nvPr/>
        </p:nvSpPr>
        <p:spPr>
          <a:xfrm>
            <a:off x="3579355" y="2800971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07;p24">
            <a:extLst>
              <a:ext uri="{FF2B5EF4-FFF2-40B4-BE49-F238E27FC236}">
                <a16:creationId xmlns:a16="http://schemas.microsoft.com/office/drawing/2014/main" id="{EED88E70-4966-C7C1-ACD2-01FB2146BEE5}"/>
              </a:ext>
            </a:extLst>
          </p:cNvPr>
          <p:cNvSpPr/>
          <p:nvPr/>
        </p:nvSpPr>
        <p:spPr>
          <a:xfrm>
            <a:off x="3868852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08;p24">
            <a:extLst>
              <a:ext uri="{FF2B5EF4-FFF2-40B4-BE49-F238E27FC236}">
                <a16:creationId xmlns:a16="http://schemas.microsoft.com/office/drawing/2014/main" id="{593FF6C2-F10C-200A-581A-72D503F8ECAE}"/>
              </a:ext>
            </a:extLst>
          </p:cNvPr>
          <p:cNvSpPr/>
          <p:nvPr/>
        </p:nvSpPr>
        <p:spPr>
          <a:xfrm>
            <a:off x="3535297" y="329741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09;p24">
            <a:extLst>
              <a:ext uri="{FF2B5EF4-FFF2-40B4-BE49-F238E27FC236}">
                <a16:creationId xmlns:a16="http://schemas.microsoft.com/office/drawing/2014/main" id="{5D318761-F7FB-7724-0C19-DA73B4EDDAF7}"/>
              </a:ext>
            </a:extLst>
          </p:cNvPr>
          <p:cNvSpPr/>
          <p:nvPr/>
        </p:nvSpPr>
        <p:spPr>
          <a:xfrm>
            <a:off x="4017223" y="379717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210;p24">
            <a:extLst>
              <a:ext uri="{FF2B5EF4-FFF2-40B4-BE49-F238E27FC236}">
                <a16:creationId xmlns:a16="http://schemas.microsoft.com/office/drawing/2014/main" id="{F6268415-D03A-B5FA-47A5-4F3214F19D7D}"/>
              </a:ext>
            </a:extLst>
          </p:cNvPr>
          <p:cNvSpPr/>
          <p:nvPr/>
        </p:nvSpPr>
        <p:spPr>
          <a:xfrm>
            <a:off x="3453355" y="396881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11;p24">
            <a:extLst>
              <a:ext uri="{FF2B5EF4-FFF2-40B4-BE49-F238E27FC236}">
                <a16:creationId xmlns:a16="http://schemas.microsoft.com/office/drawing/2014/main" id="{EC0149DE-3FBF-93C3-D5D8-D2D6FFCA5C00}"/>
              </a:ext>
            </a:extLst>
          </p:cNvPr>
          <p:cNvSpPr/>
          <p:nvPr/>
        </p:nvSpPr>
        <p:spPr>
          <a:xfrm>
            <a:off x="1575335" y="3516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2;p24">
            <a:extLst>
              <a:ext uri="{FF2B5EF4-FFF2-40B4-BE49-F238E27FC236}">
                <a16:creationId xmlns:a16="http://schemas.microsoft.com/office/drawing/2014/main" id="{C75B6539-9006-F00B-AB2E-560EB5060B55}"/>
              </a:ext>
            </a:extLst>
          </p:cNvPr>
          <p:cNvSpPr/>
          <p:nvPr/>
        </p:nvSpPr>
        <p:spPr>
          <a:xfrm>
            <a:off x="1911035" y="36189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3;p24">
            <a:extLst>
              <a:ext uri="{FF2B5EF4-FFF2-40B4-BE49-F238E27FC236}">
                <a16:creationId xmlns:a16="http://schemas.microsoft.com/office/drawing/2014/main" id="{419D89EB-F507-6D76-57CE-4E3386FFE0AE}"/>
              </a:ext>
            </a:extLst>
          </p:cNvPr>
          <p:cNvSpPr/>
          <p:nvPr/>
        </p:nvSpPr>
        <p:spPr>
          <a:xfrm>
            <a:off x="2120860" y="407556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14;p24">
            <a:extLst>
              <a:ext uri="{FF2B5EF4-FFF2-40B4-BE49-F238E27FC236}">
                <a16:creationId xmlns:a16="http://schemas.microsoft.com/office/drawing/2014/main" id="{FDA1A617-213A-25DB-CCD1-6CF141B0D405}"/>
              </a:ext>
            </a:extLst>
          </p:cNvPr>
          <p:cNvSpPr/>
          <p:nvPr/>
        </p:nvSpPr>
        <p:spPr>
          <a:xfrm>
            <a:off x="2666560" y="4210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15;p24">
            <a:extLst>
              <a:ext uri="{FF2B5EF4-FFF2-40B4-BE49-F238E27FC236}">
                <a16:creationId xmlns:a16="http://schemas.microsoft.com/office/drawing/2014/main" id="{9BA3194F-F4C0-0FC6-0ED7-E01EE8FE883F}"/>
              </a:ext>
            </a:extLst>
          </p:cNvPr>
          <p:cNvSpPr/>
          <p:nvPr/>
        </p:nvSpPr>
        <p:spPr>
          <a:xfrm>
            <a:off x="307276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16;p24">
            <a:extLst>
              <a:ext uri="{FF2B5EF4-FFF2-40B4-BE49-F238E27FC236}">
                <a16:creationId xmlns:a16="http://schemas.microsoft.com/office/drawing/2014/main" id="{774C4663-5D70-8B98-1BDF-65E7F189B9D6}"/>
              </a:ext>
            </a:extLst>
          </p:cNvPr>
          <p:cNvSpPr/>
          <p:nvPr/>
        </p:nvSpPr>
        <p:spPr>
          <a:xfrm>
            <a:off x="375651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17;p24">
            <a:extLst>
              <a:ext uri="{FF2B5EF4-FFF2-40B4-BE49-F238E27FC236}">
                <a16:creationId xmlns:a16="http://schemas.microsoft.com/office/drawing/2014/main" id="{EE037D01-DABC-1B24-C33B-17245BF92A57}"/>
              </a:ext>
            </a:extLst>
          </p:cNvPr>
          <p:cNvSpPr/>
          <p:nvPr/>
        </p:nvSpPr>
        <p:spPr>
          <a:xfrm>
            <a:off x="1690235" y="3958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18;p24">
            <a:extLst>
              <a:ext uri="{FF2B5EF4-FFF2-40B4-BE49-F238E27FC236}">
                <a16:creationId xmlns:a16="http://schemas.microsoft.com/office/drawing/2014/main" id="{51F6D0AB-A903-EE92-888F-E74FC7E2C16C}"/>
              </a:ext>
            </a:extLst>
          </p:cNvPr>
          <p:cNvSpPr/>
          <p:nvPr/>
        </p:nvSpPr>
        <p:spPr>
          <a:xfrm>
            <a:off x="2024385" y="439503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19;p24">
            <a:extLst>
              <a:ext uri="{FF2B5EF4-FFF2-40B4-BE49-F238E27FC236}">
                <a16:creationId xmlns:a16="http://schemas.microsoft.com/office/drawing/2014/main" id="{D3E002D1-FBC9-100E-BE20-E521DB3D5422}"/>
              </a:ext>
            </a:extLst>
          </p:cNvPr>
          <p:cNvSpPr/>
          <p:nvPr/>
        </p:nvSpPr>
        <p:spPr>
          <a:xfrm>
            <a:off x="2354560" y="460314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20;p24">
            <a:extLst>
              <a:ext uri="{FF2B5EF4-FFF2-40B4-BE49-F238E27FC236}">
                <a16:creationId xmlns:a16="http://schemas.microsoft.com/office/drawing/2014/main" id="{5A9BB2B1-CE03-E043-081B-9D1989346754}"/>
              </a:ext>
            </a:extLst>
          </p:cNvPr>
          <p:cNvSpPr/>
          <p:nvPr/>
        </p:nvSpPr>
        <p:spPr>
          <a:xfrm>
            <a:off x="2759560" y="484221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21;p24">
            <a:extLst>
              <a:ext uri="{FF2B5EF4-FFF2-40B4-BE49-F238E27FC236}">
                <a16:creationId xmlns:a16="http://schemas.microsoft.com/office/drawing/2014/main" id="{B9831F75-1254-D20B-788C-5AD889FC43F9}"/>
              </a:ext>
            </a:extLst>
          </p:cNvPr>
          <p:cNvSpPr/>
          <p:nvPr/>
        </p:nvSpPr>
        <p:spPr>
          <a:xfrm>
            <a:off x="3395675" y="471803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" name="Google Shape;312;p30">
            <a:extLst>
              <a:ext uri="{FF2B5EF4-FFF2-40B4-BE49-F238E27FC236}">
                <a16:creationId xmlns:a16="http://schemas.microsoft.com/office/drawing/2014/main" id="{F2A6B229-4AC5-D11C-CE69-16C20FABD3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5785701" y="200061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12;p30">
            <a:extLst>
              <a:ext uri="{FF2B5EF4-FFF2-40B4-BE49-F238E27FC236}">
                <a16:creationId xmlns:a16="http://schemas.microsoft.com/office/drawing/2014/main" id="{B5F47A5E-6493-05B0-104F-1AD4D61B068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7894222" y="2481710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12;p30">
            <a:extLst>
              <a:ext uri="{FF2B5EF4-FFF2-40B4-BE49-F238E27FC236}">
                <a16:creationId xmlns:a16="http://schemas.microsoft.com/office/drawing/2014/main" id="{307F7DBE-A077-1EBB-08AB-3CF3CF1C1E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821144" y="3479169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12;p30">
            <a:extLst>
              <a:ext uri="{FF2B5EF4-FFF2-40B4-BE49-F238E27FC236}">
                <a16:creationId xmlns:a16="http://schemas.microsoft.com/office/drawing/2014/main" id="{8E7155CD-078B-774F-6CD0-24E60006C8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721214" y="442528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12;p30">
            <a:extLst>
              <a:ext uri="{FF2B5EF4-FFF2-40B4-BE49-F238E27FC236}">
                <a16:creationId xmlns:a16="http://schemas.microsoft.com/office/drawing/2014/main" id="{F0327C03-9356-4737-7DC9-337C7909CE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355967" y="4781587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12;p30">
            <a:extLst>
              <a:ext uri="{FF2B5EF4-FFF2-40B4-BE49-F238E27FC236}">
                <a16:creationId xmlns:a16="http://schemas.microsoft.com/office/drawing/2014/main" id="{72B8F42C-E5DC-3E49-0E67-2654AAFD15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4645150" y="5094216"/>
            <a:ext cx="1422451" cy="108587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B2526D-39D0-8FA6-F45E-5A0DE07B7217}"/>
              </a:ext>
            </a:extLst>
          </p:cNvPr>
          <p:cNvCxnSpPr>
            <a:stCxn id="15" idx="6"/>
            <a:endCxn id="32" idx="1"/>
          </p:cNvCxnSpPr>
          <p:nvPr/>
        </p:nvCxnSpPr>
        <p:spPr>
          <a:xfrm flipV="1">
            <a:off x="3831355" y="2543546"/>
            <a:ext cx="1954346" cy="38342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C8ED51-49B9-C668-ACE3-2B88E00E530B}"/>
              </a:ext>
            </a:extLst>
          </p:cNvPr>
          <p:cNvCxnSpPr>
            <a:cxnSpLocks/>
            <a:stCxn id="16" idx="6"/>
            <a:endCxn id="33" idx="1"/>
          </p:cNvCxnSpPr>
          <p:nvPr/>
        </p:nvCxnSpPr>
        <p:spPr>
          <a:xfrm flipV="1">
            <a:off x="4120852" y="3024645"/>
            <a:ext cx="3773370" cy="30877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72342FA-7E6A-03B3-ADA8-5BF8B115002B}"/>
              </a:ext>
            </a:extLst>
          </p:cNvPr>
          <p:cNvCxnSpPr>
            <a:cxnSpLocks/>
            <a:stCxn id="18" idx="6"/>
            <a:endCxn id="35" idx="1"/>
          </p:cNvCxnSpPr>
          <p:nvPr/>
        </p:nvCxnSpPr>
        <p:spPr>
          <a:xfrm>
            <a:off x="4269223" y="3923178"/>
            <a:ext cx="4451991" cy="1045038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5B3AB4A-5929-8065-D544-334754E6BB94}"/>
              </a:ext>
            </a:extLst>
          </p:cNvPr>
          <p:cNvCxnSpPr>
            <a:cxnSpLocks/>
            <a:stCxn id="17" idx="4"/>
            <a:endCxn id="34" idx="1"/>
          </p:cNvCxnSpPr>
          <p:nvPr/>
        </p:nvCxnSpPr>
        <p:spPr>
          <a:xfrm>
            <a:off x="3661297" y="3549414"/>
            <a:ext cx="3159847" cy="47269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5C08CC-54B0-F390-EABD-6099D5197418}"/>
              </a:ext>
            </a:extLst>
          </p:cNvPr>
          <p:cNvCxnSpPr>
            <a:cxnSpLocks/>
            <a:stCxn id="25" idx="6"/>
            <a:endCxn id="36" idx="1"/>
          </p:cNvCxnSpPr>
          <p:nvPr/>
        </p:nvCxnSpPr>
        <p:spPr>
          <a:xfrm>
            <a:off x="4008510" y="4372722"/>
            <a:ext cx="2347457" cy="95180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19827F8-19C1-6BAE-4D34-C09CC426D7DB}"/>
              </a:ext>
            </a:extLst>
          </p:cNvPr>
          <p:cNvCxnSpPr>
            <a:cxnSpLocks/>
            <a:stCxn id="30" idx="6"/>
            <a:endCxn id="37" idx="1"/>
          </p:cNvCxnSpPr>
          <p:nvPr/>
        </p:nvCxnSpPr>
        <p:spPr>
          <a:xfrm>
            <a:off x="3647675" y="4844030"/>
            <a:ext cx="997475" cy="793121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1E61342-9626-58D3-F406-85C7BB7072BB}"/>
              </a:ext>
            </a:extLst>
          </p:cNvPr>
          <p:cNvSpPr txBox="1"/>
          <p:nvPr/>
        </p:nvSpPr>
        <p:spPr>
          <a:xfrm>
            <a:off x="7611585" y="1491566"/>
            <a:ext cx="235490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Execution Point </a:t>
            </a:r>
          </a:p>
          <a:p>
            <a:pPr algn="ctr"/>
            <a:r>
              <a:rPr lang="en-US" dirty="0"/>
              <a:t>Computer available to run jobs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0FE6B9-4666-A305-FC49-89FC60DD957C}"/>
              </a:ext>
            </a:extLst>
          </p:cNvPr>
          <p:cNvSpPr txBox="1"/>
          <p:nvPr/>
        </p:nvSpPr>
        <p:spPr>
          <a:xfrm>
            <a:off x="9579532" y="2306046"/>
            <a:ext cx="2354904" cy="34163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Resources in an EP</a:t>
            </a:r>
          </a:p>
          <a:p>
            <a:r>
              <a:rPr lang="en-US" u="sng" dirty="0"/>
              <a:t>cores/CPUs:</a:t>
            </a:r>
            <a:r>
              <a:rPr lang="en-US" b="1" dirty="0"/>
              <a:t> </a:t>
            </a:r>
            <a:r>
              <a:rPr lang="en-US" dirty="0"/>
              <a:t>processing unit of computer</a:t>
            </a:r>
          </a:p>
          <a:p>
            <a:r>
              <a:rPr lang="en-US" u="sng" dirty="0"/>
              <a:t>memory/RAM:</a:t>
            </a:r>
            <a:r>
              <a:rPr lang="en-US" b="1" dirty="0"/>
              <a:t> </a:t>
            </a:r>
            <a:r>
              <a:rPr lang="en-US" dirty="0"/>
              <a:t>space to temporarily store information (working memory)</a:t>
            </a:r>
          </a:p>
          <a:p>
            <a:r>
              <a:rPr lang="en-US" u="sng" dirty="0"/>
              <a:t>disk: </a:t>
            </a:r>
            <a:r>
              <a:rPr lang="en-US" dirty="0"/>
              <a:t>space for persistent files</a:t>
            </a:r>
          </a:p>
          <a:p>
            <a:r>
              <a:rPr lang="en-US" u="sng" dirty="0"/>
              <a:t>GPUs: </a:t>
            </a:r>
            <a:r>
              <a:rPr lang="en-US" dirty="0"/>
              <a:t>specialized processing units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A3C04F-3AAA-A9EF-94F4-2D6F62DD628E}"/>
              </a:ext>
            </a:extLst>
          </p:cNvPr>
          <p:cNvSpPr txBox="1"/>
          <p:nvPr/>
        </p:nvSpPr>
        <p:spPr>
          <a:xfrm>
            <a:off x="5539317" y="3370759"/>
            <a:ext cx="2072268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Scheduler</a:t>
            </a:r>
          </a:p>
          <a:p>
            <a:pPr algn="ctr"/>
            <a:r>
              <a:rPr lang="en-US" dirty="0"/>
              <a:t>A program that can assign Jobs to Execution Points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2B78BA-1084-2938-0E4A-1E507917CE04}"/>
              </a:ext>
            </a:extLst>
          </p:cNvPr>
          <p:cNvSpPr txBox="1"/>
          <p:nvPr/>
        </p:nvSpPr>
        <p:spPr>
          <a:xfrm>
            <a:off x="856644" y="4549968"/>
            <a:ext cx="2318800" cy="147732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Job</a:t>
            </a:r>
          </a:p>
          <a:p>
            <a:pPr algn="ctr"/>
            <a:r>
              <a:rPr lang="en-US" dirty="0"/>
              <a:t>Formal description of the task you want to run (usually input, executable, output)</a:t>
            </a:r>
          </a:p>
        </p:txBody>
      </p:sp>
      <p:sp>
        <p:nvSpPr>
          <p:cNvPr id="47" name="Footer Placeholder 46">
            <a:extLst>
              <a:ext uri="{FF2B5EF4-FFF2-40B4-BE49-F238E27FC236}">
                <a16:creationId xmlns:a16="http://schemas.microsoft.com/office/drawing/2014/main" id="{20298CFC-7703-609F-F945-36DE58AFB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2590992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6582-4F79-4F61-34CD-59001D23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Throughput Computing (HTC)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BFD275-4442-7D88-DE66-2D458A7F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EBCA8FDE-BB82-1C17-111B-0020B6F99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12</a:t>
            </a:fld>
            <a:endParaRPr lang="en-US"/>
          </a:p>
        </p:txBody>
      </p:sp>
      <p:sp>
        <p:nvSpPr>
          <p:cNvPr id="4" name="Google Shape;193;p24">
            <a:extLst>
              <a:ext uri="{FF2B5EF4-FFF2-40B4-BE49-F238E27FC236}">
                <a16:creationId xmlns:a16="http://schemas.microsoft.com/office/drawing/2014/main" id="{268A0553-11B9-E5E6-CB1D-F4D3BBDCBACF}"/>
              </a:ext>
            </a:extLst>
          </p:cNvPr>
          <p:cNvSpPr/>
          <p:nvPr/>
        </p:nvSpPr>
        <p:spPr>
          <a:xfrm>
            <a:off x="1420959" y="2257434"/>
            <a:ext cx="3071191" cy="306708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List of tasks</a:t>
            </a:r>
            <a:endParaRPr sz="2000" dirty="0"/>
          </a:p>
        </p:txBody>
      </p:sp>
      <p:sp>
        <p:nvSpPr>
          <p:cNvPr id="5" name="Google Shape;196;p24">
            <a:extLst>
              <a:ext uri="{FF2B5EF4-FFF2-40B4-BE49-F238E27FC236}">
                <a16:creationId xmlns:a16="http://schemas.microsoft.com/office/drawing/2014/main" id="{5010A4B9-F5A6-CBE3-A6EC-60EC9F977EC4}"/>
              </a:ext>
            </a:extLst>
          </p:cNvPr>
          <p:cNvSpPr/>
          <p:nvPr/>
        </p:nvSpPr>
        <p:spPr>
          <a:xfrm>
            <a:off x="2321560" y="2586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7;p24">
            <a:extLst>
              <a:ext uri="{FF2B5EF4-FFF2-40B4-BE49-F238E27FC236}">
                <a16:creationId xmlns:a16="http://schemas.microsoft.com/office/drawing/2014/main" id="{CA622782-34D3-581F-7ECD-27580E32AFCF}"/>
              </a:ext>
            </a:extLst>
          </p:cNvPr>
          <p:cNvSpPr/>
          <p:nvPr/>
        </p:nvSpPr>
        <p:spPr>
          <a:xfrm>
            <a:off x="2714510" y="24311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98;p24">
            <a:extLst>
              <a:ext uri="{FF2B5EF4-FFF2-40B4-BE49-F238E27FC236}">
                <a16:creationId xmlns:a16="http://schemas.microsoft.com/office/drawing/2014/main" id="{CF3EDD4A-1928-3E33-3810-957A6EEBDE9B}"/>
              </a:ext>
            </a:extLst>
          </p:cNvPr>
          <p:cNvSpPr/>
          <p:nvPr/>
        </p:nvSpPr>
        <p:spPr>
          <a:xfrm>
            <a:off x="2666560" y="28380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99;p24">
            <a:extLst>
              <a:ext uri="{FF2B5EF4-FFF2-40B4-BE49-F238E27FC236}">
                <a16:creationId xmlns:a16="http://schemas.microsoft.com/office/drawing/2014/main" id="{C4198C95-EA2B-9968-DC89-DB631D3EFB48}"/>
              </a:ext>
            </a:extLst>
          </p:cNvPr>
          <p:cNvSpPr/>
          <p:nvPr/>
        </p:nvSpPr>
        <p:spPr>
          <a:xfrm>
            <a:off x="3112782" y="249572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00;p24">
            <a:extLst>
              <a:ext uri="{FF2B5EF4-FFF2-40B4-BE49-F238E27FC236}">
                <a16:creationId xmlns:a16="http://schemas.microsoft.com/office/drawing/2014/main" id="{81A99608-031A-813F-AC66-E8AF13FAEA81}"/>
              </a:ext>
            </a:extLst>
          </p:cNvPr>
          <p:cNvSpPr/>
          <p:nvPr/>
        </p:nvSpPr>
        <p:spPr>
          <a:xfrm>
            <a:off x="1976560" y="2760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01;p24">
            <a:extLst>
              <a:ext uri="{FF2B5EF4-FFF2-40B4-BE49-F238E27FC236}">
                <a16:creationId xmlns:a16="http://schemas.microsoft.com/office/drawing/2014/main" id="{6E208D08-9890-9355-4CF2-147B7DABDC51}"/>
              </a:ext>
            </a:extLst>
          </p:cNvPr>
          <p:cNvSpPr/>
          <p:nvPr/>
        </p:nvSpPr>
        <p:spPr>
          <a:xfrm>
            <a:off x="2467594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02;p24">
            <a:extLst>
              <a:ext uri="{FF2B5EF4-FFF2-40B4-BE49-F238E27FC236}">
                <a16:creationId xmlns:a16="http://schemas.microsoft.com/office/drawing/2014/main" id="{33A4C7A0-9538-9688-650C-395019CD7A89}"/>
              </a:ext>
            </a:extLst>
          </p:cNvPr>
          <p:cNvSpPr/>
          <p:nvPr/>
        </p:nvSpPr>
        <p:spPr>
          <a:xfrm>
            <a:off x="1724560" y="3118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03;p24">
            <a:extLst>
              <a:ext uri="{FF2B5EF4-FFF2-40B4-BE49-F238E27FC236}">
                <a16:creationId xmlns:a16="http://schemas.microsoft.com/office/drawing/2014/main" id="{CBC631CC-18C4-9174-B1ED-BFDFA39196F8}"/>
              </a:ext>
            </a:extLst>
          </p:cNvPr>
          <p:cNvSpPr/>
          <p:nvPr/>
        </p:nvSpPr>
        <p:spPr>
          <a:xfrm>
            <a:off x="2069560" y="324475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04;p24">
            <a:extLst>
              <a:ext uri="{FF2B5EF4-FFF2-40B4-BE49-F238E27FC236}">
                <a16:creationId xmlns:a16="http://schemas.microsoft.com/office/drawing/2014/main" id="{10DCEB99-BF53-732A-1855-9D2EA7539C8E}"/>
              </a:ext>
            </a:extLst>
          </p:cNvPr>
          <p:cNvSpPr/>
          <p:nvPr/>
        </p:nvSpPr>
        <p:spPr>
          <a:xfrm>
            <a:off x="3011560" y="3012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05;p24">
            <a:extLst>
              <a:ext uri="{FF2B5EF4-FFF2-40B4-BE49-F238E27FC236}">
                <a16:creationId xmlns:a16="http://schemas.microsoft.com/office/drawing/2014/main" id="{B6E6A093-9297-8F0B-BB3F-9E199E9C2DEB}"/>
              </a:ext>
            </a:extLst>
          </p:cNvPr>
          <p:cNvSpPr/>
          <p:nvPr/>
        </p:nvSpPr>
        <p:spPr>
          <a:xfrm>
            <a:off x="3167072" y="331558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206;p24">
            <a:extLst>
              <a:ext uri="{FF2B5EF4-FFF2-40B4-BE49-F238E27FC236}">
                <a16:creationId xmlns:a16="http://schemas.microsoft.com/office/drawing/2014/main" id="{EA87AB06-3C64-EC6C-01F5-1BC80FC6C8C2}"/>
              </a:ext>
            </a:extLst>
          </p:cNvPr>
          <p:cNvSpPr/>
          <p:nvPr/>
        </p:nvSpPr>
        <p:spPr>
          <a:xfrm>
            <a:off x="3579355" y="2800971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207;p24">
            <a:extLst>
              <a:ext uri="{FF2B5EF4-FFF2-40B4-BE49-F238E27FC236}">
                <a16:creationId xmlns:a16="http://schemas.microsoft.com/office/drawing/2014/main" id="{EED88E70-4966-C7C1-ACD2-01FB2146BEE5}"/>
              </a:ext>
            </a:extLst>
          </p:cNvPr>
          <p:cNvSpPr/>
          <p:nvPr/>
        </p:nvSpPr>
        <p:spPr>
          <a:xfrm>
            <a:off x="3868852" y="320742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208;p24">
            <a:extLst>
              <a:ext uri="{FF2B5EF4-FFF2-40B4-BE49-F238E27FC236}">
                <a16:creationId xmlns:a16="http://schemas.microsoft.com/office/drawing/2014/main" id="{593FF6C2-F10C-200A-581A-72D503F8ECAE}"/>
              </a:ext>
            </a:extLst>
          </p:cNvPr>
          <p:cNvSpPr/>
          <p:nvPr/>
        </p:nvSpPr>
        <p:spPr>
          <a:xfrm>
            <a:off x="3535297" y="329741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209;p24">
            <a:extLst>
              <a:ext uri="{FF2B5EF4-FFF2-40B4-BE49-F238E27FC236}">
                <a16:creationId xmlns:a16="http://schemas.microsoft.com/office/drawing/2014/main" id="{5D318761-F7FB-7724-0C19-DA73B4EDDAF7}"/>
              </a:ext>
            </a:extLst>
          </p:cNvPr>
          <p:cNvSpPr/>
          <p:nvPr/>
        </p:nvSpPr>
        <p:spPr>
          <a:xfrm>
            <a:off x="4017223" y="3797178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210;p24">
            <a:extLst>
              <a:ext uri="{FF2B5EF4-FFF2-40B4-BE49-F238E27FC236}">
                <a16:creationId xmlns:a16="http://schemas.microsoft.com/office/drawing/2014/main" id="{F6268415-D03A-B5FA-47A5-4F3214F19D7D}"/>
              </a:ext>
            </a:extLst>
          </p:cNvPr>
          <p:cNvSpPr/>
          <p:nvPr/>
        </p:nvSpPr>
        <p:spPr>
          <a:xfrm>
            <a:off x="3453355" y="396881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11;p24">
            <a:extLst>
              <a:ext uri="{FF2B5EF4-FFF2-40B4-BE49-F238E27FC236}">
                <a16:creationId xmlns:a16="http://schemas.microsoft.com/office/drawing/2014/main" id="{EC0149DE-3FBF-93C3-D5D8-D2D6FFCA5C00}"/>
              </a:ext>
            </a:extLst>
          </p:cNvPr>
          <p:cNvSpPr/>
          <p:nvPr/>
        </p:nvSpPr>
        <p:spPr>
          <a:xfrm>
            <a:off x="1575335" y="3516334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2;p24">
            <a:extLst>
              <a:ext uri="{FF2B5EF4-FFF2-40B4-BE49-F238E27FC236}">
                <a16:creationId xmlns:a16="http://schemas.microsoft.com/office/drawing/2014/main" id="{C75B6539-9006-F00B-AB2E-560EB5060B55}"/>
              </a:ext>
            </a:extLst>
          </p:cNvPr>
          <p:cNvSpPr/>
          <p:nvPr/>
        </p:nvSpPr>
        <p:spPr>
          <a:xfrm>
            <a:off x="1911035" y="36189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3;p24">
            <a:extLst>
              <a:ext uri="{FF2B5EF4-FFF2-40B4-BE49-F238E27FC236}">
                <a16:creationId xmlns:a16="http://schemas.microsoft.com/office/drawing/2014/main" id="{419D89EB-F507-6D76-57CE-4E3386FFE0AE}"/>
              </a:ext>
            </a:extLst>
          </p:cNvPr>
          <p:cNvSpPr/>
          <p:nvPr/>
        </p:nvSpPr>
        <p:spPr>
          <a:xfrm>
            <a:off x="2120860" y="407556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14;p24">
            <a:extLst>
              <a:ext uri="{FF2B5EF4-FFF2-40B4-BE49-F238E27FC236}">
                <a16:creationId xmlns:a16="http://schemas.microsoft.com/office/drawing/2014/main" id="{FDA1A617-213A-25DB-CCD1-6CF141B0D405}"/>
              </a:ext>
            </a:extLst>
          </p:cNvPr>
          <p:cNvSpPr/>
          <p:nvPr/>
        </p:nvSpPr>
        <p:spPr>
          <a:xfrm>
            <a:off x="2666560" y="4210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15;p24">
            <a:extLst>
              <a:ext uri="{FF2B5EF4-FFF2-40B4-BE49-F238E27FC236}">
                <a16:creationId xmlns:a16="http://schemas.microsoft.com/office/drawing/2014/main" id="{9BA3194F-F4C0-0FC6-0ED7-E01EE8FE883F}"/>
              </a:ext>
            </a:extLst>
          </p:cNvPr>
          <p:cNvSpPr/>
          <p:nvPr/>
        </p:nvSpPr>
        <p:spPr>
          <a:xfrm>
            <a:off x="307276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16;p24">
            <a:extLst>
              <a:ext uri="{FF2B5EF4-FFF2-40B4-BE49-F238E27FC236}">
                <a16:creationId xmlns:a16="http://schemas.microsoft.com/office/drawing/2014/main" id="{774C4663-5D70-8B98-1BDF-65E7F189B9D6}"/>
              </a:ext>
            </a:extLst>
          </p:cNvPr>
          <p:cNvSpPr/>
          <p:nvPr/>
        </p:nvSpPr>
        <p:spPr>
          <a:xfrm>
            <a:off x="3756510" y="4246722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17;p24">
            <a:extLst>
              <a:ext uri="{FF2B5EF4-FFF2-40B4-BE49-F238E27FC236}">
                <a16:creationId xmlns:a16="http://schemas.microsoft.com/office/drawing/2014/main" id="{EE037D01-DABC-1B24-C33B-17245BF92A57}"/>
              </a:ext>
            </a:extLst>
          </p:cNvPr>
          <p:cNvSpPr/>
          <p:nvPr/>
        </p:nvSpPr>
        <p:spPr>
          <a:xfrm>
            <a:off x="1690235" y="3958809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18;p24">
            <a:extLst>
              <a:ext uri="{FF2B5EF4-FFF2-40B4-BE49-F238E27FC236}">
                <a16:creationId xmlns:a16="http://schemas.microsoft.com/office/drawing/2014/main" id="{51F6D0AB-A903-EE92-888F-E74FC7E2C16C}"/>
              </a:ext>
            </a:extLst>
          </p:cNvPr>
          <p:cNvSpPr/>
          <p:nvPr/>
        </p:nvSpPr>
        <p:spPr>
          <a:xfrm>
            <a:off x="2024385" y="4395037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19;p24">
            <a:extLst>
              <a:ext uri="{FF2B5EF4-FFF2-40B4-BE49-F238E27FC236}">
                <a16:creationId xmlns:a16="http://schemas.microsoft.com/office/drawing/2014/main" id="{D3E002D1-FBC9-100E-BE20-E521DB3D5422}"/>
              </a:ext>
            </a:extLst>
          </p:cNvPr>
          <p:cNvSpPr/>
          <p:nvPr/>
        </p:nvSpPr>
        <p:spPr>
          <a:xfrm>
            <a:off x="2354560" y="460314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20;p24">
            <a:extLst>
              <a:ext uri="{FF2B5EF4-FFF2-40B4-BE49-F238E27FC236}">
                <a16:creationId xmlns:a16="http://schemas.microsoft.com/office/drawing/2014/main" id="{5A9BB2B1-CE03-E043-081B-9D1989346754}"/>
              </a:ext>
            </a:extLst>
          </p:cNvPr>
          <p:cNvSpPr/>
          <p:nvPr/>
        </p:nvSpPr>
        <p:spPr>
          <a:xfrm>
            <a:off x="2759560" y="4842216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21;p24">
            <a:extLst>
              <a:ext uri="{FF2B5EF4-FFF2-40B4-BE49-F238E27FC236}">
                <a16:creationId xmlns:a16="http://schemas.microsoft.com/office/drawing/2014/main" id="{B9831F75-1254-D20B-788C-5AD889FC43F9}"/>
              </a:ext>
            </a:extLst>
          </p:cNvPr>
          <p:cNvSpPr/>
          <p:nvPr/>
        </p:nvSpPr>
        <p:spPr>
          <a:xfrm>
            <a:off x="3395675" y="4718030"/>
            <a:ext cx="252000" cy="252000"/>
          </a:xfrm>
          <a:prstGeom prst="ellipse">
            <a:avLst/>
          </a:prstGeom>
          <a:solidFill>
            <a:schemeClr val="accent1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" name="Google Shape;312;p30">
            <a:extLst>
              <a:ext uri="{FF2B5EF4-FFF2-40B4-BE49-F238E27FC236}">
                <a16:creationId xmlns:a16="http://schemas.microsoft.com/office/drawing/2014/main" id="{F2A6B229-4AC5-D11C-CE69-16C20FABD3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5785701" y="200061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12;p30">
            <a:extLst>
              <a:ext uri="{FF2B5EF4-FFF2-40B4-BE49-F238E27FC236}">
                <a16:creationId xmlns:a16="http://schemas.microsoft.com/office/drawing/2014/main" id="{B5F47A5E-6493-05B0-104F-1AD4D61B068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7894222" y="2481710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12;p30">
            <a:extLst>
              <a:ext uri="{FF2B5EF4-FFF2-40B4-BE49-F238E27FC236}">
                <a16:creationId xmlns:a16="http://schemas.microsoft.com/office/drawing/2014/main" id="{307F7DBE-A077-1EBB-08AB-3CF3CF1C1E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821144" y="3479169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12;p30">
            <a:extLst>
              <a:ext uri="{FF2B5EF4-FFF2-40B4-BE49-F238E27FC236}">
                <a16:creationId xmlns:a16="http://schemas.microsoft.com/office/drawing/2014/main" id="{8E7155CD-078B-774F-6CD0-24E60006C8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8721214" y="4425281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12;p30">
            <a:extLst>
              <a:ext uri="{FF2B5EF4-FFF2-40B4-BE49-F238E27FC236}">
                <a16:creationId xmlns:a16="http://schemas.microsoft.com/office/drawing/2014/main" id="{F0327C03-9356-4737-7DC9-337C7909CEC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6355967" y="4781587"/>
            <a:ext cx="1422451" cy="1085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12;p30">
            <a:extLst>
              <a:ext uri="{FF2B5EF4-FFF2-40B4-BE49-F238E27FC236}">
                <a16:creationId xmlns:a16="http://schemas.microsoft.com/office/drawing/2014/main" id="{72B8F42C-E5DC-3E49-0E67-2654AAFD15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3664"/>
          <a:stretch/>
        </p:blipFill>
        <p:spPr>
          <a:xfrm>
            <a:off x="4645150" y="5094216"/>
            <a:ext cx="1422451" cy="108587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B2526D-39D0-8FA6-F45E-5A0DE07B7217}"/>
              </a:ext>
            </a:extLst>
          </p:cNvPr>
          <p:cNvCxnSpPr>
            <a:stCxn id="15" idx="6"/>
            <a:endCxn id="32" idx="1"/>
          </p:cNvCxnSpPr>
          <p:nvPr/>
        </p:nvCxnSpPr>
        <p:spPr>
          <a:xfrm flipV="1">
            <a:off x="3831355" y="2543546"/>
            <a:ext cx="1954346" cy="38342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C8ED51-49B9-C668-ACE3-2B88E00E530B}"/>
              </a:ext>
            </a:extLst>
          </p:cNvPr>
          <p:cNvCxnSpPr>
            <a:cxnSpLocks/>
            <a:stCxn id="16" idx="6"/>
            <a:endCxn id="33" idx="1"/>
          </p:cNvCxnSpPr>
          <p:nvPr/>
        </p:nvCxnSpPr>
        <p:spPr>
          <a:xfrm flipV="1">
            <a:off x="4120852" y="3024645"/>
            <a:ext cx="3773370" cy="308775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72342FA-7E6A-03B3-ADA8-5BF8B115002B}"/>
              </a:ext>
            </a:extLst>
          </p:cNvPr>
          <p:cNvCxnSpPr>
            <a:cxnSpLocks/>
            <a:stCxn id="18" idx="6"/>
            <a:endCxn id="35" idx="1"/>
          </p:cNvCxnSpPr>
          <p:nvPr/>
        </p:nvCxnSpPr>
        <p:spPr>
          <a:xfrm>
            <a:off x="4269223" y="3923178"/>
            <a:ext cx="4451991" cy="1045038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5B3AB4A-5929-8065-D544-334754E6BB94}"/>
              </a:ext>
            </a:extLst>
          </p:cNvPr>
          <p:cNvCxnSpPr>
            <a:cxnSpLocks/>
            <a:stCxn id="17" idx="4"/>
            <a:endCxn id="34" idx="1"/>
          </p:cNvCxnSpPr>
          <p:nvPr/>
        </p:nvCxnSpPr>
        <p:spPr>
          <a:xfrm>
            <a:off x="3661297" y="3549414"/>
            <a:ext cx="3159847" cy="47269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5C08CC-54B0-F390-EABD-6099D5197418}"/>
              </a:ext>
            </a:extLst>
          </p:cNvPr>
          <p:cNvCxnSpPr>
            <a:cxnSpLocks/>
            <a:stCxn id="25" idx="6"/>
            <a:endCxn id="36" idx="1"/>
          </p:cNvCxnSpPr>
          <p:nvPr/>
        </p:nvCxnSpPr>
        <p:spPr>
          <a:xfrm>
            <a:off x="4008510" y="4372722"/>
            <a:ext cx="2347457" cy="95180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19827F8-19C1-6BAE-4D34-C09CC426D7DB}"/>
              </a:ext>
            </a:extLst>
          </p:cNvPr>
          <p:cNvCxnSpPr>
            <a:cxnSpLocks/>
            <a:stCxn id="30" idx="6"/>
            <a:endCxn id="37" idx="1"/>
          </p:cNvCxnSpPr>
          <p:nvPr/>
        </p:nvCxnSpPr>
        <p:spPr>
          <a:xfrm>
            <a:off x="3647675" y="4844030"/>
            <a:ext cx="997475" cy="793121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Footer Placeholder 37">
            <a:extLst>
              <a:ext uri="{FF2B5EF4-FFF2-40B4-BE49-F238E27FC236}">
                <a16:creationId xmlns:a16="http://schemas.microsoft.com/office/drawing/2014/main" id="{8BA3A471-CE86-176A-B4B4-6327BEFEB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2201535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51D89-DD27-8F7E-F0A6-2B91A2C10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do HTC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CBA0D-847A-5B6F-CFAB-AB9F05604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rtl="0" fontAlgn="base"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A “home” to organize and start the computation</a:t>
            </a:r>
          </a:p>
          <a:p>
            <a:pPr fontAlgn="base">
              <a:spcBef>
                <a:spcPts val="0"/>
              </a:spcBef>
            </a:pPr>
            <a:r>
              <a:rPr lang="en-US" dirty="0"/>
              <a:t>Access to more computing capacity (an HTC system)</a:t>
            </a:r>
          </a:p>
          <a:p>
            <a:pPr fontAlgn="base">
              <a:spcBef>
                <a:spcPts val="0"/>
              </a:spcBef>
            </a:pPr>
            <a:r>
              <a:rPr lang="en-US" dirty="0"/>
              <a:t>Tools to manage and run our list of tasks (the scheduler)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Components needed to run our tasks: software, scripts, data</a:t>
            </a:r>
          </a:p>
          <a:p>
            <a:pPr fontAlgn="base">
              <a:spcBef>
                <a:spcPts val="0"/>
              </a:spcBef>
              <a:spcAft>
                <a:spcPts val="1000"/>
              </a:spcAft>
            </a:pPr>
            <a:endParaRPr lang="en-US" dirty="0"/>
          </a:p>
          <a:p>
            <a:pPr marL="0" indent="0" fontAlgn="base">
              <a:spcBef>
                <a:spcPts val="0"/>
              </a:spcBef>
              <a:spcAft>
                <a:spcPts val="1000"/>
              </a:spcAft>
              <a:buNone/>
            </a:pPr>
            <a:r>
              <a:rPr lang="en-US" b="1" dirty="0"/>
              <a:t>This is exactly what we’re going to cover this week.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45DFB-4E71-CE55-EB13-531626D3B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36469-202B-EB28-D0FF-13E01F20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B7476-43EF-1032-E025-FABD65269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3931989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16581-433A-4056-A28E-6A24CE651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“Home” for HTC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4BAC3-354F-9329-9058-BF2A3FE12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Access Point account</a:t>
            </a:r>
            <a:endParaRPr lang="en-US" dirty="0"/>
          </a:p>
          <a:p>
            <a:pPr>
              <a:buFont typeface="Wingdings" pitchFamily="2" charset="2"/>
              <a:buChar char="q"/>
            </a:pPr>
            <a:r>
              <a:rPr lang="en-US" dirty="0"/>
              <a:t> ap40.uw.osg-htc.org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 some of you have have access to additional Access Points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OSG Online Guides</a:t>
            </a:r>
          </a:p>
          <a:p>
            <a:pPr lvl="1"/>
            <a:r>
              <a:rPr lang="en-US" dirty="0">
                <a:hlinkClick r:id="rId3"/>
              </a:rPr>
              <a:t>Main Page</a:t>
            </a:r>
            <a:r>
              <a:rPr lang="en-US" dirty="0"/>
              <a:t> &gt; </a:t>
            </a:r>
            <a:r>
              <a:rPr lang="en-US" dirty="0">
                <a:hlinkClick r:id="rId4"/>
              </a:rPr>
              <a:t>Get Started on the </a:t>
            </a:r>
            <a:r>
              <a:rPr lang="en-US" dirty="0" err="1">
                <a:hlinkClick r:id="rId4"/>
              </a:rPr>
              <a:t>OSPool</a:t>
            </a:r>
            <a:r>
              <a:rPr lang="en-US" dirty="0"/>
              <a:t> &gt; Account Setup</a:t>
            </a:r>
          </a:p>
          <a:p>
            <a:pPr lvl="1"/>
            <a:r>
              <a:rPr lang="en-US" dirty="0"/>
              <a:t>Account and guide portal: </a:t>
            </a:r>
            <a:r>
              <a:rPr lang="en-US" dirty="0">
                <a:hlinkClick r:id="rId5"/>
              </a:rPr>
              <a:t>https://portal.osg-htc.org/</a:t>
            </a:r>
            <a:r>
              <a:rPr lang="en-US" dirty="0"/>
              <a:t>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E0B3D4-E503-AD80-03F9-E8C558A3A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442A8-EFC4-B4D5-BF8B-17428A42F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BF25E9-A2BA-872B-AB4B-A61A7C679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3618239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57B2-01B0-66C6-5B7D-0986AE86E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to HTC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48CE0-C9D0-5D17-583C-CF6FB58C2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fontAlgn="base">
              <a:spcBef>
                <a:spcPts val="0"/>
              </a:spcBef>
              <a:spcAft>
                <a:spcPts val="1000"/>
              </a:spcAft>
              <a:buNone/>
            </a:pPr>
            <a:r>
              <a:rPr lang="en-US" b="1" dirty="0"/>
              <a:t>Open Science Pool</a:t>
            </a:r>
            <a:r>
              <a:rPr lang="en-US" dirty="0"/>
              <a:t> – Mon – Fri</a:t>
            </a:r>
          </a:p>
          <a:p>
            <a:pPr marL="0" indent="0" fontAlgn="base">
              <a:spcBef>
                <a:spcPts val="0"/>
              </a:spcBef>
              <a:spcAft>
                <a:spcPts val="1000"/>
              </a:spcAft>
              <a:buNone/>
            </a:pPr>
            <a:endParaRPr lang="en-US" dirty="0"/>
          </a:p>
          <a:p>
            <a:pPr fontAlgn="base">
              <a:spcBef>
                <a:spcPts val="0"/>
              </a:spcBef>
              <a:spcAft>
                <a:spcPts val="1000"/>
              </a:spcAft>
            </a:pPr>
            <a:r>
              <a:rPr lang="en-US" dirty="0"/>
              <a:t>OSG School materials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 err="1">
                <a:hlinkClick r:id="rId3"/>
              </a:rPr>
              <a:t>OSPool</a:t>
            </a:r>
            <a:r>
              <a:rPr lang="en-US" dirty="0">
                <a:hlinkClick r:id="rId3"/>
              </a:rPr>
              <a:t> Introduction </a:t>
            </a:r>
            <a:r>
              <a:rPr lang="en-US" dirty="0"/>
              <a:t>(Tuesday)</a:t>
            </a:r>
          </a:p>
          <a:p>
            <a:pPr fontAlgn="base">
              <a:spcBef>
                <a:spcPts val="0"/>
              </a:spcBef>
              <a:spcAft>
                <a:spcPts val="1000"/>
              </a:spcAft>
            </a:pPr>
            <a:r>
              <a:rPr lang="en-US" dirty="0"/>
              <a:t>OSG Online Guides</a:t>
            </a:r>
          </a:p>
          <a:p>
            <a:pPr lvl="1"/>
            <a:r>
              <a:rPr lang="en-US" dirty="0">
                <a:hlinkClick r:id="rId4"/>
              </a:rPr>
              <a:t>Main Page</a:t>
            </a:r>
            <a:r>
              <a:rPr lang="en-US" dirty="0"/>
              <a:t> &gt; </a:t>
            </a:r>
            <a:r>
              <a:rPr lang="en-US" dirty="0">
                <a:hlinkClick r:id="rId5"/>
              </a:rPr>
              <a:t>Get Started on the </a:t>
            </a:r>
            <a:r>
              <a:rPr lang="en-US" dirty="0" err="1">
                <a:hlinkClick r:id="rId5"/>
              </a:rPr>
              <a:t>OSPool</a:t>
            </a:r>
            <a:r>
              <a:rPr lang="en-US" dirty="0"/>
              <a:t> &gt; Welcome</a:t>
            </a:r>
          </a:p>
          <a:p>
            <a:pPr lvl="1"/>
            <a:r>
              <a:rPr lang="en-US" dirty="0"/>
              <a:t>Account and guide portal: </a:t>
            </a:r>
            <a:r>
              <a:rPr lang="en-US" dirty="0">
                <a:hlinkClick r:id="rId6"/>
              </a:rPr>
              <a:t>https://portal.osg-htc.org/</a:t>
            </a:r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534C6-F61C-0FBD-4030-D044AC9F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41900B-D7F9-80CC-E345-C06CD818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F4F95C-8010-6F3B-2F5A-DBF865AF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123574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7E58-DEDA-4B1B-6A2D-D17F5F0D5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Managing and Running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2C769-828A-0C93-FE93-64049C585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rtl="0" fontAlgn="base">
              <a:spcBef>
                <a:spcPts val="0"/>
              </a:spcBef>
              <a:spcAft>
                <a:spcPts val="1000"/>
              </a:spcAft>
              <a:buNone/>
            </a:pPr>
            <a:r>
              <a:rPr lang="en-US" b="1" dirty="0" err="1"/>
              <a:t>HTCondor</a:t>
            </a:r>
            <a:r>
              <a:rPr lang="en-US" dirty="0"/>
              <a:t> (for most cases) and </a:t>
            </a:r>
            <a:r>
              <a:rPr lang="en-US" b="1" dirty="0" err="1"/>
              <a:t>DAGMan</a:t>
            </a:r>
            <a:r>
              <a:rPr lang="en-US" dirty="0"/>
              <a:t> (for workflows)</a:t>
            </a:r>
          </a:p>
          <a:p>
            <a:pPr marL="0" indent="0" rtl="0" fontAlgn="base">
              <a:spcBef>
                <a:spcPts val="0"/>
              </a:spcBef>
              <a:spcAft>
                <a:spcPts val="1000"/>
              </a:spcAft>
              <a:buNone/>
            </a:pPr>
            <a:endParaRPr lang="en-US" dirty="0"/>
          </a:p>
          <a:p>
            <a:pPr rtl="0" fontAlgn="base"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dirty="0"/>
              <a:t>OSG School materials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 err="1">
                <a:hlinkClick r:id="rId3"/>
              </a:rPr>
              <a:t>HTCondor</a:t>
            </a:r>
            <a:r>
              <a:rPr lang="en-US" dirty="0">
                <a:hlinkClick r:id="rId3"/>
              </a:rPr>
              <a:t> Introduction</a:t>
            </a:r>
            <a:r>
              <a:rPr lang="en-US" dirty="0"/>
              <a:t> (Mon)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4"/>
              </a:rPr>
              <a:t>Troubleshooting</a:t>
            </a:r>
            <a:r>
              <a:rPr lang="en-US" dirty="0"/>
              <a:t> (Thurs)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5"/>
              </a:rPr>
              <a:t>Workflows with </a:t>
            </a:r>
            <a:r>
              <a:rPr lang="en-US" dirty="0" err="1">
                <a:hlinkClick r:id="rId5"/>
              </a:rPr>
              <a:t>DAGMan</a:t>
            </a:r>
            <a:r>
              <a:rPr lang="en-US" dirty="0">
                <a:hlinkClick r:id="rId5"/>
              </a:rPr>
              <a:t> </a:t>
            </a:r>
            <a:r>
              <a:rPr lang="en-US" dirty="0"/>
              <a:t>(Thurs)</a:t>
            </a:r>
          </a:p>
          <a:p>
            <a:pPr fontAlgn="base">
              <a:spcBef>
                <a:spcPts val="0"/>
              </a:spcBef>
              <a:spcAft>
                <a:spcPts val="1000"/>
              </a:spcAft>
            </a:pPr>
            <a:r>
              <a:rPr lang="en-US" dirty="0"/>
              <a:t>OSG Online Guides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6"/>
              </a:rPr>
              <a:t>Main Page</a:t>
            </a:r>
            <a:r>
              <a:rPr lang="en-US" dirty="0"/>
              <a:t> &gt; </a:t>
            </a:r>
            <a:r>
              <a:rPr lang="en-US" dirty="0">
                <a:hlinkClick r:id="rId7"/>
              </a:rPr>
              <a:t>Submit HTC Workloads</a:t>
            </a:r>
            <a:r>
              <a:rPr lang="en-US" dirty="0"/>
              <a:t> &gt; HTC Workload Planning, Testing and Scaling Up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6"/>
              </a:rPr>
              <a:t>Main Page </a:t>
            </a:r>
            <a:r>
              <a:rPr lang="en-US" dirty="0"/>
              <a:t>&gt; </a:t>
            </a:r>
            <a:r>
              <a:rPr lang="en-US" dirty="0">
                <a:hlinkClick r:id="rId7"/>
              </a:rPr>
              <a:t>Submit HTC Workloads</a:t>
            </a:r>
            <a:r>
              <a:rPr lang="en-US" dirty="0"/>
              <a:t> &gt; Monitor, Review and Troubleshoot Jobs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94A96-9530-AEF4-BD60-218D8DBD5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7C9C5-073B-163F-6C1B-0DBE5A52F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4214D1-92B3-65D6-D00A-9B70E9598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4285015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68C8-BDD7-9C55-C9E2-AA433E8E5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Components: Software, Data,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B935A-B2D6-2B6C-BDA0-EE71AA5BF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>
              <a:spcBef>
                <a:spcPts val="0"/>
              </a:spcBef>
              <a:spcAft>
                <a:spcPts val="1000"/>
              </a:spcAft>
            </a:pPr>
            <a:r>
              <a:rPr lang="en-US" dirty="0"/>
              <a:t>OSG School materials: 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3"/>
              </a:rPr>
              <a:t>Software</a:t>
            </a:r>
            <a:r>
              <a:rPr lang="en-US" dirty="0"/>
              <a:t> (Tuesday)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4"/>
              </a:rPr>
              <a:t>Data</a:t>
            </a:r>
            <a:r>
              <a:rPr lang="en-US" dirty="0"/>
              <a:t> (Wednesday)</a:t>
            </a:r>
          </a:p>
          <a:p>
            <a:pPr fontAlgn="base">
              <a:spcBef>
                <a:spcPts val="0"/>
              </a:spcBef>
              <a:spcAft>
                <a:spcPts val="1000"/>
              </a:spcAft>
            </a:pPr>
            <a:r>
              <a:rPr lang="en-US" dirty="0"/>
              <a:t>OSG Online Guides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5"/>
              </a:rPr>
              <a:t>Main Page</a:t>
            </a:r>
            <a:r>
              <a:rPr lang="en-US" dirty="0"/>
              <a:t> &gt; </a:t>
            </a:r>
            <a:r>
              <a:rPr lang="en-US" dirty="0">
                <a:hlinkClick r:id="rId6"/>
              </a:rPr>
              <a:t>Submit HTC Workloads</a:t>
            </a:r>
            <a:r>
              <a:rPr lang="en-US" dirty="0"/>
              <a:t> &gt; Managing Data for Jobs</a:t>
            </a:r>
          </a:p>
          <a:p>
            <a:pPr lvl="1" fontAlgn="base">
              <a:spcBef>
                <a:spcPts val="0"/>
              </a:spcBef>
              <a:spcAft>
                <a:spcPts val="1000"/>
              </a:spcAft>
            </a:pPr>
            <a:r>
              <a:rPr lang="en-US" dirty="0">
                <a:hlinkClick r:id="rId5"/>
              </a:rPr>
              <a:t>Main Page</a:t>
            </a:r>
            <a:r>
              <a:rPr lang="en-US" dirty="0"/>
              <a:t> &gt; </a:t>
            </a:r>
            <a:r>
              <a:rPr lang="en-US" dirty="0">
                <a:hlinkClick r:id="rId6"/>
              </a:rPr>
              <a:t>Submit HTC Workloads</a:t>
            </a:r>
            <a:r>
              <a:rPr lang="en-US" dirty="0"/>
              <a:t> &gt; Using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478354-9AF2-0E48-77BD-F9710FFF5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D4B1F9-E9DE-CBE0-5273-2E81A13E9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17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D8F86A-3AF8-7773-6AB2-F398A3CE0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215012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C0AFE-D810-3449-9FA2-E1F1A9F91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picture goals for the week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7C5EB9C-1B36-ACDA-2E81-76E1DE78E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6146188"/>
              </p:ext>
            </p:extLst>
          </p:nvPr>
        </p:nvGraphicFramePr>
        <p:xfrm>
          <a:off x="838200" y="1825625"/>
          <a:ext cx="10515600" cy="3479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8752659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6188989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2675861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24660146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035036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152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Identify your job "task", your list of inputs, and be able to express them in an </a:t>
                      </a:r>
                      <a:r>
                        <a:rPr lang="en-US" sz="18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HTCondor</a:t>
                      </a:r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submit file. 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Follow instructions to create a container and use it in a job; adapt for different software. </a:t>
                      </a:r>
                    </a:p>
                    <a:p>
                      <a:endParaRPr lang="en-US" sz="1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Describe the components of the </a:t>
                      </a:r>
                      <a:r>
                        <a:rPr lang="en-US" sz="18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OSPool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Enumerate the files needed for your job(s) and stage them in the appropriate place.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Identify where jobs and workflows might run into issues when starting out. </a:t>
                      </a:r>
                    </a:p>
                    <a:p>
                      <a:endParaRPr lang="en-US" sz="18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Run a job that does *your* work, based on what you’ve learned in the previous three days.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Continue to refine your job/workflow prototype.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Identify next steps for your learning and workflow implementation.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143524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5F6EE-19AD-B1F4-315B-0FD7FB712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1E652-CE84-B34C-4679-7143C9443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C9EC1-02FF-F801-C2BD-FC94B579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058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EC1F7-07B5-0078-AB40-8DA36124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about LLMs/Agentic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3099E-81FD-FC26-5A30-9EECB27C4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LLMs and “AI” agents are </a:t>
            </a:r>
            <a:r>
              <a:rPr lang="en-US" b="1" dirty="0"/>
              <a:t>powerful tools</a:t>
            </a:r>
            <a:r>
              <a:rPr lang="en-US" dirty="0"/>
              <a:t>, well suited to many of the tasks we are doing this week: </a:t>
            </a:r>
          </a:p>
          <a:p>
            <a:pPr lvl="1"/>
            <a:r>
              <a:rPr lang="en-US" dirty="0"/>
              <a:t>Writing scripts or job submit files</a:t>
            </a:r>
          </a:p>
          <a:p>
            <a:pPr lvl="1"/>
            <a:r>
              <a:rPr lang="en-US" dirty="0"/>
              <a:t>Writing container build files</a:t>
            </a:r>
          </a:p>
          <a:p>
            <a:pPr lvl="1"/>
            <a:r>
              <a:rPr lang="en-US" dirty="0"/>
              <a:t>Troubleshooting errors or issues</a:t>
            </a:r>
          </a:p>
          <a:p>
            <a:r>
              <a:rPr lang="en-US" dirty="0"/>
              <a:t>AND, </a:t>
            </a:r>
            <a:r>
              <a:rPr lang="en-US" b="1" dirty="0"/>
              <a:t>they are most effective</a:t>
            </a:r>
            <a:r>
              <a:rPr lang="en-US" dirty="0"/>
              <a:t> when their user has the </a:t>
            </a:r>
            <a:r>
              <a:rPr lang="en-US" b="1" dirty="0"/>
              <a:t>background</a:t>
            </a:r>
            <a:r>
              <a:rPr lang="en-US" dirty="0"/>
              <a:t> and </a:t>
            </a:r>
            <a:r>
              <a:rPr lang="en-US" b="1" dirty="0"/>
              <a:t>context</a:t>
            </a:r>
            <a:r>
              <a:rPr lang="en-US" dirty="0"/>
              <a:t> to provide meaningful prompts and interpret the results. </a:t>
            </a:r>
          </a:p>
          <a:p>
            <a:r>
              <a:rPr lang="en-US" dirty="0"/>
              <a:t>AND, we brought you here so </a:t>
            </a:r>
            <a:r>
              <a:rPr lang="en-US" b="1" dirty="0"/>
              <a:t>you could learn new things</a:t>
            </a:r>
            <a:r>
              <a:rPr lang="en-US" dirty="0"/>
              <a:t>! </a:t>
            </a:r>
            <a:r>
              <a:rPr lang="en-US" dirty="0">
                <a:sym typeface="Wingdings" pitchFamily="2" charset="2"/>
              </a:rPr>
              <a:t>🤓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6DDF0-6E46-3740-FDE0-17F807EF6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A2F13-6C89-5785-48F1-26A19BFD3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B3F01-F3EF-DD15-AAA3-96EFD568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156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51B14-6CF8-6CEB-3E95-5AEA3E97F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AB3A-8763-4BEE-EED9-CF088BA4A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suggestions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BB5BA-FB35-04EC-CFBA-603447DDF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Don’t use any LLMs / AI agents for at least the first 2 days of the School. </a:t>
            </a:r>
          </a:p>
          <a:p>
            <a:pPr lvl="1"/>
            <a:r>
              <a:rPr lang="en-US" dirty="0"/>
              <a:t>Ask School staff/neighbors for help if you get stuck. </a:t>
            </a:r>
          </a:p>
          <a:p>
            <a:pPr lvl="1"/>
            <a:r>
              <a:rPr lang="en-US" dirty="0"/>
              <a:t>Write or type out information yourself</a:t>
            </a:r>
          </a:p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By day 4, use LLMs judiciously for tasks that you could probably do yourself or easily look up. </a:t>
            </a:r>
          </a:p>
          <a:p>
            <a:pPr lvl="1"/>
            <a:r>
              <a:rPr lang="en-US" dirty="0"/>
              <a:t>“Modify this definition file to install this software.” </a:t>
            </a:r>
          </a:p>
          <a:p>
            <a:pPr lvl="1"/>
            <a:r>
              <a:rPr lang="en-US" dirty="0"/>
              <a:t>“Create a template submit file for me, based on the School materials.”</a:t>
            </a:r>
          </a:p>
          <a:p>
            <a:pPr lvl="1"/>
            <a:r>
              <a:rPr lang="en-US" dirty="0"/>
              <a:t>“Where should I look for errors?”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EB1F7-DA19-E4AB-D151-571A7B94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C5F5-9197-8053-9E9A-04D894010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49051-63FA-F866-69D9-A0AF2B867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502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C863-73D0-1947-48A2-2A61E39D0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8D9B8-C57D-B22A-9397-856F1325A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We’re here to help you do the following: </a:t>
            </a:r>
          </a:p>
          <a:p>
            <a:pPr lvl="1"/>
            <a:r>
              <a:rPr lang="en-US" dirty="0"/>
              <a:t>Think about your work as a list of jobs</a:t>
            </a:r>
          </a:p>
          <a:p>
            <a:pPr lvl="1"/>
            <a:r>
              <a:rPr lang="en-US" dirty="0"/>
              <a:t>Get it running on the </a:t>
            </a:r>
            <a:r>
              <a:rPr lang="en-US" dirty="0" err="1"/>
              <a:t>OSPool</a:t>
            </a:r>
            <a:endParaRPr lang="en-US" dirty="0"/>
          </a:p>
          <a:p>
            <a:r>
              <a:rPr lang="en-US" dirty="0"/>
              <a:t>Lots of resources available: </a:t>
            </a:r>
          </a:p>
          <a:p>
            <a:pPr lvl="1"/>
            <a:r>
              <a:rPr lang="en-US" dirty="0">
                <a:hlinkClick r:id="rId2"/>
              </a:rPr>
              <a:t>OSG School materials</a:t>
            </a:r>
            <a:r>
              <a:rPr lang="en-US" dirty="0"/>
              <a:t>: slides, exercises</a:t>
            </a:r>
          </a:p>
          <a:p>
            <a:pPr lvl="1"/>
            <a:r>
              <a:rPr lang="en-US" dirty="0">
                <a:hlinkClick r:id="rId3"/>
              </a:rPr>
              <a:t>OSG guides </a:t>
            </a:r>
            <a:r>
              <a:rPr lang="en-US" dirty="0"/>
              <a:t>and </a:t>
            </a:r>
            <a:r>
              <a:rPr lang="en-US" dirty="0">
                <a:hlinkClick r:id="rId4"/>
              </a:rPr>
              <a:t>training materials</a:t>
            </a:r>
            <a:endParaRPr lang="en-US" dirty="0"/>
          </a:p>
          <a:p>
            <a:pPr lvl="1"/>
            <a:r>
              <a:rPr lang="en-US" dirty="0"/>
              <a:t>Other technical lessons (</a:t>
            </a:r>
            <a:r>
              <a:rPr lang="en-US" dirty="0">
                <a:hlinkClick r:id="rId5"/>
              </a:rPr>
              <a:t>unix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git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naming things</a:t>
            </a:r>
            <a:r>
              <a:rPr lang="en-US" dirty="0"/>
              <a:t>, </a:t>
            </a:r>
            <a:r>
              <a:rPr lang="en-US" dirty="0">
                <a:hlinkClick r:id="rId8"/>
              </a:rPr>
              <a:t>docker</a:t>
            </a:r>
            <a:r>
              <a:rPr lang="en-US" dirty="0"/>
              <a:t>…let’s crowd-source other materials as needed)</a:t>
            </a:r>
            <a:endParaRPr lang="en-US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D9F3E-F9BF-75E5-AB35-B0A1A6188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7A002-692F-76BB-CBF4-0E5D22B20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073CE-561F-2B3D-93B6-3F15441B7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932445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FEE92-2CBB-218D-EEB8-453CB2F3B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with Each Other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A0869-19E7-B0CA-71EA-C73AA03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Connect with people who are doing similar work to you!</a:t>
            </a:r>
          </a:p>
          <a:p>
            <a:pPr lvl="1"/>
            <a:r>
              <a:rPr lang="en-US" dirty="0"/>
              <a:t>Today: lunch with people in similar domains</a:t>
            </a:r>
          </a:p>
          <a:p>
            <a:pPr lvl="1"/>
            <a:r>
              <a:rPr lang="en-US" dirty="0"/>
              <a:t>Tomorrow: lunch with people using similar tools</a:t>
            </a:r>
          </a:p>
          <a:p>
            <a:r>
              <a:rPr lang="en-US" dirty="0"/>
              <a:t>Do you want to share your contact info? Or a cool resource you know about for computing? Share here: </a:t>
            </a:r>
          </a:p>
          <a:p>
            <a:pPr lvl="1"/>
            <a:r>
              <a:rPr lang="en-US" b="1" u="sng" dirty="0">
                <a:hlinkClick r:id="rId2"/>
              </a:rPr>
              <a:t>https://go.wisc.edu/4b3k15</a:t>
            </a:r>
            <a:endParaRPr lang="en-US" b="1" u="sng" dirty="0"/>
          </a:p>
          <a:p>
            <a:r>
              <a:rPr lang="en-US" dirty="0"/>
              <a:t>Staff are also a resource! Talk to us and sign up for consultations on the whiteboard.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9D3F9-DEE8-698D-95C0-63F04320E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7AB20B-5236-E3EC-918D-54DBB9701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191E0-48D2-E73E-391E-421861286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4B518-0C47-9B1B-97CA-A9E4C0BC3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FDD6-3F20-18DF-A20D-76830A8B3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work was supported by the National Science Foundation under Cooperative Agreement OAC-2030508 – Partnership to Advance Throughput Computing (</a:t>
            </a:r>
            <a:r>
              <a:rPr lang="en-US" dirty="0" err="1"/>
              <a:t>PATh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8CE35-59CF-B119-8380-0197B64A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7/13/2026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3E9B-3375-AE49-8E8B-35D82593F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440DE-4232-F343-8CB0-BB1B0BB801C4}" type="slidenum">
              <a:rPr lang="en-US" smtClean="0"/>
              <a:t>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12D57-7055-BFAD-9373-5CFDCAC2B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OSG School 2026 - HTC Intro </a:t>
            </a:r>
          </a:p>
        </p:txBody>
      </p:sp>
    </p:spTree>
    <p:extLst>
      <p:ext uri="{BB962C8B-B14F-4D97-AF65-F5344CB8AC3E}">
        <p14:creationId xmlns:p14="http://schemas.microsoft.com/office/powerpoint/2010/main" val="4146713417"/>
      </p:ext>
    </p:extLst>
  </p:cSld>
  <p:clrMapOvr>
    <a:masterClrMapping/>
  </p:clrMapOvr>
</p:sld>
</file>

<file path=ppt/theme/theme1.xml><?xml version="1.0" encoding="utf-8"?>
<a:theme xmlns:a="http://schemas.openxmlformats.org/drawingml/2006/main" name="User_School_2023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ser_School_2023_Fun" id="{174209FD-30E0-774E-BDCB-3786FA688966}" vid="{8AD57979-AD71-4E4F-94BF-EB0386DF49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User_School_2023</Template>
  <TotalTime>1404</TotalTime>
  <Words>1366</Words>
  <Application>Microsoft Macintosh PowerPoint</Application>
  <PresentationFormat>Widescreen</PresentationFormat>
  <Paragraphs>234</Paragraphs>
  <Slides>23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Helvetica Neue</vt:lpstr>
      <vt:lpstr>Helvetica Neue Light</vt:lpstr>
      <vt:lpstr>Helvetica Neue Medium</vt:lpstr>
      <vt:lpstr>Wingdings</vt:lpstr>
      <vt:lpstr>User_School_2023</vt:lpstr>
      <vt:lpstr>Introduction to High Throughput Computing</vt:lpstr>
      <vt:lpstr>Researcher Problems</vt:lpstr>
      <vt:lpstr>Researcher #1</vt:lpstr>
      <vt:lpstr>Researcher #2</vt:lpstr>
      <vt:lpstr>Researcher #3</vt:lpstr>
      <vt:lpstr>What do they have in common? </vt:lpstr>
      <vt:lpstr>Why do we care? </vt:lpstr>
      <vt:lpstr>Scaling Up</vt:lpstr>
      <vt:lpstr>Running in Parallel</vt:lpstr>
      <vt:lpstr>High Throughput Computing (HTC)</vt:lpstr>
      <vt:lpstr>Some Terms</vt:lpstr>
      <vt:lpstr>High Throughput Computing (HTC)</vt:lpstr>
      <vt:lpstr>What you need to do HTC</vt:lpstr>
      <vt:lpstr>A “Home” for HTC Workflows</vt:lpstr>
      <vt:lpstr>Access to HTC Systems</vt:lpstr>
      <vt:lpstr>Managing and Running Jobs</vt:lpstr>
      <vt:lpstr>Job Components: Software, Data, Scripts</vt:lpstr>
      <vt:lpstr>Big picture goals for the week</vt:lpstr>
      <vt:lpstr>A note about LLMs/Agentic AI</vt:lpstr>
      <vt:lpstr>Our suggestions</vt:lpstr>
      <vt:lpstr>Getting Started</vt:lpstr>
      <vt:lpstr>Connecting with Each Other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Christina Koch</dc:creator>
  <cp:lastModifiedBy>Christina Koch</cp:lastModifiedBy>
  <cp:revision>194</cp:revision>
  <dcterms:created xsi:type="dcterms:W3CDTF">2024-08-02T14:20:17Z</dcterms:created>
  <dcterms:modified xsi:type="dcterms:W3CDTF">2026-07-13T02:39:47Z</dcterms:modified>
</cp:coreProperties>
</file>